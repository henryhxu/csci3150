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24"/>
  </p:notesMasterIdLst>
  <p:handoutMasterIdLst>
    <p:handoutMasterId r:id="rId25"/>
  </p:handoutMasterIdLst>
  <p:sldIdLst>
    <p:sldId id="613" r:id="rId3"/>
    <p:sldId id="624" r:id="rId4"/>
    <p:sldId id="2898" r:id="rId5"/>
    <p:sldId id="2900" r:id="rId6"/>
    <p:sldId id="2896" r:id="rId7"/>
    <p:sldId id="2897" r:id="rId8"/>
    <p:sldId id="642" r:id="rId9"/>
    <p:sldId id="2882" r:id="rId10"/>
    <p:sldId id="2883" r:id="rId11"/>
    <p:sldId id="2884" r:id="rId12"/>
    <p:sldId id="2885" r:id="rId13"/>
    <p:sldId id="2886" r:id="rId14"/>
    <p:sldId id="2887" r:id="rId15"/>
    <p:sldId id="2888" r:id="rId16"/>
    <p:sldId id="2889" r:id="rId17"/>
    <p:sldId id="2890" r:id="rId18"/>
    <p:sldId id="2891" r:id="rId19"/>
    <p:sldId id="2892" r:id="rId20"/>
    <p:sldId id="2894" r:id="rId21"/>
    <p:sldId id="2895" r:id="rId22"/>
    <p:sldId id="63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80"/>
    <p:restoredTop sz="76729"/>
  </p:normalViewPr>
  <p:slideViewPr>
    <p:cSldViewPr snapToGrid="0">
      <p:cViewPr varScale="1">
        <p:scale>
          <a:sx n="91" d="100"/>
          <a:sy n="91" d="100"/>
        </p:scale>
        <p:origin x="17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97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, Kaiwen" userId="d2b7700c-ac07-4aef-b2bf-800af199d77b" providerId="ADAL" clId="{5F14F85F-080A-2248-81FD-A2C13CCB40F8}"/>
    <pc:docChg chg="modSld">
      <pc:chgData name="CHEN, Kaiwen" userId="d2b7700c-ac07-4aef-b2bf-800af199d77b" providerId="ADAL" clId="{5F14F85F-080A-2248-81FD-A2C13CCB40F8}" dt="2024-11-20T11:59:36.160" v="24" actId="20577"/>
      <pc:docMkLst>
        <pc:docMk/>
      </pc:docMkLst>
      <pc:sldChg chg="modSp mod modNotesTx">
        <pc:chgData name="CHEN, Kaiwen" userId="d2b7700c-ac07-4aef-b2bf-800af199d77b" providerId="ADAL" clId="{5F14F85F-080A-2248-81FD-A2C13CCB40F8}" dt="2024-11-20T11:58:50.057" v="7" actId="20577"/>
        <pc:sldMkLst>
          <pc:docMk/>
          <pc:sldMk cId="2808513160" sldId="613"/>
        </pc:sldMkLst>
        <pc:spChg chg="mod">
          <ac:chgData name="CHEN, Kaiwen" userId="d2b7700c-ac07-4aef-b2bf-800af199d77b" providerId="ADAL" clId="{5F14F85F-080A-2248-81FD-A2C13CCB40F8}" dt="2024-11-20T11:58:50.057" v="7" actId="20577"/>
          <ac:spMkLst>
            <pc:docMk/>
            <pc:sldMk cId="2808513160" sldId="613"/>
            <ac:spMk id="3" creationId="{F8C13C63-B26A-4A9C-A1CA-724346AB2906}"/>
          </ac:spMkLst>
        </pc:spChg>
      </pc:sldChg>
      <pc:sldChg chg="modNotesTx">
        <pc:chgData name="CHEN, Kaiwen" userId="d2b7700c-ac07-4aef-b2bf-800af199d77b" providerId="ADAL" clId="{5F14F85F-080A-2248-81FD-A2C13CCB40F8}" dt="2024-11-20T11:58:56.955" v="8" actId="20577"/>
        <pc:sldMkLst>
          <pc:docMk/>
          <pc:sldMk cId="4196136796" sldId="624"/>
        </pc:sldMkLst>
      </pc:sldChg>
      <pc:sldChg chg="modNotesTx">
        <pc:chgData name="CHEN, Kaiwen" userId="d2b7700c-ac07-4aef-b2bf-800af199d77b" providerId="ADAL" clId="{5F14F85F-080A-2248-81FD-A2C13CCB40F8}" dt="2024-11-20T11:59:04.199" v="11" actId="20577"/>
        <pc:sldMkLst>
          <pc:docMk/>
          <pc:sldMk cId="4263776513" sldId="642"/>
        </pc:sldMkLst>
      </pc:sldChg>
      <pc:sldChg chg="modNotesTx">
        <pc:chgData name="CHEN, Kaiwen" userId="d2b7700c-ac07-4aef-b2bf-800af199d77b" providerId="ADAL" clId="{5F14F85F-080A-2248-81FD-A2C13CCB40F8}" dt="2024-11-20T11:59:06.508" v="12" actId="20577"/>
        <pc:sldMkLst>
          <pc:docMk/>
          <pc:sldMk cId="4244732459" sldId="2882"/>
        </pc:sldMkLst>
      </pc:sldChg>
      <pc:sldChg chg="modNotesTx">
        <pc:chgData name="CHEN, Kaiwen" userId="d2b7700c-ac07-4aef-b2bf-800af199d77b" providerId="ADAL" clId="{5F14F85F-080A-2248-81FD-A2C13CCB40F8}" dt="2024-11-20T11:59:07.958" v="13" actId="20577"/>
        <pc:sldMkLst>
          <pc:docMk/>
          <pc:sldMk cId="3906056141" sldId="2883"/>
        </pc:sldMkLst>
      </pc:sldChg>
      <pc:sldChg chg="modNotesTx">
        <pc:chgData name="CHEN, Kaiwen" userId="d2b7700c-ac07-4aef-b2bf-800af199d77b" providerId="ADAL" clId="{5F14F85F-080A-2248-81FD-A2C13CCB40F8}" dt="2024-11-20T11:59:10.016" v="14" actId="20577"/>
        <pc:sldMkLst>
          <pc:docMk/>
          <pc:sldMk cId="429452043" sldId="2884"/>
        </pc:sldMkLst>
      </pc:sldChg>
      <pc:sldChg chg="modNotesTx">
        <pc:chgData name="CHEN, Kaiwen" userId="d2b7700c-ac07-4aef-b2bf-800af199d77b" providerId="ADAL" clId="{5F14F85F-080A-2248-81FD-A2C13CCB40F8}" dt="2024-11-20T11:59:11.983" v="15" actId="20577"/>
        <pc:sldMkLst>
          <pc:docMk/>
          <pc:sldMk cId="1429674279" sldId="2885"/>
        </pc:sldMkLst>
      </pc:sldChg>
      <pc:sldChg chg="modNotesTx">
        <pc:chgData name="CHEN, Kaiwen" userId="d2b7700c-ac07-4aef-b2bf-800af199d77b" providerId="ADAL" clId="{5F14F85F-080A-2248-81FD-A2C13CCB40F8}" dt="2024-11-20T11:59:13.369" v="16" actId="20577"/>
        <pc:sldMkLst>
          <pc:docMk/>
          <pc:sldMk cId="415200605" sldId="2886"/>
        </pc:sldMkLst>
      </pc:sldChg>
      <pc:sldChg chg="modNotesTx">
        <pc:chgData name="CHEN, Kaiwen" userId="d2b7700c-ac07-4aef-b2bf-800af199d77b" providerId="ADAL" clId="{5F14F85F-080A-2248-81FD-A2C13CCB40F8}" dt="2024-11-20T11:59:15.241" v="17" actId="20577"/>
        <pc:sldMkLst>
          <pc:docMk/>
          <pc:sldMk cId="3665156614" sldId="2887"/>
        </pc:sldMkLst>
      </pc:sldChg>
      <pc:sldChg chg="modNotesTx">
        <pc:chgData name="CHEN, Kaiwen" userId="d2b7700c-ac07-4aef-b2bf-800af199d77b" providerId="ADAL" clId="{5F14F85F-080A-2248-81FD-A2C13CCB40F8}" dt="2024-11-20T11:59:17.152" v="18" actId="20577"/>
        <pc:sldMkLst>
          <pc:docMk/>
          <pc:sldMk cId="2659874408" sldId="2888"/>
        </pc:sldMkLst>
      </pc:sldChg>
      <pc:sldChg chg="modNotesTx">
        <pc:chgData name="CHEN, Kaiwen" userId="d2b7700c-ac07-4aef-b2bf-800af199d77b" providerId="ADAL" clId="{5F14F85F-080A-2248-81FD-A2C13CCB40F8}" dt="2024-11-20T11:59:19.015" v="19" actId="20577"/>
        <pc:sldMkLst>
          <pc:docMk/>
          <pc:sldMk cId="2950093998" sldId="2889"/>
        </pc:sldMkLst>
      </pc:sldChg>
      <pc:sldChg chg="modNotesTx">
        <pc:chgData name="CHEN, Kaiwen" userId="d2b7700c-ac07-4aef-b2bf-800af199d77b" providerId="ADAL" clId="{5F14F85F-080A-2248-81FD-A2C13CCB40F8}" dt="2024-11-20T11:59:20.783" v="20" actId="20577"/>
        <pc:sldMkLst>
          <pc:docMk/>
          <pc:sldMk cId="2833211389" sldId="2890"/>
        </pc:sldMkLst>
      </pc:sldChg>
      <pc:sldChg chg="modNotesTx">
        <pc:chgData name="CHEN, Kaiwen" userId="d2b7700c-ac07-4aef-b2bf-800af199d77b" providerId="ADAL" clId="{5F14F85F-080A-2248-81FD-A2C13CCB40F8}" dt="2024-11-20T11:59:22.627" v="21" actId="20577"/>
        <pc:sldMkLst>
          <pc:docMk/>
          <pc:sldMk cId="1876538019" sldId="2891"/>
        </pc:sldMkLst>
      </pc:sldChg>
      <pc:sldChg chg="modNotesTx">
        <pc:chgData name="CHEN, Kaiwen" userId="d2b7700c-ac07-4aef-b2bf-800af199d77b" providerId="ADAL" clId="{5F14F85F-080A-2248-81FD-A2C13CCB40F8}" dt="2024-11-20T11:59:24.568" v="22" actId="20577"/>
        <pc:sldMkLst>
          <pc:docMk/>
          <pc:sldMk cId="2593444291" sldId="2892"/>
        </pc:sldMkLst>
      </pc:sldChg>
      <pc:sldChg chg="modNotesTx">
        <pc:chgData name="CHEN, Kaiwen" userId="d2b7700c-ac07-4aef-b2bf-800af199d77b" providerId="ADAL" clId="{5F14F85F-080A-2248-81FD-A2C13CCB40F8}" dt="2024-11-20T11:59:27.559" v="23" actId="20577"/>
        <pc:sldMkLst>
          <pc:docMk/>
          <pc:sldMk cId="1316748643" sldId="2894"/>
        </pc:sldMkLst>
      </pc:sldChg>
      <pc:sldChg chg="modNotesTx">
        <pc:chgData name="CHEN, Kaiwen" userId="d2b7700c-ac07-4aef-b2bf-800af199d77b" providerId="ADAL" clId="{5F14F85F-080A-2248-81FD-A2C13CCB40F8}" dt="2024-11-20T11:59:36.160" v="24" actId="20577"/>
        <pc:sldMkLst>
          <pc:docMk/>
          <pc:sldMk cId="3993741186" sldId="2895"/>
        </pc:sldMkLst>
      </pc:sldChg>
      <pc:sldChg chg="modNotesTx">
        <pc:chgData name="CHEN, Kaiwen" userId="d2b7700c-ac07-4aef-b2bf-800af199d77b" providerId="ADAL" clId="{5F14F85F-080A-2248-81FD-A2C13CCB40F8}" dt="2024-11-20T11:59:02.459" v="10" actId="20577"/>
        <pc:sldMkLst>
          <pc:docMk/>
          <pc:sldMk cId="2652703730" sldId="2896"/>
        </pc:sldMkLst>
      </pc:sldChg>
      <pc:sldChg chg="modNotesTx">
        <pc:chgData name="CHEN, Kaiwen" userId="d2b7700c-ac07-4aef-b2bf-800af199d77b" providerId="ADAL" clId="{5F14F85F-080A-2248-81FD-A2C13CCB40F8}" dt="2024-11-20T11:59:00.469" v="9" actId="20577"/>
        <pc:sldMkLst>
          <pc:docMk/>
          <pc:sldMk cId="3312042647" sldId="290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959EF77-F4BE-DE8B-82F9-401E14B4A9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6402B1-3538-791D-3146-95C512E54D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EC0DA-DC2D-654E-AAAE-7BFDE602D431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FB24F9-30C7-8B14-5070-AD9A3B00A96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6371DF-032C-B4C7-E028-EDD44354B1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59BAF8-DEBE-B345-9567-D0A32C64BD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0064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751E9F-A845-4914-A3CC-CC345012599B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EED8A1-9A08-4DDC-ACAE-443678235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734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HK" sz="2400" dirty="0">
              <a:solidFill>
                <a:schemeClr val="tx1">
                  <a:lumMod val="65000"/>
                  <a:lumOff val="35000"/>
                </a:schemeClr>
              </a:solidFill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3611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31739463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ED8A1-9A08-4DDC-ACAE-44367823515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083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ED8A1-9A08-4DDC-ACAE-44367823515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753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ED8A1-9A08-4DDC-ACAE-44367823515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2757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ED8A1-9A08-4DDC-ACAE-44367823515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1121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ED8A1-9A08-4DDC-ACAE-44367823515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528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ED8A1-9A08-4DDC-ACAE-44367823515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3487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ED8A1-9A08-4DDC-ACAE-44367823515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645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lvl="0" indent="-2286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ED8A1-9A08-4DDC-ACAE-44367823515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1378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ED8A1-9A08-4DDC-ACAE-44367823515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2123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ED8A1-9A08-4DDC-ACAE-44367823515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2158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ED8A1-9A08-4DDC-ACAE-44367823515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832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ED8A1-9A08-4DDC-ACAE-44367823515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0679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ED8A1-9A08-4DDC-ACAE-44367823515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806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ED8A1-9A08-4DDC-ACAE-44367823515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036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ED8A1-9A08-4DDC-ACAE-44367823515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192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ED8A1-9A08-4DDC-ACAE-44367823515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0581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ED8A1-9A08-4DDC-ACAE-44367823515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8465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HK" sz="2400" dirty="0">
              <a:solidFill>
                <a:schemeClr val="tx1">
                  <a:lumMod val="65000"/>
                  <a:lumOff val="35000"/>
                </a:schemeClr>
              </a:solidFill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177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51686ED8-374A-AFA5-27CC-BADD1D5E796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800080"/>
              </a:gs>
              <a:gs pos="100000">
                <a:srgbClr val="EFA922"/>
              </a:gs>
            </a:gsLst>
            <a:lin ang="2700000" scaled="1"/>
            <a:tileRect/>
          </a:gra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sp>
        <p:nvSpPr>
          <p:cNvPr id="12" name="Title Text"/>
          <p:cNvSpPr txBox="1">
            <a:spLocks noGrp="1"/>
          </p:cNvSpPr>
          <p:nvPr>
            <p:ph type="title"/>
          </p:nvPr>
        </p:nvSpPr>
        <p:spPr>
          <a:xfrm>
            <a:off x="889000" y="1149350"/>
            <a:ext cx="10414000" cy="2324100"/>
          </a:xfrm>
          <a:prstGeom prst="rect">
            <a:avLst/>
          </a:prstGeom>
        </p:spPr>
        <p:txBody>
          <a:bodyPr anchor="b"/>
          <a:lstStyle>
            <a:lvl1pPr defTabSz="412750">
              <a:defRPr sz="6000" baseline="1666">
                <a:solidFill>
                  <a:srgbClr val="00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89000" y="4235450"/>
            <a:ext cx="10414000" cy="177436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000000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400">
                <a:solidFill>
                  <a:srgbClr val="000000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2400">
                <a:solidFill>
                  <a:srgbClr val="000000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2400">
                <a:solidFill>
                  <a:srgbClr val="000000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2400">
                <a:solidFill>
                  <a:srgbClr val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059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78070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-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"/>
          <p:cNvSpPr/>
          <p:nvPr/>
        </p:nvSpPr>
        <p:spPr>
          <a:xfrm>
            <a:off x="0" y="0"/>
            <a:ext cx="12192000" cy="941294"/>
          </a:xfrm>
          <a:prstGeom prst="rect">
            <a:avLst/>
          </a:prstGeom>
          <a:gradFill flip="none" rotWithShape="1">
            <a:gsLst>
              <a:gs pos="0">
                <a:srgbClr val="800080"/>
              </a:gs>
              <a:gs pos="100000">
                <a:srgbClr val="EFA922"/>
              </a:gs>
            </a:gsLst>
            <a:lin ang="0" scaled="1"/>
            <a:tileRect/>
          </a:gra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sp>
        <p:nvSpPr>
          <p:cNvPr id="4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275383" y="0"/>
            <a:ext cx="10593290" cy="94129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42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1229567"/>
            <a:ext cx="10502900" cy="4648200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defRPr/>
            </a:lvl1pPr>
            <a:lvl2pPr>
              <a:spcBef>
                <a:spcPts val="800"/>
              </a:spcBef>
              <a:defRPr/>
            </a:lvl2pPr>
            <a:lvl3pPr>
              <a:spcBef>
                <a:spcPts val="800"/>
              </a:spcBef>
              <a:defRPr/>
            </a:lvl3pPr>
            <a:lvl4pPr>
              <a:spcBef>
                <a:spcPts val="800"/>
              </a:spcBef>
              <a:defRPr/>
            </a:lvl4pPr>
            <a:lvl5pPr>
              <a:spcBef>
                <a:spcPts val="800"/>
              </a:spcBef>
              <a:defRPr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00080"/>
                </a:solidFill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12563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>
            <a:spLocks noGrp="1"/>
          </p:cNvSpPr>
          <p:nvPr>
            <p:ph type="title"/>
          </p:nvPr>
        </p:nvSpPr>
        <p:spPr>
          <a:xfrm>
            <a:off x="889000" y="2266950"/>
            <a:ext cx="10414000" cy="23241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t>Title Text</a:t>
            </a:r>
          </a:p>
        </p:txBody>
      </p:sp>
      <p:sp>
        <p:nvSpPr>
          <p:cNvPr id="61" name="Rectangle"/>
          <p:cNvSpPr/>
          <p:nvPr/>
        </p:nvSpPr>
        <p:spPr>
          <a:xfrm>
            <a:off x="0" y="6490891"/>
            <a:ext cx="12192000" cy="367110"/>
          </a:xfrm>
          <a:prstGeom prst="rect">
            <a:avLst/>
          </a:prstGeom>
          <a:solidFill>
            <a:srgbClr val="DB3236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6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4378355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Text"/>
          <p:cNvSpPr txBox="1">
            <a:spLocks noGrp="1"/>
          </p:cNvSpPr>
          <p:nvPr>
            <p:ph type="title"/>
          </p:nvPr>
        </p:nvSpPr>
        <p:spPr>
          <a:xfrm>
            <a:off x="889000" y="2266950"/>
            <a:ext cx="10414000" cy="23241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t>Title Text</a:t>
            </a:r>
          </a:p>
        </p:txBody>
      </p:sp>
      <p:sp>
        <p:nvSpPr>
          <p:cNvPr id="70" name="Rectangle"/>
          <p:cNvSpPr/>
          <p:nvPr/>
        </p:nvSpPr>
        <p:spPr>
          <a:xfrm>
            <a:off x="0" y="6490891"/>
            <a:ext cx="12192000" cy="367110"/>
          </a:xfrm>
          <a:prstGeom prst="rect">
            <a:avLst/>
          </a:prstGeom>
          <a:solidFill>
            <a:srgbClr val="F4C20D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1047846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Text"/>
          <p:cNvSpPr txBox="1">
            <a:spLocks noGrp="1"/>
          </p:cNvSpPr>
          <p:nvPr>
            <p:ph type="title"/>
          </p:nvPr>
        </p:nvSpPr>
        <p:spPr>
          <a:xfrm>
            <a:off x="889000" y="2266950"/>
            <a:ext cx="10414000" cy="23241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t>Title Text</a:t>
            </a:r>
          </a:p>
        </p:txBody>
      </p:sp>
      <p:sp>
        <p:nvSpPr>
          <p:cNvPr id="79" name="Rectangle"/>
          <p:cNvSpPr/>
          <p:nvPr/>
        </p:nvSpPr>
        <p:spPr>
          <a:xfrm>
            <a:off x="0" y="6490891"/>
            <a:ext cx="12192000" cy="367110"/>
          </a:xfrm>
          <a:prstGeom prst="rect">
            <a:avLst/>
          </a:prstGeom>
          <a:solidFill>
            <a:srgbClr val="3CBA54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8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1107205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creen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"/>
          <p:cNvSpPr/>
          <p:nvPr/>
        </p:nvSpPr>
        <p:spPr>
          <a:xfrm>
            <a:off x="0" y="-1"/>
            <a:ext cx="12192000" cy="6134895"/>
          </a:xfrm>
          <a:prstGeom prst="rect">
            <a:avLst/>
          </a:prstGeom>
          <a:solidFill>
            <a:srgbClr val="4885ED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88" name="Title Text"/>
          <p:cNvSpPr txBox="1">
            <a:spLocks noGrp="1"/>
          </p:cNvSpPr>
          <p:nvPr>
            <p:ph type="title"/>
          </p:nvPr>
        </p:nvSpPr>
        <p:spPr>
          <a:xfrm>
            <a:off x="943793" y="2038821"/>
            <a:ext cx="10304414" cy="2173884"/>
          </a:xfrm>
          <a:prstGeom prst="rect">
            <a:avLst/>
          </a:prstGeom>
        </p:spPr>
        <p:txBody>
          <a:bodyPr anchor="b"/>
          <a:lstStyle>
            <a:lvl1pPr defTabSz="412750">
              <a:defRPr sz="5000" baseline="1998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89" name="Line"/>
          <p:cNvSpPr/>
          <p:nvPr/>
        </p:nvSpPr>
        <p:spPr>
          <a:xfrm flipV="1">
            <a:off x="570260" y="2030052"/>
            <a:ext cx="1" cy="2277197"/>
          </a:xfrm>
          <a:prstGeom prst="line">
            <a:avLst/>
          </a:prstGeom>
          <a:ln w="127000">
            <a:solidFill>
              <a:srgbClr val="FFFFFF"/>
            </a:solidFill>
            <a:miter lim="400000"/>
          </a:ln>
        </p:spPr>
        <p:txBody>
          <a:bodyPr lIns="22859" tIns="22859" rIns="22859" bIns="22859"/>
          <a:lstStyle/>
          <a:p>
            <a:endParaRPr sz="900">
              <a:latin typeface="Gill Sans MT" panose="020B0502020104020203" pitchFamily="34" charset="0"/>
            </a:endParaRPr>
          </a:p>
        </p:txBody>
      </p:sp>
      <p:sp>
        <p:nvSpPr>
          <p:cNvPr id="9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7000795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creen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"/>
          <p:cNvSpPr/>
          <p:nvPr/>
        </p:nvSpPr>
        <p:spPr>
          <a:xfrm>
            <a:off x="0" y="-1"/>
            <a:ext cx="12192000" cy="6134895"/>
          </a:xfrm>
          <a:prstGeom prst="rect">
            <a:avLst/>
          </a:prstGeom>
          <a:solidFill>
            <a:srgbClr val="63B760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98" name="Title Text"/>
          <p:cNvSpPr txBox="1">
            <a:spLocks noGrp="1"/>
          </p:cNvSpPr>
          <p:nvPr>
            <p:ph type="title"/>
          </p:nvPr>
        </p:nvSpPr>
        <p:spPr>
          <a:xfrm>
            <a:off x="943793" y="2038821"/>
            <a:ext cx="10304414" cy="2173884"/>
          </a:xfrm>
          <a:prstGeom prst="rect">
            <a:avLst/>
          </a:prstGeom>
        </p:spPr>
        <p:txBody>
          <a:bodyPr anchor="b"/>
          <a:lstStyle>
            <a:lvl1pPr defTabSz="412750">
              <a:defRPr sz="5000" baseline="1998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99" name="Line"/>
          <p:cNvSpPr/>
          <p:nvPr/>
        </p:nvSpPr>
        <p:spPr>
          <a:xfrm flipV="1">
            <a:off x="570260" y="2030052"/>
            <a:ext cx="1" cy="2277197"/>
          </a:xfrm>
          <a:prstGeom prst="line">
            <a:avLst/>
          </a:prstGeom>
          <a:ln w="127000">
            <a:solidFill>
              <a:srgbClr val="FFFFFF"/>
            </a:solidFill>
            <a:miter lim="400000"/>
          </a:ln>
        </p:spPr>
        <p:txBody>
          <a:bodyPr lIns="22859" tIns="22859" rIns="22859" bIns="22859"/>
          <a:lstStyle/>
          <a:p>
            <a:endParaRPr sz="900">
              <a:latin typeface="Gill Sans MT" panose="020B0502020104020203" pitchFamily="34" charset="0"/>
            </a:endParaRPr>
          </a:p>
        </p:txBody>
      </p:sp>
      <p:sp>
        <p:nvSpPr>
          <p:cNvPr id="10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345627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creen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"/>
          <p:cNvSpPr/>
          <p:nvPr/>
        </p:nvSpPr>
        <p:spPr>
          <a:xfrm>
            <a:off x="0" y="-1"/>
            <a:ext cx="12192000" cy="6134895"/>
          </a:xfrm>
          <a:prstGeom prst="rect">
            <a:avLst/>
          </a:prstGeom>
          <a:solidFill>
            <a:srgbClr val="EDC444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108" name="Title Text"/>
          <p:cNvSpPr txBox="1">
            <a:spLocks noGrp="1"/>
          </p:cNvSpPr>
          <p:nvPr>
            <p:ph type="title"/>
          </p:nvPr>
        </p:nvSpPr>
        <p:spPr>
          <a:xfrm>
            <a:off x="943793" y="2038821"/>
            <a:ext cx="10304414" cy="2173884"/>
          </a:xfrm>
          <a:prstGeom prst="rect">
            <a:avLst/>
          </a:prstGeom>
        </p:spPr>
        <p:txBody>
          <a:bodyPr anchor="b"/>
          <a:lstStyle>
            <a:lvl1pPr defTabSz="412750">
              <a:defRPr sz="5000" baseline="1998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09" name="Line"/>
          <p:cNvSpPr/>
          <p:nvPr/>
        </p:nvSpPr>
        <p:spPr>
          <a:xfrm flipV="1">
            <a:off x="570260" y="2030052"/>
            <a:ext cx="1" cy="2277197"/>
          </a:xfrm>
          <a:prstGeom prst="line">
            <a:avLst/>
          </a:prstGeom>
          <a:ln w="127000">
            <a:solidFill>
              <a:srgbClr val="FFFFFF"/>
            </a:solidFill>
            <a:miter lim="400000"/>
          </a:ln>
        </p:spPr>
        <p:txBody>
          <a:bodyPr lIns="22859" tIns="22859" rIns="22859" bIns="22859"/>
          <a:lstStyle/>
          <a:p>
            <a:endParaRPr sz="900">
              <a:latin typeface="Gill Sans MT" panose="020B0502020104020203" pitchFamily="34" charset="0"/>
            </a:endParaRPr>
          </a:p>
        </p:txBody>
      </p:sp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436002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creen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"/>
          <p:cNvSpPr/>
          <p:nvPr/>
        </p:nvSpPr>
        <p:spPr>
          <a:xfrm>
            <a:off x="0" y="-1"/>
            <a:ext cx="12192000" cy="6134895"/>
          </a:xfrm>
          <a:prstGeom prst="rect">
            <a:avLst/>
          </a:prstGeom>
          <a:solidFill>
            <a:srgbClr val="CA423E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118" name="Title Text"/>
          <p:cNvSpPr txBox="1">
            <a:spLocks noGrp="1"/>
          </p:cNvSpPr>
          <p:nvPr>
            <p:ph type="title"/>
          </p:nvPr>
        </p:nvSpPr>
        <p:spPr>
          <a:xfrm>
            <a:off x="943793" y="2038821"/>
            <a:ext cx="10304414" cy="2173884"/>
          </a:xfrm>
          <a:prstGeom prst="rect">
            <a:avLst/>
          </a:prstGeom>
        </p:spPr>
        <p:txBody>
          <a:bodyPr anchor="b"/>
          <a:lstStyle>
            <a:lvl1pPr defTabSz="412750">
              <a:defRPr sz="5000" baseline="1998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19" name="Line"/>
          <p:cNvSpPr/>
          <p:nvPr/>
        </p:nvSpPr>
        <p:spPr>
          <a:xfrm flipV="1">
            <a:off x="570260" y="2030052"/>
            <a:ext cx="1" cy="2277197"/>
          </a:xfrm>
          <a:prstGeom prst="line">
            <a:avLst/>
          </a:prstGeom>
          <a:ln w="127000">
            <a:solidFill>
              <a:srgbClr val="FFFFFF"/>
            </a:solidFill>
            <a:miter lim="400000"/>
          </a:ln>
        </p:spPr>
        <p:txBody>
          <a:bodyPr lIns="22859" tIns="22859" rIns="22859" bIns="22859"/>
          <a:lstStyle/>
          <a:p>
            <a:endParaRPr sz="900">
              <a:latin typeface="Gill Sans MT" panose="020B0502020104020203" pitchFamily="34" charset="0"/>
            </a:endParaRPr>
          </a:p>
        </p:txBody>
      </p:sp>
      <p:sp>
        <p:nvSpPr>
          <p:cNvPr id="1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9526704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"/>
          <p:cNvSpPr/>
          <p:nvPr/>
        </p:nvSpPr>
        <p:spPr>
          <a:xfrm>
            <a:off x="0" y="-16768"/>
            <a:ext cx="12192000" cy="6032004"/>
          </a:xfrm>
          <a:prstGeom prst="rect">
            <a:avLst/>
          </a:prstGeom>
          <a:solidFill>
            <a:srgbClr val="419CFF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5000" b="1">
                <a:solidFill>
                  <a:srgbClr val="FFFFFF"/>
                </a:solidFill>
              </a:defRPr>
            </a:pPr>
            <a:endParaRPr sz="2500">
              <a:latin typeface="Gill Sans MT" panose="020B0502020104020203" pitchFamily="34" charset="0"/>
            </a:endParaRPr>
          </a:p>
        </p:txBody>
      </p:sp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943793" y="2038821"/>
            <a:ext cx="10304414" cy="2173884"/>
          </a:xfrm>
          <a:prstGeom prst="rect">
            <a:avLst/>
          </a:prstGeom>
        </p:spPr>
        <p:txBody>
          <a:bodyPr/>
          <a:lstStyle>
            <a:lvl1pPr algn="ctr" defTabSz="412750">
              <a:defRPr sz="6000" b="0" baseline="1666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2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078372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 Text"/>
          <p:cNvSpPr txBox="1">
            <a:spLocks noGrp="1"/>
          </p:cNvSpPr>
          <p:nvPr>
            <p:ph type="title"/>
          </p:nvPr>
        </p:nvSpPr>
        <p:spPr>
          <a:xfrm>
            <a:off x="2193727" y="178594"/>
            <a:ext cx="7804547" cy="1518048"/>
          </a:xfrm>
          <a:prstGeom prst="rect">
            <a:avLst/>
          </a:prstGeom>
        </p:spPr>
        <p:txBody>
          <a:bodyPr lIns="71437" tIns="71437" rIns="71437" bIns="71437"/>
          <a:lstStyle>
            <a:lvl1pPr algn="ctr" defTabSz="410766">
              <a:defRPr sz="3500" b="0" baseline="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37" name="Body Level One…"/>
          <p:cNvSpPr txBox="1">
            <a:spLocks noGrp="1"/>
          </p:cNvSpPr>
          <p:nvPr>
            <p:ph type="body" idx="1"/>
          </p:nvPr>
        </p:nvSpPr>
        <p:spPr>
          <a:xfrm>
            <a:off x="2193727" y="1821656"/>
            <a:ext cx="7804547" cy="4420196"/>
          </a:xfrm>
          <a:prstGeom prst="rect">
            <a:avLst/>
          </a:prstGeom>
        </p:spPr>
        <p:txBody>
          <a:bodyPr lIns="71437" tIns="71437" rIns="71437" bIns="71437" anchor="ctr"/>
          <a:lstStyle>
            <a:lvl1pPr marL="222250" indent="-222250" defTabSz="410766">
              <a:buSzPct val="145000"/>
              <a:buChar char="•"/>
              <a:defRPr sz="1600">
                <a:solidFill>
                  <a:srgbClr val="FFFFFF"/>
                </a:solidFill>
              </a:defRPr>
            </a:lvl1pPr>
            <a:lvl2pPr marL="444500" indent="-222250" defTabSz="410766">
              <a:buSzPct val="145000"/>
              <a:buChar char="•"/>
              <a:defRPr sz="1600">
                <a:solidFill>
                  <a:srgbClr val="FFFFFF"/>
                </a:solidFill>
              </a:defRPr>
            </a:lvl2pPr>
            <a:lvl3pPr marL="666750" indent="-222250" defTabSz="410766">
              <a:buSzPct val="145000"/>
              <a:buChar char="•"/>
              <a:defRPr sz="1600">
                <a:solidFill>
                  <a:srgbClr val="FFFFFF"/>
                </a:solidFill>
              </a:defRPr>
            </a:lvl3pPr>
            <a:lvl4pPr marL="889000" indent="-222250" defTabSz="410766">
              <a:buSzPct val="145000"/>
              <a:buChar char="•"/>
              <a:defRPr sz="1600">
                <a:solidFill>
                  <a:srgbClr val="FFFFFF"/>
                </a:solidFill>
              </a:defRPr>
            </a:lvl4pPr>
            <a:lvl5pPr marL="1111250" indent="-222250" defTabSz="410766">
              <a:buSzPct val="145000"/>
              <a:buChar char="•"/>
              <a:defRPr sz="16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77052" y="6536531"/>
            <a:ext cx="322203" cy="313546"/>
          </a:xfrm>
          <a:prstGeom prst="rect">
            <a:avLst/>
          </a:prstGeom>
        </p:spPr>
        <p:txBody>
          <a:bodyPr lIns="71437" tIns="71437" rIns="71437" bIns="71437"/>
          <a:lstStyle>
            <a:lvl1pPr defTabSz="410766">
              <a:defRPr sz="11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8450708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0" y="6500813"/>
            <a:ext cx="12192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85751" y="64881"/>
            <a:ext cx="11715749" cy="585787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GB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85751" y="880070"/>
            <a:ext cx="11715749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1pPr>
            <a:lvl2pPr latinLnBrk="0"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  <a:cs typeface="Helvetica Neue" panose="02000503000000020004" pitchFamily="2" charset="0"/>
              </a:defRPr>
            </a:lvl5pPr>
          </a:lstStyle>
          <a:p>
            <a:pPr lvl="0"/>
            <a:r>
              <a:rPr lang="en-GB" altLang="ko-KR"/>
              <a:t>Click to edit Master text styles</a:t>
            </a:r>
          </a:p>
          <a:p>
            <a:pPr lvl="1"/>
            <a:r>
              <a:rPr lang="en-GB" altLang="ko-KR"/>
              <a:t>Second level</a:t>
            </a:r>
          </a:p>
          <a:p>
            <a:pPr lvl="2"/>
            <a:r>
              <a:rPr lang="en-GB" altLang="ko-KR"/>
              <a:t>Third level</a:t>
            </a:r>
          </a:p>
          <a:p>
            <a:pPr lvl="3"/>
            <a:r>
              <a:rPr lang="en-GB" altLang="ko-KR"/>
              <a:t>Fourth level</a:t>
            </a:r>
          </a:p>
          <a:p>
            <a:pPr lvl="4"/>
            <a:r>
              <a:rPr lang="en-GB" altLang="ko-KR"/>
              <a:t>Fifth level</a:t>
            </a:r>
            <a:endParaRPr lang="ko-KR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10619912" y="6592714"/>
            <a:ext cx="1428749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044951" y="6582996"/>
            <a:ext cx="4051300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 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cxnSp>
        <p:nvCxnSpPr>
          <p:cNvPr id="5" name="직선 연결선 3">
            <a:extLst>
              <a:ext uri="{FF2B5EF4-FFF2-40B4-BE49-F238E27FC236}">
                <a16:creationId xmlns:a16="http://schemas.microsoft.com/office/drawing/2014/main" id="{4F5D7208-D985-81CE-505C-17BCB40CA8EA}"/>
              </a:ext>
            </a:extLst>
          </p:cNvPr>
          <p:cNvCxnSpPr/>
          <p:nvPr userDrawn="1"/>
        </p:nvCxnSpPr>
        <p:spPr>
          <a:xfrm>
            <a:off x="0" y="6500813"/>
            <a:ext cx="12192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3154483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799356" y="177800"/>
            <a:ext cx="10593290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30016" y="6400800"/>
            <a:ext cx="381515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defTabSz="412750">
              <a:defRPr sz="1800">
                <a:solidFill>
                  <a:srgbClr val="000000"/>
                </a:solidFill>
                <a:latin typeface="Gill Sans MT" panose="020B0502020104020203" pitchFamily="34" charset="0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16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 spd="med"/>
  <p:hf hdr="0" ftr="0" dt="0"/>
  <p:txStyles>
    <p:titleStyle>
      <a:lvl1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1pPr>
      <a:lvl2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36734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1" i="0" u="none" strike="noStrike" cap="none" spc="0" baseline="2495">
          <a:solidFill>
            <a:srgbClr val="111111"/>
          </a:solidFill>
          <a:uFillTx/>
          <a:latin typeface="+mn-lt"/>
          <a:ea typeface="+mn-ea"/>
          <a:cs typeface="+mn-cs"/>
          <a:sym typeface="Helvetica"/>
        </a:defRPr>
      </a:lvl9pPr>
    </p:titleStyle>
    <p:bodyStyle>
      <a:lvl1pPr marL="289152" marR="0" indent="-289152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00000"/>
        <a:buFontTx/>
        <a:buChar char="‣"/>
        <a:tabLst/>
        <a:defRPr sz="2550" b="0" i="0" u="none" strike="noStrike" cap="none" spc="0" baseline="0">
          <a:solidFill>
            <a:srgbClr val="202020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1pPr>
      <a:lvl2pPr marL="606652" marR="0" indent="-289152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00000"/>
        <a:buFontTx/>
        <a:buChar char="‣"/>
        <a:tabLst/>
        <a:defRPr sz="2550" b="0" i="0" u="none" strike="noStrike" cap="none" spc="0" baseline="0">
          <a:solidFill>
            <a:srgbClr val="202020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2pPr>
      <a:lvl3pPr marL="924152" marR="0" indent="-289152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00000"/>
        <a:buFontTx/>
        <a:buChar char="‣"/>
        <a:tabLst/>
        <a:defRPr sz="2550" b="0" i="0" u="none" strike="noStrike" cap="none" spc="0" baseline="0">
          <a:solidFill>
            <a:srgbClr val="202020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3pPr>
      <a:lvl4pPr marL="1241652" marR="0" indent="-289152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00000"/>
        <a:buFontTx/>
        <a:buChar char="‣"/>
        <a:tabLst/>
        <a:defRPr sz="2550" b="0" i="0" u="none" strike="noStrike" cap="none" spc="0" baseline="0">
          <a:solidFill>
            <a:srgbClr val="202020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4pPr>
      <a:lvl5pPr marL="1559152" marR="0" indent="-289152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00000"/>
        <a:buFontTx/>
        <a:buChar char="‣"/>
        <a:tabLst/>
        <a:defRPr sz="2550" b="0" i="0" u="none" strike="noStrike" cap="none" spc="0" baseline="0">
          <a:solidFill>
            <a:srgbClr val="202020"/>
          </a:solidFill>
          <a:uFillTx/>
          <a:latin typeface="Gill Sans MT" panose="020B0502020104020203" pitchFamily="34" charset="0"/>
          <a:ea typeface="+mn-ea"/>
          <a:cs typeface="+mn-cs"/>
          <a:sym typeface="Helvetica"/>
        </a:defRPr>
      </a:lvl5pPr>
      <a:lvl6pPr marL="1924844" marR="0" indent="-337344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550" b="0" i="0" u="none" strike="noStrike" cap="none" spc="0" baseline="0">
          <a:solidFill>
            <a:srgbClr val="202020"/>
          </a:solidFill>
          <a:uFillTx/>
          <a:latin typeface="+mn-lt"/>
          <a:ea typeface="+mn-ea"/>
          <a:cs typeface="+mn-cs"/>
          <a:sym typeface="Helvetica"/>
        </a:defRPr>
      </a:lvl6pPr>
      <a:lvl7pPr marL="2242344" marR="0" indent="-337344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550" b="0" i="0" u="none" strike="noStrike" cap="none" spc="0" baseline="0">
          <a:solidFill>
            <a:srgbClr val="202020"/>
          </a:solidFill>
          <a:uFillTx/>
          <a:latin typeface="+mn-lt"/>
          <a:ea typeface="+mn-ea"/>
          <a:cs typeface="+mn-cs"/>
          <a:sym typeface="Helvetica"/>
        </a:defRPr>
      </a:lvl7pPr>
      <a:lvl8pPr marL="2559844" marR="0" indent="-337344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550" b="0" i="0" u="none" strike="noStrike" cap="none" spc="0" baseline="0">
          <a:solidFill>
            <a:srgbClr val="202020"/>
          </a:solidFill>
          <a:uFillTx/>
          <a:latin typeface="+mn-lt"/>
          <a:ea typeface="+mn-ea"/>
          <a:cs typeface="+mn-cs"/>
          <a:sym typeface="Helvetica"/>
        </a:defRPr>
      </a:lvl8pPr>
      <a:lvl9pPr marL="2877344" marR="0" indent="-337344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550" b="0" i="0" u="none" strike="noStrike" cap="none" spc="0" baseline="0">
          <a:solidFill>
            <a:srgbClr val="202020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-611"/>
            <a:ext cx="12192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85751" y="55564"/>
            <a:ext cx="11715749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85751" y="1000125"/>
            <a:ext cx="11715749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001251" y="6562726"/>
            <a:ext cx="1428749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 smtClean="0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4044951" y="6559551"/>
            <a:ext cx="4051300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CSCI3150 Intro to OS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0" y="706009"/>
            <a:ext cx="12192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" name="직사각형 4">
            <a:extLst>
              <a:ext uri="{FF2B5EF4-FFF2-40B4-BE49-F238E27FC236}">
                <a16:creationId xmlns:a16="http://schemas.microsoft.com/office/drawing/2014/main" id="{79080D6B-51FF-A0DF-25E8-FF0EAF67824A}"/>
              </a:ext>
            </a:extLst>
          </p:cNvPr>
          <p:cNvSpPr/>
          <p:nvPr userDrawn="1"/>
        </p:nvSpPr>
        <p:spPr>
          <a:xfrm>
            <a:off x="0" y="-611"/>
            <a:ext cx="12192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4" name="직사각형 9">
            <a:extLst>
              <a:ext uri="{FF2B5EF4-FFF2-40B4-BE49-F238E27FC236}">
                <a16:creationId xmlns:a16="http://schemas.microsoft.com/office/drawing/2014/main" id="{6BFFBB33-933A-D4D7-367B-A5210D9F6580}"/>
              </a:ext>
            </a:extLst>
          </p:cNvPr>
          <p:cNvSpPr/>
          <p:nvPr userDrawn="1"/>
        </p:nvSpPr>
        <p:spPr>
          <a:xfrm>
            <a:off x="0" y="706009"/>
            <a:ext cx="12192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690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ransition>
    <p:zoom/>
  </p:transition>
  <p:hf hd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8C13C63-B26A-4A9C-A1CA-724346AB2906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889000" y="4235450"/>
            <a:ext cx="10414000" cy="1774360"/>
          </a:xfrm>
        </p:spPr>
        <p:txBody>
          <a:bodyPr>
            <a:normAutofit/>
          </a:bodyPr>
          <a:lstStyle/>
          <a:p>
            <a:r>
              <a:rPr lang="en-US" altLang="zh-CN" dirty="0" err="1">
                <a:solidFill>
                  <a:schemeClr val="bg1">
                    <a:lumMod val="95000"/>
                  </a:schemeClr>
                </a:solidFill>
              </a:rPr>
              <a:t>Jia,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</a:rPr>
              <a:t> Chaobo</a:t>
            </a:r>
            <a:endParaRPr lang="en-US" altLang="zh-CN" dirty="0">
              <a:solidFill>
                <a:schemeClr val="bg1">
                  <a:lumMod val="95000"/>
                </a:schemeClr>
              </a:solidFill>
              <a:latin typeface="Gill Sans MT" panose="020B0502020104020203" pitchFamily="34" charset="0"/>
            </a:endParaRPr>
          </a:p>
          <a:p>
            <a:r>
              <a:rPr lang="nb-NO" altLang="zh-CN" dirty="0" err="1">
                <a:solidFill>
                  <a:schemeClr val="bg1">
                    <a:lumMod val="95000"/>
                  </a:schemeClr>
                </a:solidFill>
                <a:latin typeface="Gill Sans MT" panose="020B0502020104020203" pitchFamily="34" charset="0"/>
              </a:rPr>
              <a:t>Apr</a:t>
            </a:r>
            <a:r>
              <a:rPr lang="nb-NO" altLang="zh-CN" dirty="0">
                <a:solidFill>
                  <a:schemeClr val="bg1">
                    <a:lumMod val="95000"/>
                  </a:schemeClr>
                </a:solidFill>
                <a:latin typeface="Gill Sans MT" panose="020B0502020104020203" pitchFamily="34" charset="0"/>
              </a:rPr>
              <a:t> </a:t>
            </a: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Gill Sans MT" panose="020B0502020104020203" pitchFamily="34" charset="0"/>
              </a:rPr>
              <a:t>2</a:t>
            </a:r>
            <a:r>
              <a:rPr lang="nb-NO" altLang="zh-CN" dirty="0">
                <a:solidFill>
                  <a:schemeClr val="bg1">
                    <a:lumMod val="95000"/>
                  </a:schemeClr>
                </a:solidFill>
                <a:latin typeface="Gill Sans MT" panose="020B0502020104020203" pitchFamily="34" charset="0"/>
              </a:rPr>
              <a:t>,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32768C-F15F-6E75-41D1-9F14D317D991}"/>
              </a:ext>
            </a:extLst>
          </p:cNvPr>
          <p:cNvSpPr txBox="1"/>
          <p:nvPr/>
        </p:nvSpPr>
        <p:spPr>
          <a:xfrm>
            <a:off x="889000" y="1489226"/>
            <a:ext cx="10632440" cy="10310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 lvl="1" indent="0" algn="l" defTabSz="2921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300" b="1" kern="0" dirty="0">
                <a:solidFill>
                  <a:srgbClr val="FFFFFF">
                    <a:lumMod val="95000"/>
                  </a:srgbClr>
                </a:solidFill>
                <a:latin typeface="Gill Sans MT" panose="020B0502020104020203" pitchFamily="34" charset="0"/>
                <a:cs typeface="Helvetica"/>
                <a:sym typeface="Helvetica"/>
              </a:rPr>
              <a:t>Tutorial 11: File System API</a:t>
            </a:r>
            <a:endParaRPr kumimoji="0" lang="en-US" sz="33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0" marR="0" lvl="1" indent="0" algn="l" defTabSz="2921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CSCI3150 Introduction to Operating Systems, </a:t>
            </a:r>
            <a:r>
              <a:rPr lang="en-US" sz="2800" b="1" kern="0" dirty="0">
                <a:solidFill>
                  <a:srgbClr val="FFFFFF">
                    <a:lumMod val="95000"/>
                  </a:srgbClr>
                </a:solidFill>
                <a:latin typeface="Gill Sans MT" panose="020B0502020104020203" pitchFamily="34" charset="0"/>
                <a:cs typeface="Helvetica"/>
                <a:sym typeface="Helvetica"/>
              </a:rPr>
              <a:t>Spring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280851316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5FFEE-E22C-7E2F-1F3B-D8658E79F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551" y="1229566"/>
            <a:ext cx="10237107" cy="5499530"/>
          </a:xfrm>
        </p:spPr>
        <p:txBody>
          <a:bodyPr lIns="25400" tIns="25400" rIns="25400" bIns="25400" anchor="t">
            <a:normAutofit/>
          </a:bodyPr>
          <a:lstStyle/>
          <a:p>
            <a:pPr marL="0" indent="0">
              <a:spcBef>
                <a:spcPts val="1200"/>
              </a:spcBef>
              <a:buNone/>
              <a:defRPr/>
            </a:pPr>
            <a:endParaRPr kumimoji="0" lang="en-US" altLang="zh-CN" sz="2400" b="0" i="0" u="none" strike="noStrike" kern="0" cap="none" spc="0" normalizeH="0" baseline="3000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  <a:p>
            <a:pPr marL="288925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altLang="zh-CN" sz="2400" b="1" dirty="0" err="1"/>
              <a:t>Assignement</a:t>
            </a:r>
            <a:r>
              <a:rPr lang="en-US" altLang="zh-CN" sz="2400" b="1" dirty="0"/>
              <a:t> 4</a:t>
            </a:r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altLang="zh-CN" sz="2400" dirty="0"/>
              <a:t>Published at Apr 3</a:t>
            </a:r>
            <a:endParaRPr lang="en-US" altLang="zh-CN" sz="2400" b="1" dirty="0"/>
          </a:p>
          <a:p>
            <a:pPr marL="606425" lvl="1" indent="-288925">
              <a:spcBef>
                <a:spcPts val="1200"/>
              </a:spcBef>
              <a:buFont typeface="Wingdings" pitchFamily="2" charset="2"/>
              <a:buChar char="Ø"/>
              <a:defRPr/>
            </a:pPr>
            <a:r>
              <a:rPr lang="en-US" altLang="zh-CN" sz="2400" dirty="0">
                <a:cs typeface="Helvetica"/>
              </a:rPr>
              <a:t>Due at 6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:00:00 p.m., </a:t>
            </a:r>
            <a:r>
              <a:rPr lang="en-US" altLang="zh-CN" sz="2400" dirty="0">
                <a:cs typeface="Helvetica"/>
              </a:rPr>
              <a:t>May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t> 1</a:t>
            </a:r>
            <a:endParaRPr lang="en-US" altLang="zh-CN" sz="2400" baseline="30000" dirty="0"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3FAE4-3A59-50C4-1BA6-A9AEC61D52C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686121" y="6400800"/>
            <a:ext cx="218008" cy="379591"/>
          </a:xfrm>
        </p:spPr>
        <p:txBody>
          <a:bodyPr/>
          <a:lstStyle/>
          <a:p>
            <a:pPr marL="0" marR="0" lvl="0" indent="0" algn="ctr" defTabSz="41275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latin typeface="Gill Sans MT" panose="020B0502020104020203" pitchFamily="34" charset="0"/>
                <a:cs typeface="Helvetica"/>
                <a:sym typeface="Helvetica"/>
              </a:rPr>
              <a:pPr marL="0" marR="0" lvl="0" indent="0" algn="ctr" defTabSz="41275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800080"/>
              </a:solidFill>
              <a:effectLst/>
              <a:uLnTx/>
              <a:uFillTx/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B015C9B1-B376-9F41-C2D7-B6125B76B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613679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1CA41-310D-6CFA-0BAE-46DE7980C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System Structure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B7EDF7-6D39-60B8-C40F-940E0B1CA6B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HK" smtClean="0"/>
              <a:t>3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98587124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C3287-3A98-A7BB-3377-160117F36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Organization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9D80C9-A610-96A3-9A52-9D7E59AA6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828" y="4623350"/>
            <a:ext cx="7772400" cy="177745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7D53B7-DE25-0A96-821B-D9A2F348A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399" y="1229566"/>
            <a:ext cx="10593290" cy="339378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sz="2200" dirty="0"/>
              <a:t>Divide the disk into blocks (Blk size is 4KB)</a:t>
            </a:r>
          </a:p>
          <a:p>
            <a:pPr lvl="1"/>
            <a:r>
              <a:rPr lang="en-US" sz="2000" dirty="0"/>
              <a:t>Address from 0 to N-1</a:t>
            </a:r>
          </a:p>
          <a:p>
            <a:pPr>
              <a:lnSpc>
                <a:spcPct val="110000"/>
              </a:lnSpc>
            </a:pPr>
            <a:r>
              <a:rPr lang="en-US" sz="2200" dirty="0"/>
              <a:t>Superblock: contains metadata information for a file system</a:t>
            </a:r>
          </a:p>
          <a:p>
            <a:pPr>
              <a:lnSpc>
                <a:spcPct val="110000"/>
              </a:lnSpc>
            </a:pPr>
            <a:r>
              <a:rPr lang="en-US" sz="2200" dirty="0"/>
              <a:t>Bitmap: each bit indicated free (0) or in-use (1)</a:t>
            </a:r>
          </a:p>
          <a:p>
            <a:pPr lvl="1"/>
            <a:r>
              <a:rPr lang="en-US" sz="2000" dirty="0" err="1"/>
              <a:t>Inode</a:t>
            </a:r>
            <a:r>
              <a:rPr lang="en-US" sz="2000" dirty="0"/>
              <a:t>/Data Bitmap: for </a:t>
            </a:r>
            <a:r>
              <a:rPr lang="en-US" sz="2000" dirty="0" err="1"/>
              <a:t>inode</a:t>
            </a:r>
            <a:r>
              <a:rPr lang="en-US" sz="2000" dirty="0"/>
              <a:t>/data region</a:t>
            </a:r>
          </a:p>
          <a:p>
            <a:pPr>
              <a:lnSpc>
                <a:spcPct val="110000"/>
              </a:lnSpc>
            </a:pPr>
            <a:r>
              <a:rPr lang="en-US" sz="2200" dirty="0" err="1"/>
              <a:t>Inode</a:t>
            </a:r>
            <a:r>
              <a:rPr lang="en-US" sz="2200" dirty="0"/>
              <a:t> blocks: meta-information of a file + pointers to the data </a:t>
            </a:r>
            <a:r>
              <a:rPr lang="en-US" sz="2200" dirty="0" err="1"/>
              <a:t>blks</a:t>
            </a:r>
            <a:endParaRPr lang="en-US" sz="2200" dirty="0"/>
          </a:p>
          <a:p>
            <a:pPr lvl="1"/>
            <a:r>
              <a:rPr lang="en-US" sz="2000" dirty="0"/>
              <a:t>File/directory/link/device/socket all have </a:t>
            </a:r>
            <a:r>
              <a:rPr lang="en-US" sz="2000" dirty="0" err="1"/>
              <a:t>inode</a:t>
            </a:r>
            <a:endParaRPr lang="en-US" sz="2000" dirty="0"/>
          </a:p>
          <a:p>
            <a:pPr lvl="1"/>
            <a:r>
              <a:rPr lang="en-US" sz="2000" dirty="0"/>
              <a:t>Metadata: File size, permissions, owner, timestamps, etc.</a:t>
            </a:r>
          </a:p>
          <a:p>
            <a:r>
              <a:rPr lang="en-US" sz="2200" dirty="0"/>
              <a:t>Data blocks: Store the data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F51B6-30FC-54D7-CF87-21A90004173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04264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81B1B-069A-9F47-8788-5B8877944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</a:t>
            </a:r>
            <a:r>
              <a:rPr lang="en-US" dirty="0" err="1"/>
              <a:t>Inode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7EAD49-4083-0236-1FCD-9A965B051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817" y="1447800"/>
            <a:ext cx="5384800" cy="39624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B21A3C-1D85-E2CB-D129-4C2728110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5383" y="1138126"/>
            <a:ext cx="6170022" cy="5496850"/>
          </a:xfrm>
        </p:spPr>
        <p:txBody>
          <a:bodyPr>
            <a:normAutofit fontScale="40000" lnSpcReduction="20000"/>
          </a:bodyPr>
          <a:lstStyle/>
          <a:p>
            <a:pPr marL="0" indent="0" algn="l">
              <a:buNone/>
            </a:pPr>
            <a:r>
              <a:rPr lang="en-HK" sz="4600" dirty="0"/>
              <a:t>Each level-0 or outermost </a:t>
            </a:r>
            <a:r>
              <a:rPr lang="en-HK" sz="4600" dirty="0" err="1"/>
              <a:t>inode</a:t>
            </a:r>
            <a:r>
              <a:rPr lang="en-HK" sz="4600" dirty="0"/>
              <a:t> is divided into several different fields: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HK" sz="4600" b="1" dirty="0"/>
              <a:t>File attribute: </a:t>
            </a:r>
            <a:r>
              <a:rPr lang="en-HK" sz="4600" dirty="0"/>
              <a:t>most of the good stuff that ls -l reports is stored here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HK" sz="46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HK" sz="4600" b="1" dirty="0"/>
              <a:t>Direct mappings: </a:t>
            </a:r>
            <a:r>
              <a:rPr lang="en-HK" sz="4600" dirty="0"/>
              <a:t>Entries containing direct forward mappings. These mappings provide a mapping from the logical block number to the location of the physical block on disk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HK" sz="46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HK" sz="4600" b="1" dirty="0"/>
              <a:t>Indirect_1 Mappings: </a:t>
            </a:r>
            <a:r>
              <a:rPr lang="en-HK" sz="4600" dirty="0"/>
              <a:t>Entries containing indirect mapping requiring one level of indirection. 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HK" sz="46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HK" sz="4600" b="1" dirty="0"/>
              <a:t>Indirect_2 Mappings: </a:t>
            </a:r>
            <a:r>
              <a:rPr lang="en-HK" sz="4600" dirty="0"/>
              <a:t>Entries containing indirect mappings requiring two levels of indirection. 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HK" sz="46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HK" sz="4600" b="1" dirty="0"/>
              <a:t>Indirect_3 Mappings: </a:t>
            </a:r>
            <a:r>
              <a:rPr lang="en-HK" sz="4600" dirty="0"/>
              <a:t>Entries containing mappings requiring three levels of indirection.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1C80F-B876-D12B-45E6-460FFD503AA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70373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1CA41-310D-6CFA-0BAE-46DE7980C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System API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B7EDF7-6D39-60B8-C40F-940E0B1CA6B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HK" smtClean="0"/>
              <a:t>6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04898435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E71E7-B004-1F7E-B520-85E10423C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System APIs 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610B0-74FD-8870-B2E7-5D34F16A052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C708736-7FD7-3A20-4722-4FDFC35E4F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258447"/>
              </p:ext>
            </p:extLst>
          </p:nvPr>
        </p:nvGraphicFramePr>
        <p:xfrm>
          <a:off x="776614" y="1086284"/>
          <a:ext cx="10593290" cy="5364153"/>
        </p:xfrm>
        <a:graphic>
          <a:graphicData uri="http://schemas.openxmlformats.org/drawingml/2006/table">
            <a:tbl>
              <a:tblPr firstRow="1" firstCol="1" bandRow="1">
                <a:tableStyleId>{FABFCF23-3B69-468F-B69F-88F6DE6A72F2}</a:tableStyleId>
              </a:tblPr>
              <a:tblGrid>
                <a:gridCol w="3073188">
                  <a:extLst>
                    <a:ext uri="{9D8B030D-6E8A-4147-A177-3AD203B41FA5}">
                      <a16:colId xmlns:a16="http://schemas.microsoft.com/office/drawing/2014/main" val="1858788199"/>
                    </a:ext>
                  </a:extLst>
                </a:gridCol>
                <a:gridCol w="3989005">
                  <a:extLst>
                    <a:ext uri="{9D8B030D-6E8A-4147-A177-3AD203B41FA5}">
                      <a16:colId xmlns:a16="http://schemas.microsoft.com/office/drawing/2014/main" val="2934795229"/>
                    </a:ext>
                  </a:extLst>
                </a:gridCol>
                <a:gridCol w="3531097">
                  <a:extLst>
                    <a:ext uri="{9D8B030D-6E8A-4147-A177-3AD203B41FA5}">
                      <a16:colId xmlns:a16="http://schemas.microsoft.com/office/drawing/2014/main" val="2263391830"/>
                    </a:ext>
                  </a:extLst>
                </a:gridCol>
              </a:tblGrid>
              <a:tr h="350994">
                <a:tc>
                  <a:txBody>
                    <a:bodyPr/>
                    <a:lstStyle/>
                    <a:p>
                      <a:r>
                        <a:rPr lang="en-HK" sz="2000" b="1" dirty="0"/>
                        <a:t>Feature</a:t>
                      </a:r>
                      <a:endParaRPr lang="en-HK" sz="2000" dirty="0"/>
                    </a:p>
                  </a:txBody>
                  <a:tcPr marL="51647" marR="51647" marT="25823" marB="25823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HK" sz="2000" b="1" dirty="0"/>
                        <a:t>Description</a:t>
                      </a:r>
                      <a:endParaRPr lang="en-HK" sz="2000" dirty="0"/>
                    </a:p>
                  </a:txBody>
                  <a:tcPr marL="51647" marR="51647" marT="25823" marB="25823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en-HK" sz="2000" b="1" dirty="0"/>
                        <a:t>Examples</a:t>
                      </a:r>
                      <a:endParaRPr lang="en-HK" sz="2000" dirty="0"/>
                    </a:p>
                  </a:txBody>
                  <a:tcPr marL="51647" marR="51647" marT="25823" marB="25823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871145635"/>
                  </a:ext>
                </a:extLst>
              </a:tr>
              <a:tr h="771187">
                <a:tc>
                  <a:txBody>
                    <a:bodyPr/>
                    <a:lstStyle/>
                    <a:p>
                      <a:r>
                        <a:rPr lang="en-HK" sz="1600" b="1" dirty="0"/>
                        <a:t>File Metadata Handling</a:t>
                      </a:r>
                      <a:endParaRPr lang="en-HK" sz="1600" dirty="0"/>
                    </a:p>
                  </a:txBody>
                  <a:tcPr marL="51647" marR="51647" marT="25823" marB="25823" anchor="ctr"/>
                </a:tc>
                <a:tc>
                  <a:txBody>
                    <a:bodyPr/>
                    <a:lstStyle/>
                    <a:p>
                      <a:r>
                        <a:rPr lang="en-HK" sz="1600" dirty="0"/>
                        <a:t>Operations to access or modify file metadata such as size, permissions, and modification date.</a:t>
                      </a:r>
                    </a:p>
                  </a:txBody>
                  <a:tcPr marL="51647" marR="51647" marT="25823" marB="25823" anchor="ctr"/>
                </a:tc>
                <a:tc>
                  <a:txBody>
                    <a:bodyPr/>
                    <a:lstStyle/>
                    <a:p>
                      <a:pPr marL="0" marR="0" indent="0" algn="ctr" defTabSz="41275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HK" sz="1600" b="0" i="1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"/>
                        </a:rPr>
                        <a:t>stat(), </a:t>
                      </a:r>
                      <a:r>
                        <a:rPr lang="en-HK" sz="1600" b="0" i="1" u="none" strike="noStrike" cap="none" spc="0" baseline="0" dirty="0" err="1"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"/>
                        </a:rPr>
                        <a:t>os.stat</a:t>
                      </a:r>
                      <a:r>
                        <a:rPr lang="en-HK" sz="1600" b="0" i="1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"/>
                        </a:rPr>
                        <a:t>()</a:t>
                      </a:r>
                    </a:p>
                  </a:txBody>
                  <a:tcPr marL="51647" marR="51647" marT="25823" marB="25823" anchor="ctr"/>
                </a:tc>
                <a:extLst>
                  <a:ext uri="{0D108BD9-81ED-4DB2-BD59-A6C34878D82A}">
                    <a16:rowId xmlns:a16="http://schemas.microsoft.com/office/drawing/2014/main" val="835877556"/>
                  </a:ext>
                </a:extLst>
              </a:tr>
              <a:tr h="771187">
                <a:tc>
                  <a:txBody>
                    <a:bodyPr/>
                    <a:lstStyle/>
                    <a:p>
                      <a:r>
                        <a:rPr lang="en-HK" sz="1600" b="1" dirty="0"/>
                        <a:t>File Opening and Closing</a:t>
                      </a:r>
                      <a:endParaRPr lang="en-HK" sz="1600" dirty="0"/>
                    </a:p>
                  </a:txBody>
                  <a:tcPr marL="51647" marR="51647" marT="25823" marB="25823" anchor="ctr"/>
                </a:tc>
                <a:tc>
                  <a:txBody>
                    <a:bodyPr/>
                    <a:lstStyle/>
                    <a:p>
                      <a:r>
                        <a:rPr lang="en-HK" sz="1600" dirty="0"/>
                        <a:t>Functions to open and close files for various operations like reading, writing.</a:t>
                      </a:r>
                    </a:p>
                  </a:txBody>
                  <a:tcPr marL="51647" marR="51647" marT="25823" marB="25823" anchor="ctr"/>
                </a:tc>
                <a:tc>
                  <a:txBody>
                    <a:bodyPr/>
                    <a:lstStyle/>
                    <a:p>
                      <a:r>
                        <a:rPr lang="en-HK" sz="1600" i="1" dirty="0"/>
                        <a:t>open(), </a:t>
                      </a:r>
                      <a:r>
                        <a:rPr lang="en-HK" sz="1600" i="1" dirty="0" err="1"/>
                        <a:t>fopen</a:t>
                      </a:r>
                      <a:r>
                        <a:rPr lang="en-HK" sz="1600" i="1" dirty="0"/>
                        <a:t>(), </a:t>
                      </a:r>
                      <a:r>
                        <a:rPr lang="en-HK" sz="1600" i="1" dirty="0" err="1"/>
                        <a:t>CreateFile</a:t>
                      </a:r>
                      <a:r>
                        <a:rPr lang="en-HK" sz="1600" i="1" dirty="0"/>
                        <a:t>(), rename()</a:t>
                      </a:r>
                    </a:p>
                  </a:txBody>
                  <a:tcPr marL="51647" marR="51647" marT="25823" marB="25823" anchor="ctr"/>
                </a:tc>
                <a:extLst>
                  <a:ext uri="{0D108BD9-81ED-4DB2-BD59-A6C34878D82A}">
                    <a16:rowId xmlns:a16="http://schemas.microsoft.com/office/drawing/2014/main" val="2723189805"/>
                  </a:ext>
                </a:extLst>
              </a:tr>
              <a:tr h="673848">
                <a:tc>
                  <a:txBody>
                    <a:bodyPr/>
                    <a:lstStyle/>
                    <a:p>
                      <a:r>
                        <a:rPr lang="en-HK" sz="1600" b="1" dirty="0"/>
                        <a:t>File Reading and Writing</a:t>
                      </a:r>
                      <a:endParaRPr lang="en-HK" sz="1600" dirty="0"/>
                    </a:p>
                  </a:txBody>
                  <a:tcPr marL="51647" marR="51647" marT="25823" marB="25823" anchor="ctr"/>
                </a:tc>
                <a:tc>
                  <a:txBody>
                    <a:bodyPr/>
                    <a:lstStyle/>
                    <a:p>
                      <a:r>
                        <a:rPr lang="en-HK" sz="1600" dirty="0"/>
                        <a:t>Methods to read from and write to files in different modes (binary or text).</a:t>
                      </a:r>
                    </a:p>
                  </a:txBody>
                  <a:tcPr marL="51647" marR="51647" marT="25823" marB="25823" anchor="ctr"/>
                </a:tc>
                <a:tc>
                  <a:txBody>
                    <a:bodyPr/>
                    <a:lstStyle/>
                    <a:p>
                      <a:r>
                        <a:rPr lang="en-HK" sz="1600" i="1" dirty="0"/>
                        <a:t>read(), write(), </a:t>
                      </a:r>
                      <a:r>
                        <a:rPr lang="en-HK" sz="1600" i="1" dirty="0" err="1"/>
                        <a:t>fread</a:t>
                      </a:r>
                      <a:r>
                        <a:rPr lang="en-HK" sz="1600" i="1" dirty="0"/>
                        <a:t>(), </a:t>
                      </a:r>
                      <a:r>
                        <a:rPr lang="en-HK" sz="1600" i="1" dirty="0" err="1"/>
                        <a:t>WriteFile</a:t>
                      </a:r>
                      <a:r>
                        <a:rPr lang="en-HK" sz="1600" i="1" dirty="0"/>
                        <a:t>()</a:t>
                      </a:r>
                    </a:p>
                  </a:txBody>
                  <a:tcPr marL="51647" marR="51647" marT="25823" marB="25823" anchor="ctr"/>
                </a:tc>
                <a:extLst>
                  <a:ext uri="{0D108BD9-81ED-4DB2-BD59-A6C34878D82A}">
                    <a16:rowId xmlns:a16="http://schemas.microsoft.com/office/drawing/2014/main" val="397063129"/>
                  </a:ext>
                </a:extLst>
              </a:tr>
              <a:tr h="771187">
                <a:tc>
                  <a:txBody>
                    <a:bodyPr/>
                    <a:lstStyle/>
                    <a:p>
                      <a:r>
                        <a:rPr lang="en-HK" sz="1600" b="1" dirty="0"/>
                        <a:t>File Positioning</a:t>
                      </a:r>
                      <a:endParaRPr lang="en-HK" sz="1600" dirty="0"/>
                    </a:p>
                  </a:txBody>
                  <a:tcPr marL="51647" marR="51647" marT="25823" marB="25823" anchor="ctr"/>
                </a:tc>
                <a:tc>
                  <a:txBody>
                    <a:bodyPr/>
                    <a:lstStyle/>
                    <a:p>
                      <a:r>
                        <a:rPr lang="en-HK" sz="1600" dirty="0"/>
                        <a:t>Functions to manipulate the read/write pointer's position within a file (seek operations).</a:t>
                      </a:r>
                    </a:p>
                  </a:txBody>
                  <a:tcPr marL="51647" marR="51647" marT="25823" marB="25823" anchor="ctr"/>
                </a:tc>
                <a:tc>
                  <a:txBody>
                    <a:bodyPr/>
                    <a:lstStyle/>
                    <a:p>
                      <a:r>
                        <a:rPr lang="en-HK" sz="1600" i="1" dirty="0" err="1"/>
                        <a:t>lseek</a:t>
                      </a:r>
                      <a:r>
                        <a:rPr lang="en-HK" sz="1600" i="1" dirty="0"/>
                        <a:t>(), </a:t>
                      </a:r>
                      <a:r>
                        <a:rPr lang="en-HK" sz="1600" i="1" dirty="0" err="1"/>
                        <a:t>fseek</a:t>
                      </a:r>
                      <a:r>
                        <a:rPr lang="en-HK" sz="1600" i="1" dirty="0"/>
                        <a:t>(), </a:t>
                      </a:r>
                      <a:r>
                        <a:rPr lang="en-HK" sz="1600" i="1" dirty="0" err="1"/>
                        <a:t>SetFilePointer</a:t>
                      </a:r>
                      <a:r>
                        <a:rPr lang="en-HK" sz="1600" i="1" dirty="0"/>
                        <a:t>()</a:t>
                      </a:r>
                    </a:p>
                  </a:txBody>
                  <a:tcPr marL="51647" marR="51647" marT="25823" marB="25823" anchor="ctr"/>
                </a:tc>
                <a:extLst>
                  <a:ext uri="{0D108BD9-81ED-4DB2-BD59-A6C34878D82A}">
                    <a16:rowId xmlns:a16="http://schemas.microsoft.com/office/drawing/2014/main" val="4139253583"/>
                  </a:ext>
                </a:extLst>
              </a:tr>
              <a:tr h="531077">
                <a:tc>
                  <a:txBody>
                    <a:bodyPr/>
                    <a:lstStyle/>
                    <a:p>
                      <a:r>
                        <a:rPr lang="en-HK" sz="1600" b="1" dirty="0"/>
                        <a:t>File Creation and Deletion</a:t>
                      </a:r>
                      <a:endParaRPr lang="en-HK" sz="1600" dirty="0"/>
                    </a:p>
                  </a:txBody>
                  <a:tcPr marL="51647" marR="51647" marT="25823" marB="25823" anchor="ctr"/>
                </a:tc>
                <a:tc>
                  <a:txBody>
                    <a:bodyPr/>
                    <a:lstStyle/>
                    <a:p>
                      <a:r>
                        <a:rPr lang="en-HK" sz="1600" dirty="0"/>
                        <a:t>Functions to create or delete files and directories.</a:t>
                      </a:r>
                    </a:p>
                  </a:txBody>
                  <a:tcPr marL="51647" marR="51647" marT="25823" marB="25823" anchor="ctr"/>
                </a:tc>
                <a:tc>
                  <a:txBody>
                    <a:bodyPr/>
                    <a:lstStyle/>
                    <a:p>
                      <a:pPr marL="0" marR="0" indent="0" algn="ctr" defTabSz="41275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HK" sz="1600" b="0" i="1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"/>
                        </a:rPr>
                        <a:t>unlink(), </a:t>
                      </a:r>
                      <a:r>
                        <a:rPr lang="en-HK" sz="1600" b="0" i="1" u="none" strike="noStrike" cap="none" spc="0" baseline="0" dirty="0" err="1"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"/>
                        </a:rPr>
                        <a:t>os.remove</a:t>
                      </a:r>
                      <a:r>
                        <a:rPr lang="en-HK" sz="1600" b="0" i="1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"/>
                        </a:rPr>
                        <a:t>(), </a:t>
                      </a:r>
                      <a:r>
                        <a:rPr lang="en-HK" sz="1600" b="0" i="1" u="none" strike="noStrike" cap="none" spc="0" baseline="0" dirty="0" err="1"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"/>
                        </a:rPr>
                        <a:t>DeleteFile</a:t>
                      </a:r>
                      <a:r>
                        <a:rPr lang="en-HK" sz="1600" b="0" i="1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"/>
                        </a:rPr>
                        <a:t>()</a:t>
                      </a:r>
                    </a:p>
                  </a:txBody>
                  <a:tcPr marL="51647" marR="51647" marT="25823" marB="25823" anchor="ctr"/>
                </a:tc>
                <a:extLst>
                  <a:ext uri="{0D108BD9-81ED-4DB2-BD59-A6C34878D82A}">
                    <a16:rowId xmlns:a16="http://schemas.microsoft.com/office/drawing/2014/main" val="1108864888"/>
                  </a:ext>
                </a:extLst>
              </a:tr>
              <a:tr h="673848">
                <a:tc>
                  <a:txBody>
                    <a:bodyPr/>
                    <a:lstStyle/>
                    <a:p>
                      <a:r>
                        <a:rPr lang="en-HK" sz="1600" b="1" dirty="0"/>
                        <a:t>Directory Management</a:t>
                      </a:r>
                      <a:endParaRPr lang="en-HK" sz="1600" dirty="0"/>
                    </a:p>
                  </a:txBody>
                  <a:tcPr marL="51647" marR="51647" marT="25823" marB="25823" anchor="ctr"/>
                </a:tc>
                <a:tc>
                  <a:txBody>
                    <a:bodyPr/>
                    <a:lstStyle/>
                    <a:p>
                      <a:r>
                        <a:rPr lang="en-HK" sz="1600"/>
                        <a:t>Tools for handling directories, including creation, deletion, and listing contents.</a:t>
                      </a:r>
                    </a:p>
                  </a:txBody>
                  <a:tcPr marL="51647" marR="51647" marT="25823" marB="25823" anchor="ctr"/>
                </a:tc>
                <a:tc>
                  <a:txBody>
                    <a:bodyPr/>
                    <a:lstStyle/>
                    <a:p>
                      <a:pPr marL="0" marR="0" indent="0" algn="ctr" defTabSz="41275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HK" sz="1600" b="0" i="1" u="none" strike="noStrike" cap="none" spc="0" baseline="0" dirty="0" err="1"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"/>
                        </a:rPr>
                        <a:t>mkdir</a:t>
                      </a:r>
                      <a:r>
                        <a:rPr lang="en-HK" sz="1600" b="0" i="1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"/>
                        </a:rPr>
                        <a:t>(), </a:t>
                      </a:r>
                      <a:r>
                        <a:rPr lang="en-HK" sz="1600" b="0" i="1" u="none" strike="noStrike" cap="none" spc="0" baseline="0" dirty="0" err="1"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"/>
                        </a:rPr>
                        <a:t>os.mkdir</a:t>
                      </a:r>
                      <a:r>
                        <a:rPr lang="en-HK" sz="1600" b="0" i="1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"/>
                        </a:rPr>
                        <a:t>(), </a:t>
                      </a:r>
                      <a:r>
                        <a:rPr lang="en-HK" sz="1600" b="0" i="1" u="none" strike="noStrike" cap="none" spc="0" baseline="0" dirty="0" err="1"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"/>
                        </a:rPr>
                        <a:t>shutil.rmtree</a:t>
                      </a:r>
                      <a:r>
                        <a:rPr lang="en-HK" sz="1600" b="0" i="1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"/>
                        </a:rPr>
                        <a:t>()</a:t>
                      </a:r>
                    </a:p>
                  </a:txBody>
                  <a:tcPr marL="51647" marR="51647" marT="25823" marB="25823" anchor="ctr"/>
                </a:tc>
                <a:extLst>
                  <a:ext uri="{0D108BD9-81ED-4DB2-BD59-A6C34878D82A}">
                    <a16:rowId xmlns:a16="http://schemas.microsoft.com/office/drawing/2014/main" val="3596583931"/>
                  </a:ext>
                </a:extLst>
              </a:tr>
              <a:tr h="771187">
                <a:tc>
                  <a:txBody>
                    <a:bodyPr/>
                    <a:lstStyle/>
                    <a:p>
                      <a:r>
                        <a:rPr lang="en-HK" sz="1600" b="1" dirty="0"/>
                        <a:t>Link Creation and Deletion</a:t>
                      </a:r>
                      <a:endParaRPr lang="en-HK" sz="1600" dirty="0"/>
                    </a:p>
                  </a:txBody>
                  <a:tcPr marL="51647" marR="51647" marT="25823" marB="25823" anchor="ctr"/>
                </a:tc>
                <a:tc>
                  <a:txBody>
                    <a:bodyPr/>
                    <a:lstStyle/>
                    <a:p>
                      <a:r>
                        <a:rPr lang="en-HK" sz="1600" dirty="0"/>
                        <a:t>Create a direct link to the same underlying file content/shortcut or pointer to another file or directory.</a:t>
                      </a:r>
                    </a:p>
                  </a:txBody>
                  <a:tcPr marL="51647" marR="51647" marT="25823" marB="25823" anchor="ctr"/>
                </a:tc>
                <a:tc>
                  <a:txBody>
                    <a:bodyPr/>
                    <a:lstStyle/>
                    <a:p>
                      <a:pPr marL="0" marR="0" indent="0" algn="ctr" defTabSz="412750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HK" sz="1600" b="0" i="1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"/>
                        </a:rPr>
                        <a:t>link(), </a:t>
                      </a:r>
                      <a:r>
                        <a:rPr lang="en-HK" sz="1600" b="0" i="1" u="none" strike="noStrike" cap="none" spc="0" baseline="0" dirty="0" err="1"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"/>
                        </a:rPr>
                        <a:t>symlink</a:t>
                      </a:r>
                      <a:r>
                        <a:rPr lang="en-HK" sz="1600" b="0" i="1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Helvetica"/>
                        </a:rPr>
                        <a:t>(), unlink()</a:t>
                      </a:r>
                    </a:p>
                  </a:txBody>
                  <a:tcPr marL="51647" marR="51647" marT="25823" marB="25823" anchor="ctr"/>
                </a:tc>
                <a:extLst>
                  <a:ext uri="{0D108BD9-81ED-4DB2-BD59-A6C34878D82A}">
                    <a16:rowId xmlns:a16="http://schemas.microsoft.com/office/drawing/2014/main" val="202092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377651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CF688-7451-E9DC-78B6-E61D3B200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Getting Information About Files</a:t>
            </a:r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1F7D0-E9F3-ED7A-5433-E9796292E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stat()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altLang="ko-KR" dirty="0"/>
              <a:t>Show the File metadata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dirty="0"/>
              <a:t>metadata is information about each file, ex: size, permission, ..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stat</a:t>
            </a:r>
            <a:r>
              <a:rPr lang="en-US" altLang="ko-KR" dirty="0"/>
              <a:t> structure is below: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12EDD-B709-CF7D-80CD-C066BA3ED3E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4E43ECD5-1E63-F2F5-B6EA-5278107D6716}"/>
              </a:ext>
            </a:extLst>
          </p:cNvPr>
          <p:cNvSpPr txBox="1"/>
          <p:nvPr/>
        </p:nvSpPr>
        <p:spPr>
          <a:xfrm>
            <a:off x="1883578" y="3076813"/>
            <a:ext cx="7776864" cy="3323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 latinLnBrk="1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 </a:t>
            </a:r>
            <a:r>
              <a:rPr lang="en-US" altLang="ko-KR" sz="1400" dirty="0">
                <a:solidFill>
                  <a:srgbClr val="00B050"/>
                </a:solidFill>
                <a:latin typeface="Courier" pitchFamily="49" charset="0"/>
                <a:ea typeface="맑은 고딕" pitchFamily="50" charset="-127"/>
              </a:rPr>
              <a:t>struct 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stat {</a:t>
            </a:r>
          </a:p>
          <a:p>
            <a:pPr marL="342900" indent="-342900" latinLnBrk="1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   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dev_t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st_dev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; </a:t>
            </a:r>
            <a:r>
              <a:rPr lang="en-US" altLang="ko-KR" sz="1400" dirty="0">
                <a:solidFill>
                  <a:srgbClr val="00B0F0"/>
                </a:solidFill>
                <a:latin typeface="Courier" pitchFamily="49" charset="0"/>
                <a:ea typeface="맑은 고딕" pitchFamily="50" charset="-127"/>
              </a:rPr>
              <a:t>/* ID of device containing file */</a:t>
            </a:r>
          </a:p>
          <a:p>
            <a:pPr marL="342900" indent="-342900" latinLnBrk="1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   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ino_t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st_ino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; </a:t>
            </a:r>
            <a:r>
              <a:rPr lang="en-US" altLang="ko-KR" sz="1400" dirty="0">
                <a:solidFill>
                  <a:srgbClr val="00B0F0"/>
                </a:solidFill>
                <a:latin typeface="Courier" pitchFamily="49" charset="0"/>
                <a:ea typeface="맑은 고딕" pitchFamily="50" charset="-127"/>
              </a:rPr>
              <a:t>/* </a:t>
            </a:r>
            <a:r>
              <a:rPr lang="en-US" altLang="ko-KR" sz="1400" dirty="0" err="1">
                <a:solidFill>
                  <a:srgbClr val="00B0F0"/>
                </a:solidFill>
                <a:latin typeface="Courier" pitchFamily="49" charset="0"/>
                <a:ea typeface="맑은 고딕" pitchFamily="50" charset="-127"/>
              </a:rPr>
              <a:t>inode</a:t>
            </a:r>
            <a:r>
              <a:rPr lang="en-US" altLang="ko-KR" sz="1400" dirty="0">
                <a:solidFill>
                  <a:srgbClr val="00B0F0"/>
                </a:solidFill>
                <a:latin typeface="Courier" pitchFamily="49" charset="0"/>
                <a:ea typeface="맑은 고딕" pitchFamily="50" charset="-127"/>
              </a:rPr>
              <a:t> number */</a:t>
            </a:r>
          </a:p>
          <a:p>
            <a:pPr marL="342900" indent="-342900" latinLnBrk="1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   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mode_t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st_mode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; </a:t>
            </a:r>
            <a:r>
              <a:rPr lang="en-US" altLang="ko-KR" sz="1400" dirty="0">
                <a:solidFill>
                  <a:srgbClr val="00B0F0"/>
                </a:solidFill>
                <a:latin typeface="Courier" pitchFamily="49" charset="0"/>
                <a:ea typeface="맑은 고딕" pitchFamily="50" charset="-127"/>
              </a:rPr>
              <a:t>/* protection */</a:t>
            </a:r>
          </a:p>
          <a:p>
            <a:pPr marL="342900" indent="-342900" latinLnBrk="1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   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nlink_t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st_nlink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; </a:t>
            </a:r>
            <a:r>
              <a:rPr lang="en-US" altLang="ko-KR" sz="1400" dirty="0">
                <a:solidFill>
                  <a:srgbClr val="00B0F0"/>
                </a:solidFill>
                <a:latin typeface="Courier" pitchFamily="49" charset="0"/>
                <a:ea typeface="맑은 고딕" pitchFamily="50" charset="-127"/>
              </a:rPr>
              <a:t>/* number of hard links */</a:t>
            </a:r>
          </a:p>
          <a:p>
            <a:pPr marL="342900" indent="-342900" latinLnBrk="1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   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uid_t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st_uid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; </a:t>
            </a:r>
            <a:r>
              <a:rPr lang="en-US" altLang="ko-KR" sz="1400" dirty="0">
                <a:solidFill>
                  <a:srgbClr val="00B0F0"/>
                </a:solidFill>
                <a:latin typeface="Courier" pitchFamily="49" charset="0"/>
                <a:ea typeface="맑은 고딕" pitchFamily="50" charset="-127"/>
              </a:rPr>
              <a:t>/* user ID of owner */</a:t>
            </a:r>
          </a:p>
          <a:p>
            <a:pPr marL="342900" indent="-342900" latinLnBrk="1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   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gid_t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st_gid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; </a:t>
            </a:r>
            <a:r>
              <a:rPr lang="en-US" altLang="ko-KR" sz="1400" dirty="0">
                <a:solidFill>
                  <a:srgbClr val="00B0F0"/>
                </a:solidFill>
                <a:latin typeface="Courier" pitchFamily="49" charset="0"/>
                <a:ea typeface="맑은 고딕" pitchFamily="50" charset="-127"/>
              </a:rPr>
              <a:t>/* group ID of owner */</a:t>
            </a:r>
          </a:p>
          <a:p>
            <a:pPr marL="342900" indent="-342900" latinLnBrk="1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   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dev_t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st_rdev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; </a:t>
            </a:r>
            <a:r>
              <a:rPr lang="en-US" altLang="ko-KR" sz="1400" dirty="0">
                <a:solidFill>
                  <a:srgbClr val="00B0F0"/>
                </a:solidFill>
                <a:latin typeface="Courier" pitchFamily="49" charset="0"/>
                <a:ea typeface="맑은 고딕" pitchFamily="50" charset="-127"/>
              </a:rPr>
              <a:t>/* device ID (if special file) */</a:t>
            </a:r>
          </a:p>
          <a:p>
            <a:pPr marL="342900" indent="-342900" latinLnBrk="1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   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off_t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st_size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; </a:t>
            </a:r>
            <a:r>
              <a:rPr lang="en-US" altLang="ko-KR" sz="1400" dirty="0">
                <a:solidFill>
                  <a:srgbClr val="00B0F0"/>
                </a:solidFill>
                <a:latin typeface="Courier" pitchFamily="49" charset="0"/>
                <a:ea typeface="맑은 고딕" pitchFamily="50" charset="-127"/>
              </a:rPr>
              <a:t>/* total size, in bytes */</a:t>
            </a:r>
          </a:p>
          <a:p>
            <a:pPr marL="342900" indent="-342900" latinLnBrk="1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   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blksize_t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st_blksize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; </a:t>
            </a:r>
            <a:r>
              <a:rPr lang="en-US" altLang="ko-KR" sz="1400" dirty="0">
                <a:solidFill>
                  <a:srgbClr val="00B0F0"/>
                </a:solidFill>
                <a:latin typeface="Courier" pitchFamily="49" charset="0"/>
                <a:ea typeface="맑은 고딕" pitchFamily="50" charset="-127"/>
              </a:rPr>
              <a:t>/* </a:t>
            </a:r>
            <a:r>
              <a:rPr lang="en-US" altLang="ko-KR" sz="1400" dirty="0" err="1">
                <a:solidFill>
                  <a:srgbClr val="00B0F0"/>
                </a:solidFill>
                <a:latin typeface="Courier" pitchFamily="49" charset="0"/>
                <a:ea typeface="맑은 고딕" pitchFamily="50" charset="-127"/>
              </a:rPr>
              <a:t>blocksize</a:t>
            </a:r>
            <a:r>
              <a:rPr lang="en-US" altLang="ko-KR" sz="1400" dirty="0">
                <a:solidFill>
                  <a:srgbClr val="00B0F0"/>
                </a:solidFill>
                <a:latin typeface="Courier" pitchFamily="49" charset="0"/>
                <a:ea typeface="맑은 고딕" pitchFamily="50" charset="-127"/>
              </a:rPr>
              <a:t> for </a:t>
            </a:r>
            <a:r>
              <a:rPr lang="en-US" altLang="ko-KR" sz="1400" dirty="0" err="1">
                <a:solidFill>
                  <a:srgbClr val="00B0F0"/>
                </a:solidFill>
                <a:latin typeface="Courier" pitchFamily="49" charset="0"/>
                <a:ea typeface="맑은 고딕" pitchFamily="50" charset="-127"/>
              </a:rPr>
              <a:t>filesystem</a:t>
            </a:r>
            <a:r>
              <a:rPr lang="en-US" altLang="ko-KR" sz="1400" dirty="0">
                <a:solidFill>
                  <a:srgbClr val="00B0F0"/>
                </a:solidFill>
                <a:latin typeface="Courier" pitchFamily="49" charset="0"/>
                <a:ea typeface="맑은 고딕" pitchFamily="50" charset="-127"/>
              </a:rPr>
              <a:t> I/O */</a:t>
            </a:r>
          </a:p>
          <a:p>
            <a:pPr marL="342900" indent="-342900" latinLnBrk="1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   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blkcnt_t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st_blocks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; </a:t>
            </a:r>
            <a:r>
              <a:rPr lang="en-US" altLang="ko-KR" sz="1400" dirty="0">
                <a:solidFill>
                  <a:srgbClr val="00B0F0"/>
                </a:solidFill>
                <a:latin typeface="Courier" pitchFamily="49" charset="0"/>
                <a:ea typeface="맑은 고딕" pitchFamily="50" charset="-127"/>
              </a:rPr>
              <a:t>/* number of blocks allocated */</a:t>
            </a:r>
          </a:p>
          <a:p>
            <a:pPr marL="342900" indent="-342900" latinLnBrk="1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   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time_t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st_atime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; </a:t>
            </a:r>
            <a:r>
              <a:rPr lang="en-US" altLang="ko-KR" sz="1400" dirty="0">
                <a:solidFill>
                  <a:srgbClr val="00B0F0"/>
                </a:solidFill>
                <a:latin typeface="Courier" pitchFamily="49" charset="0"/>
                <a:ea typeface="맑은 고딕" pitchFamily="50" charset="-127"/>
              </a:rPr>
              <a:t>/* time of last access */</a:t>
            </a:r>
          </a:p>
          <a:p>
            <a:pPr marL="342900" indent="-342900" latinLnBrk="1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   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time_t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st_mtime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; </a:t>
            </a:r>
            <a:r>
              <a:rPr lang="en-US" altLang="ko-KR" sz="1400" dirty="0">
                <a:solidFill>
                  <a:srgbClr val="00B0F0"/>
                </a:solidFill>
                <a:latin typeface="Courier" pitchFamily="49" charset="0"/>
                <a:ea typeface="맑은 고딕" pitchFamily="50" charset="-127"/>
              </a:rPr>
              <a:t>/* time of last modification */</a:t>
            </a:r>
          </a:p>
          <a:p>
            <a:pPr marL="342900" indent="-342900" latinLnBrk="1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   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time_t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st_ctime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; </a:t>
            </a:r>
            <a:r>
              <a:rPr lang="en-US" altLang="ko-KR" sz="1400" dirty="0">
                <a:solidFill>
                  <a:srgbClr val="00B0F0"/>
                </a:solidFill>
                <a:latin typeface="Courier" pitchFamily="49" charset="0"/>
                <a:ea typeface="맑은 고딕" pitchFamily="50" charset="-127"/>
              </a:rPr>
              <a:t>/* time of last status change */</a:t>
            </a:r>
          </a:p>
          <a:p>
            <a:pPr marL="342900" indent="-342900" latinLnBrk="1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};</a:t>
            </a:r>
            <a:endParaRPr lang="en-US" altLang="ko-KR" sz="1400" dirty="0">
              <a:solidFill>
                <a:prstClr val="black"/>
              </a:solidFill>
              <a:latin typeface="Courier" pitchFamily="49" charset="0"/>
              <a:ea typeface="맑은 고딕" pitchFamily="50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4473245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ACD1A-2DE8-914D-D914-01A43187B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Getting Information About Files (Cont.)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2E6D3-0A18-1518-80C2-17D4407668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kern="0" dirty="0"/>
              <a:t>An example of </a:t>
            </a:r>
            <a:r>
              <a:rPr lang="en-US" altLang="ko-KR" kern="0" dirty="0">
                <a:latin typeface="Courier New" panose="02070309020205020404" pitchFamily="49" charset="0"/>
                <a:cs typeface="Courier New" panose="02070309020205020404" pitchFamily="49" charset="0"/>
              </a:rPr>
              <a:t>stat()</a:t>
            </a:r>
          </a:p>
          <a:p>
            <a:pPr lvl="1"/>
            <a:r>
              <a:rPr lang="en-US" altLang="ko-KR" kern="0" dirty="0"/>
              <a:t>All information is in a </a:t>
            </a:r>
            <a:r>
              <a:rPr lang="en-US" altLang="ko-KR" kern="0" dirty="0" err="1"/>
              <a:t>inode</a:t>
            </a:r>
            <a:endParaRPr lang="en-US" altLang="ko-KR" kern="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2079D-4AFD-4915-B129-8A10C764585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12C2170E-EB45-5F1B-3F69-62ED80A5453F}"/>
              </a:ext>
            </a:extLst>
          </p:cNvPr>
          <p:cNvSpPr txBox="1">
            <a:spLocks/>
          </p:cNvSpPr>
          <p:nvPr/>
        </p:nvSpPr>
        <p:spPr>
          <a:xfrm>
            <a:off x="1247467" y="1877598"/>
            <a:ext cx="8786812" cy="5501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>
            <a:normAutofit/>
          </a:bodyPr>
          <a:lstStyle>
            <a:lvl1pPr marL="289152" marR="0" indent="-289152" algn="l" defTabSz="412750" rtl="0" latinLnBrk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‣"/>
              <a:tabLst/>
              <a:defRPr sz="2550" b="0" i="0" u="none" strike="noStrike" cap="none" spc="0" baseline="0">
                <a:solidFill>
                  <a:srgbClr val="202020"/>
                </a:solidFill>
                <a:uFillTx/>
                <a:latin typeface="Gill Sans MT" panose="020B0502020104020203" pitchFamily="34" charset="0"/>
                <a:ea typeface="+mn-ea"/>
                <a:cs typeface="+mn-cs"/>
                <a:sym typeface="Helvetica"/>
              </a:defRPr>
            </a:lvl1pPr>
            <a:lvl2pPr marL="606652" marR="0" indent="-289152" algn="l" defTabSz="412750" rtl="0" latinLnBrk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‣"/>
              <a:tabLst/>
              <a:defRPr sz="2550" b="0" i="0" u="none" strike="noStrike" cap="none" spc="0" baseline="0">
                <a:solidFill>
                  <a:srgbClr val="202020"/>
                </a:solidFill>
                <a:uFillTx/>
                <a:latin typeface="Gill Sans MT" panose="020B0502020104020203" pitchFamily="34" charset="0"/>
                <a:ea typeface="+mn-ea"/>
                <a:cs typeface="+mn-cs"/>
                <a:sym typeface="Helvetica"/>
              </a:defRPr>
            </a:lvl2pPr>
            <a:lvl3pPr marL="924152" marR="0" indent="-289152" algn="l" defTabSz="412750" rtl="0" latinLnBrk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‣"/>
              <a:tabLst/>
              <a:defRPr sz="2550" b="0" i="0" u="none" strike="noStrike" cap="none" spc="0" baseline="0">
                <a:solidFill>
                  <a:srgbClr val="202020"/>
                </a:solidFill>
                <a:uFillTx/>
                <a:latin typeface="Gill Sans MT" panose="020B0502020104020203" pitchFamily="34" charset="0"/>
                <a:ea typeface="+mn-ea"/>
                <a:cs typeface="+mn-cs"/>
                <a:sym typeface="Helvetica"/>
              </a:defRPr>
            </a:lvl3pPr>
            <a:lvl4pPr marL="1241652" marR="0" indent="-289152" algn="l" defTabSz="412750" rtl="0" latinLnBrk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‣"/>
              <a:tabLst/>
              <a:defRPr sz="2550" b="0" i="0" u="none" strike="noStrike" cap="none" spc="0" baseline="0">
                <a:solidFill>
                  <a:srgbClr val="202020"/>
                </a:solidFill>
                <a:uFillTx/>
                <a:latin typeface="Gill Sans MT" panose="020B0502020104020203" pitchFamily="34" charset="0"/>
                <a:ea typeface="+mn-ea"/>
                <a:cs typeface="+mn-cs"/>
                <a:sym typeface="Helvetica"/>
              </a:defRPr>
            </a:lvl4pPr>
            <a:lvl5pPr marL="1559152" marR="0" indent="-289152" algn="l" defTabSz="412750" rtl="0" latinLnBrk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Tx/>
              <a:buChar char="‣"/>
              <a:tabLst/>
              <a:defRPr sz="2550" b="0" i="0" u="none" strike="noStrike" cap="none" spc="0" baseline="0">
                <a:solidFill>
                  <a:srgbClr val="202020"/>
                </a:solidFill>
                <a:uFillTx/>
                <a:latin typeface="Gill Sans MT" panose="020B0502020104020203" pitchFamily="34" charset="0"/>
                <a:ea typeface="+mn-ea"/>
                <a:cs typeface="+mn-cs"/>
                <a:sym typeface="Helvetica"/>
              </a:defRPr>
            </a:lvl5pPr>
            <a:lvl6pPr marL="1924844" marR="0" indent="-337344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550" b="0" i="0" u="none" strike="noStrike" cap="none" spc="0" baseline="0">
                <a:solidFill>
                  <a:srgbClr val="20202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6pPr>
            <a:lvl7pPr marL="2242344" marR="0" indent="-337344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550" b="0" i="0" u="none" strike="noStrike" cap="none" spc="0" baseline="0">
                <a:solidFill>
                  <a:srgbClr val="20202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7pPr>
            <a:lvl8pPr marL="2559844" marR="0" indent="-337344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550" b="0" i="0" u="none" strike="noStrike" cap="none" spc="0" baseline="0">
                <a:solidFill>
                  <a:srgbClr val="20202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8pPr>
            <a:lvl9pPr marL="2877344" marR="0" indent="-337344" algn="l" defTabSz="412750" rtl="0" latinLnBrk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2550" b="0" i="0" u="none" strike="noStrike" cap="none" spc="0" baseline="0">
                <a:solidFill>
                  <a:srgbClr val="202020"/>
                </a:solidFill>
                <a:uFillTx/>
                <a:latin typeface="+mn-lt"/>
                <a:ea typeface="+mn-ea"/>
                <a:cs typeface="+mn-cs"/>
                <a:sym typeface="Helvetica"/>
              </a:defRPr>
            </a:lvl9pPr>
          </a:lstStyle>
          <a:p>
            <a:endParaRPr lang="en-US" altLang="ko-KR" kern="0" dirty="0"/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B749B300-C71C-CC7E-5937-93B74E27F71D}"/>
              </a:ext>
            </a:extLst>
          </p:cNvPr>
          <p:cNvSpPr txBox="1"/>
          <p:nvPr/>
        </p:nvSpPr>
        <p:spPr>
          <a:xfrm>
            <a:off x="1597968" y="2712481"/>
            <a:ext cx="7776864" cy="24622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prompt&gt; echo hello &gt; file</a:t>
            </a:r>
          </a:p>
          <a:p>
            <a:pPr latinLnBrk="1"/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prompt&gt; stat file</a:t>
            </a:r>
          </a:p>
          <a:p>
            <a:pPr latinLnBrk="1"/>
            <a:endParaRPr lang="en-US" altLang="ko-KR" sz="1400" dirty="0">
              <a:solidFill>
                <a:prstClr val="black"/>
              </a:solidFill>
              <a:latin typeface="Courier" pitchFamily="49" charset="0"/>
              <a:ea typeface="맑은 고딕" pitchFamily="50" charset="-127"/>
            </a:endParaRPr>
          </a:p>
          <a:p>
            <a:pPr latinLnBrk="1"/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File: ‘file’</a:t>
            </a:r>
          </a:p>
          <a:p>
            <a:pPr latinLnBrk="1"/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Size: 6 Blocks: 8 IO Block: 4096 regular file</a:t>
            </a:r>
          </a:p>
          <a:p>
            <a:pPr latinLnBrk="1"/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Device: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811h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/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2065d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Inode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: 67158084 Links: 1</a:t>
            </a:r>
          </a:p>
          <a:p>
            <a:pPr latinLnBrk="1"/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Access: (0640/-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-r-----)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Uid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: (30686/ root)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Gid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: (30686/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remzi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)</a:t>
            </a:r>
          </a:p>
          <a:p>
            <a:pPr latinLnBrk="1"/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Access: 2011-05-03 15:50:20.157594748 -0500</a:t>
            </a:r>
          </a:p>
          <a:p>
            <a:pPr latinLnBrk="1"/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Modify: 2011-05-03 15:50:20.157594748 -0500</a:t>
            </a:r>
          </a:p>
          <a:p>
            <a:pPr latinLnBrk="1"/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Change: 2011-05-03 15:50:20.157594748 -0500</a:t>
            </a:r>
          </a:p>
          <a:p>
            <a:pPr latinLnBrk="1"/>
            <a:endParaRPr lang="en-US" altLang="ko-KR" sz="1400" dirty="0">
              <a:solidFill>
                <a:prstClr val="black"/>
              </a:solidFill>
              <a:latin typeface="Courier" pitchFamily="49" charset="0"/>
              <a:ea typeface="맑은 고딕" pitchFamily="50" charset="-127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0605614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BCDEE-0BAC-1967-30CA-CBDBC5C42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Renaming files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ADAED5-88CA-FC22-A374-7D17E42E54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rename()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altLang="ko-KR" sz="2400" dirty="0"/>
              <a:t>rename a file to different name.</a:t>
            </a:r>
          </a:p>
          <a:p>
            <a:pPr lvl="1"/>
            <a:r>
              <a:rPr lang="en-US" altLang="ko-KR" sz="2000" dirty="0"/>
              <a:t>It implemented as an atomic call.</a:t>
            </a:r>
          </a:p>
          <a:p>
            <a:pPr lvl="1"/>
            <a:r>
              <a:rPr lang="en-US" altLang="ko-KR" sz="2000" dirty="0"/>
              <a:t>Ex) change from foo to bar</a:t>
            </a:r>
          </a:p>
          <a:p>
            <a:pPr lvl="1"/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Saving a file in an editor</a:t>
            </a:r>
          </a:p>
          <a:p>
            <a:endParaRPr lang="en-US" altLang="ko-KR" sz="2400" dirty="0"/>
          </a:p>
          <a:p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60E62-06E3-639B-C37B-101FA45DABA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CF7C0118-B9D0-84F0-91EE-4D6D54D9051A}"/>
              </a:ext>
            </a:extLst>
          </p:cNvPr>
          <p:cNvSpPr txBox="1"/>
          <p:nvPr/>
        </p:nvSpPr>
        <p:spPr>
          <a:xfrm>
            <a:off x="1785858" y="2673805"/>
            <a:ext cx="7776864" cy="504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latinLnBrk="1"/>
            <a:r>
              <a:rPr lang="en-US" altLang="ko-KR" sz="1400" dirty="0" err="1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promt</a:t>
            </a:r>
            <a:r>
              <a:rPr lang="en-US" altLang="ko-KR" sz="14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 &gt; mv foo bar</a:t>
            </a: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426C3C3E-B434-D7DF-B2DD-4A23F34D7EA0}"/>
              </a:ext>
            </a:extLst>
          </p:cNvPr>
          <p:cNvSpPr txBox="1"/>
          <p:nvPr/>
        </p:nvSpPr>
        <p:spPr>
          <a:xfrm>
            <a:off x="1785858" y="4184195"/>
            <a:ext cx="7776864" cy="19015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 latinLnBrk="1">
              <a:lnSpc>
                <a:spcPct val="150000"/>
              </a:lnSpc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ko-KR" sz="1600" dirty="0" err="1">
                <a:solidFill>
                  <a:srgbClr val="00B050"/>
                </a:solidFill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altLang="ko-KR" sz="1600" dirty="0">
                <a:solidFill>
                  <a:srgbClr val="00B050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fd</a:t>
            </a:r>
            <a:r>
              <a:rPr lang="en-US" altLang="ko-KR" sz="1600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 = open("</a:t>
            </a:r>
            <a:r>
              <a:rPr lang="en-US" altLang="ko-KR" sz="1600" dirty="0" err="1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foo.txt.tmp</a:t>
            </a:r>
            <a:r>
              <a:rPr lang="en-US" altLang="ko-KR" sz="1600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", O_WRONLY|O_CREAT|O_TRUNC);</a:t>
            </a:r>
          </a:p>
          <a:p>
            <a:pPr marL="342900" indent="-342900" latinLnBrk="1">
              <a:lnSpc>
                <a:spcPct val="150000"/>
              </a:lnSpc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 write(</a:t>
            </a:r>
            <a:r>
              <a:rPr lang="en-US" altLang="ko-KR" sz="1600" dirty="0" err="1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fd</a:t>
            </a:r>
            <a:r>
              <a:rPr lang="en-US" altLang="ko-KR" sz="1600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, buffer, size); // write out new version of file</a:t>
            </a:r>
          </a:p>
          <a:p>
            <a:pPr marL="342900" indent="-342900" latinLnBrk="1">
              <a:lnSpc>
                <a:spcPct val="150000"/>
              </a:lnSpc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ko-KR" sz="1600" dirty="0" err="1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fsync</a:t>
            </a:r>
            <a:r>
              <a:rPr lang="en-US" altLang="ko-KR" sz="1600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altLang="ko-KR" sz="1600" dirty="0" err="1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fd</a:t>
            </a:r>
            <a:r>
              <a:rPr lang="en-US" altLang="ko-KR" sz="1600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);</a:t>
            </a:r>
          </a:p>
          <a:p>
            <a:pPr marL="342900" indent="-342900" latinLnBrk="1">
              <a:lnSpc>
                <a:spcPct val="150000"/>
              </a:lnSpc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 close(</a:t>
            </a:r>
            <a:r>
              <a:rPr lang="en-US" altLang="ko-KR" sz="1600" dirty="0" err="1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fd</a:t>
            </a:r>
            <a:r>
              <a:rPr lang="en-US" altLang="ko-KR" sz="1600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);</a:t>
            </a:r>
          </a:p>
          <a:p>
            <a:pPr marL="342900" indent="-342900" latinLnBrk="1">
              <a:lnSpc>
                <a:spcPct val="150000"/>
              </a:lnSpc>
              <a:buFontTx/>
              <a:buAutoNum type="arabicPlain"/>
            </a:pPr>
            <a:r>
              <a:rPr lang="en-US" altLang="ko-KR" sz="1600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 rename("</a:t>
            </a:r>
            <a:r>
              <a:rPr lang="en-US" altLang="ko-KR" sz="1600" dirty="0" err="1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foo.txt.tmp</a:t>
            </a:r>
            <a:r>
              <a:rPr lang="en-US" altLang="ko-KR" sz="1600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", "</a:t>
            </a:r>
            <a:r>
              <a:rPr lang="en-US" altLang="ko-KR" sz="1600" dirty="0" err="1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foo.txt</a:t>
            </a:r>
            <a:r>
              <a:rPr lang="en-US" altLang="ko-KR" sz="1600" dirty="0">
                <a:solidFill>
                  <a:prstClr val="black"/>
                </a:solidFill>
                <a:latin typeface="Courier New" charset="0"/>
                <a:ea typeface="Courier New" charset="0"/>
                <a:cs typeface="Courier New" charset="0"/>
              </a:rPr>
              <a:t>");</a:t>
            </a:r>
          </a:p>
        </p:txBody>
      </p:sp>
    </p:spTree>
    <p:extLst>
      <p:ext uri="{BB962C8B-B14F-4D97-AF65-F5344CB8AC3E}">
        <p14:creationId xmlns:p14="http://schemas.microsoft.com/office/powerpoint/2010/main" val="42945204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2A86C-9DA0-1D3D-8EEC-8BDBAA025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Removing Files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EFAE0-7CA2-7143-B767-51AF52A5C8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z="2800" dirty="0"/>
              <a:t>The result of </a:t>
            </a:r>
            <a:r>
              <a:rPr lang="en-US" altLang="ko-KR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strace</a:t>
            </a:r>
            <a:r>
              <a:rPr lang="en-US" altLang="ko-KR" sz="2800" dirty="0"/>
              <a:t> to figure out what </a:t>
            </a:r>
            <a:r>
              <a:rPr lang="en-US" altLang="ko-K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rm</a:t>
            </a:r>
            <a:r>
              <a:rPr lang="en-US" altLang="ko-KR" sz="2800" dirty="0"/>
              <a:t> is doing.</a:t>
            </a:r>
          </a:p>
          <a:p>
            <a:pPr lvl="1"/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rm</a:t>
            </a:r>
            <a:r>
              <a:rPr lang="en-US" altLang="ko-KR" sz="2400" dirty="0"/>
              <a:t> is Linux command to remove a file</a:t>
            </a:r>
          </a:p>
          <a:p>
            <a:pPr lvl="1"/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rm</a:t>
            </a:r>
            <a:r>
              <a:rPr lang="en-US" altLang="ko-KR" sz="2400" dirty="0"/>
              <a:t> calls </a:t>
            </a:r>
            <a:r>
              <a:rPr lang="en-US" altLang="ko-KR" sz="24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unlink()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2400" dirty="0"/>
              <a:t>to remove a file.</a:t>
            </a:r>
            <a:endParaRPr lang="en-US" altLang="ko-KR" sz="24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9DBDE-36CF-1344-F00B-8D372117E37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E043DC18-AE52-EE9E-E28E-63110496DC5C}"/>
              </a:ext>
            </a:extLst>
          </p:cNvPr>
          <p:cNvSpPr txBox="1"/>
          <p:nvPr/>
        </p:nvSpPr>
        <p:spPr>
          <a:xfrm>
            <a:off x="1360462" y="3292466"/>
            <a:ext cx="7776864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 latinLnBrk="1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prompt&gt;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strace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rm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foo</a:t>
            </a:r>
          </a:p>
          <a:p>
            <a:pPr marL="342900" indent="-342900" latinLnBrk="1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...</a:t>
            </a:r>
          </a:p>
          <a:p>
            <a:pPr marL="342900" indent="-342900" latinLnBrk="1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unlink(“foo”)</a:t>
            </a:r>
          </a:p>
          <a:p>
            <a:pPr marL="342900" indent="-342900" latinLnBrk="1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...</a:t>
            </a:r>
          </a:p>
          <a:p>
            <a:pPr marL="342900" indent="-342900" latinLnBrk="1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prompt&gt;</a:t>
            </a:r>
            <a:endParaRPr lang="en-US" altLang="ko-KR" sz="1400" dirty="0">
              <a:solidFill>
                <a:prstClr val="black"/>
              </a:solidFill>
              <a:latin typeface="Courier" pitchFamily="49" charset="0"/>
              <a:ea typeface="맑은 고딕" pitchFamily="50" charset="-127"/>
              <a:sym typeface="Wingdings" pitchFamily="2" charset="2"/>
            </a:endParaRPr>
          </a:p>
        </p:txBody>
      </p:sp>
      <p:sp>
        <p:nvSpPr>
          <p:cNvPr id="6" name="직사각형 7">
            <a:extLst>
              <a:ext uri="{FF2B5EF4-FFF2-40B4-BE49-F238E27FC236}">
                <a16:creationId xmlns:a16="http://schemas.microsoft.com/office/drawing/2014/main" id="{FBA73F74-5E14-6E75-0620-C4047E465913}"/>
              </a:ext>
            </a:extLst>
          </p:cNvPr>
          <p:cNvSpPr/>
          <p:nvPr/>
        </p:nvSpPr>
        <p:spPr>
          <a:xfrm>
            <a:off x="1595732" y="3744351"/>
            <a:ext cx="2031092" cy="297879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latinLnBrk="1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67427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BCECC-DF52-A463-1F21-A31C1B04E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Making Directories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B660D-CE4E-A64B-2DD1-3AA53ABFA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mkdir</a:t>
            </a:r>
            <a:r>
              <a:rPr lang="en-US" altLang="ko-KR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dirty="0"/>
              <a:t>: Make a directory</a:t>
            </a:r>
          </a:p>
          <a:p>
            <a:pPr lvl="1"/>
            <a:r>
              <a:rPr lang="en-US" altLang="ko-KR" sz="2000" dirty="0"/>
              <a:t>When a directory is created, it is </a:t>
            </a:r>
            <a:r>
              <a:rPr lang="en-US" altLang="ko-KR" sz="2000" dirty="0">
                <a:solidFill>
                  <a:schemeClr val="accent1"/>
                </a:solidFill>
              </a:rPr>
              <a:t>empty</a:t>
            </a:r>
            <a:r>
              <a:rPr lang="en-US" altLang="ko-KR" sz="2000" dirty="0"/>
              <a:t>.</a:t>
            </a:r>
          </a:p>
          <a:p>
            <a:pPr lvl="1"/>
            <a:r>
              <a:rPr lang="en-US" altLang="ko-KR" sz="2000" dirty="0"/>
              <a:t>Empty directory have two entries: </a:t>
            </a:r>
            <a:r>
              <a:rPr lang="en-US" altLang="ko-KR" sz="2000" dirty="0">
                <a:solidFill>
                  <a:schemeClr val="accent6"/>
                </a:solidFill>
              </a:rPr>
              <a:t>. </a:t>
            </a:r>
            <a:r>
              <a:rPr lang="en-US" altLang="ko-KR" sz="2000" dirty="0"/>
              <a:t>(itself), </a:t>
            </a:r>
            <a:r>
              <a:rPr lang="en-US" altLang="ko-KR" sz="2000" dirty="0">
                <a:solidFill>
                  <a:schemeClr val="accent6"/>
                </a:solidFill>
              </a:rPr>
              <a:t>..</a:t>
            </a:r>
            <a:r>
              <a:rPr lang="en-US" altLang="ko-KR" sz="2000" dirty="0"/>
              <a:t>(parent)</a:t>
            </a:r>
            <a:br>
              <a:rPr lang="en-US" altLang="ko-KR" dirty="0"/>
            </a:br>
            <a:endParaRPr lang="en-US" altLang="ko-KR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21FD0-20A7-5760-FA8E-5AE88C415D1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A44817D5-DDF9-2335-401A-6DEE130BD7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917" y="2995440"/>
            <a:ext cx="5699107" cy="1338188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E757BB3B-0A9A-C2D5-833F-CD09846F0BBB}"/>
              </a:ext>
            </a:extLst>
          </p:cNvPr>
          <p:cNvSpPr txBox="1"/>
          <p:nvPr/>
        </p:nvSpPr>
        <p:spPr>
          <a:xfrm>
            <a:off x="1598724" y="4796398"/>
            <a:ext cx="7776864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 latinLnBrk="1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prompt&gt;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ls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 -al</a:t>
            </a:r>
          </a:p>
          <a:p>
            <a:pPr marL="342900" indent="-342900" latinLnBrk="1"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total 8</a:t>
            </a:r>
          </a:p>
          <a:p>
            <a:pPr marL="342900" indent="-342900" latinLnBrk="1">
              <a:buFontTx/>
              <a:buAutoNum type="arabicPlain"/>
            </a:pP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drwxr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-x--- 2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roo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 root 6 Apr 30 16:17 ./</a:t>
            </a:r>
          </a:p>
          <a:p>
            <a:pPr marL="342900" indent="-342900" latinLnBrk="1">
              <a:buFontTx/>
              <a:buAutoNum type="arabicPlain"/>
            </a:pP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drwxr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-x--- 26 root root 4096 Apr 30 16:17 ../</a:t>
            </a:r>
            <a:endParaRPr lang="en-US" altLang="ko-KR" sz="1400" dirty="0">
              <a:solidFill>
                <a:prstClr val="black"/>
              </a:solidFill>
              <a:latin typeface="Courier New" panose="02070309020205020404" pitchFamily="49" charset="0"/>
              <a:ea typeface="맑은 고딕" pitchFamily="50" charset="-127"/>
              <a:cs typeface="Courier New" panose="02070309020205020404" pitchFamily="49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520060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6BD81-7C25-7E0F-92B8-8910C5AF6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Reading Directories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67B63-360E-0700-8AB9-780AD02798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>
                <a:latin typeface="Courier New" charset="0"/>
                <a:ea typeface="Courier New" charset="0"/>
                <a:cs typeface="Courier New" charset="0"/>
              </a:rPr>
              <a:t>readdir</a:t>
            </a:r>
            <a:r>
              <a:rPr lang="en-US" altLang="ko-KR" sz="2400" dirty="0">
                <a:latin typeface="Courier New" charset="0"/>
                <a:ea typeface="Courier New" charset="0"/>
                <a:cs typeface="Courier New" charset="0"/>
              </a:rPr>
              <a:t>()</a:t>
            </a:r>
          </a:p>
          <a:p>
            <a:pPr lvl="1"/>
            <a:r>
              <a:rPr lang="en-US" altLang="ko-KR" sz="2000" dirty="0"/>
              <a:t>Directory is a file, but with a specific structure.</a:t>
            </a:r>
          </a:p>
          <a:p>
            <a:pPr lvl="1"/>
            <a:r>
              <a:rPr lang="en-US" altLang="ko-KR" sz="2000" dirty="0"/>
              <a:t>When reading a directory, we use specific system call other than read().</a:t>
            </a:r>
          </a:p>
          <a:p>
            <a:pPr lvl="1"/>
            <a:r>
              <a:rPr lang="en-US" altLang="ko-KR" sz="2000" dirty="0"/>
              <a:t>A sample code to read directory entries.</a:t>
            </a:r>
          </a:p>
          <a:p>
            <a:endParaRPr lang="en-US" altLang="ko-KR" sz="2000" dirty="0"/>
          </a:p>
          <a:p>
            <a:endParaRPr lang="en-US" altLang="ko-KR" sz="2000" dirty="0"/>
          </a:p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9C411-261E-5CAB-3E2C-F42033922F8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B18B5FA2-A339-288E-C7CD-EFFC6C7C4AEB}"/>
              </a:ext>
            </a:extLst>
          </p:cNvPr>
          <p:cNvSpPr txBox="1"/>
          <p:nvPr/>
        </p:nvSpPr>
        <p:spPr>
          <a:xfrm>
            <a:off x="1884590" y="3042185"/>
            <a:ext cx="7776864" cy="32970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 latinLnBrk="1">
              <a:lnSpc>
                <a:spcPct val="150000"/>
              </a:lnSpc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int 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main(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argc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, char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argv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[]) {</a:t>
            </a:r>
          </a:p>
          <a:p>
            <a:pPr marL="342900" indent="-342900" latinLnBrk="1">
              <a:lnSpc>
                <a:spcPct val="150000"/>
              </a:lnSpc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DIR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 *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dp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 = </a:t>
            </a:r>
            <a:r>
              <a:rPr lang="en-US" altLang="ko-KR" sz="1400" dirty="0" err="1">
                <a:solidFill>
                  <a:srgbClr val="F79646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opendir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(".");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/* open current directory */</a:t>
            </a:r>
          </a:p>
          <a:p>
            <a:pPr marL="342900" indent="-342900" latinLnBrk="1">
              <a:lnSpc>
                <a:spcPct val="150000"/>
              </a:lnSpc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  assert(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dp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 != NULL);</a:t>
            </a:r>
          </a:p>
          <a:p>
            <a:pPr marL="342900" indent="-342900" latinLnBrk="1">
              <a:lnSpc>
                <a:spcPct val="150000"/>
              </a:lnSpc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  struct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dirent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 *d;</a:t>
            </a:r>
          </a:p>
          <a:p>
            <a:pPr marL="342900" indent="-342900" latinLnBrk="1">
              <a:lnSpc>
                <a:spcPct val="150000"/>
              </a:lnSpc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  while ((d = </a:t>
            </a:r>
            <a:r>
              <a:rPr lang="en-US" altLang="ko-KR" sz="1400" dirty="0" err="1">
                <a:solidFill>
                  <a:srgbClr val="F79646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readdir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dp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)) != NULL) {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/* read one directory entry */</a:t>
            </a:r>
          </a:p>
          <a:p>
            <a:pPr marL="342900" indent="-342900" latinLnBrk="1">
              <a:lnSpc>
                <a:spcPct val="150000"/>
              </a:lnSpc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   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printf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("%d %s\n", 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int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) d-&gt;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d_ino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, d-&gt;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d_name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);</a:t>
            </a:r>
          </a:p>
          <a:p>
            <a:pPr marL="342900" indent="-342900" latinLnBrk="1">
              <a:lnSpc>
                <a:spcPct val="150000"/>
              </a:lnSpc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  }</a:t>
            </a:r>
          </a:p>
          <a:p>
            <a:pPr marL="342900" indent="-342900" latinLnBrk="1">
              <a:lnSpc>
                <a:spcPct val="150000"/>
              </a:lnSpc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  </a:t>
            </a:r>
            <a:r>
              <a:rPr lang="en-US" altLang="ko-KR" sz="1400" dirty="0" err="1">
                <a:solidFill>
                  <a:srgbClr val="F79646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closedir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dp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); </a:t>
            </a:r>
            <a:r>
              <a:rPr lang="en-US" altLang="ko-KR" sz="1400" dirty="0">
                <a:solidFill>
                  <a:srgbClr val="00B0F0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/*close current directory */</a:t>
            </a:r>
          </a:p>
          <a:p>
            <a:pPr marL="342900" indent="-342900" latinLnBrk="1">
              <a:lnSpc>
                <a:spcPct val="150000"/>
              </a:lnSpc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  </a:t>
            </a:r>
            <a:r>
              <a:rPr lang="en-US" altLang="ko-KR" sz="1400" dirty="0">
                <a:solidFill>
                  <a:srgbClr val="00B050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return</a:t>
            </a: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 0;</a:t>
            </a:r>
          </a:p>
          <a:p>
            <a:pPr marL="342900" indent="-342900" latinLnBrk="1">
              <a:lnSpc>
                <a:spcPct val="150000"/>
              </a:lnSpc>
              <a:buFontTx/>
              <a:buAutoNum type="arabicPlain"/>
            </a:pPr>
            <a:r>
              <a:rPr lang="en-US" altLang="ko-KR" sz="1400" dirty="0">
                <a:solidFill>
                  <a:prstClr val="black"/>
                </a:solidFill>
                <a:latin typeface="Courier New" panose="02070309020205020404" pitchFamily="49" charset="0"/>
                <a:ea typeface="굴림"/>
                <a:cs typeface="Courier New" panose="02070309020205020404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366515661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6BD81-7C25-7E0F-92B8-8910C5AF6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Reading Directories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67B63-360E-0700-8AB9-780AD02798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Structure of the directory entry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9C411-261E-5CAB-3E2C-F42033922F8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B18B5FA2-A339-288E-C7CD-EFFC6C7C4AEB}"/>
              </a:ext>
            </a:extLst>
          </p:cNvPr>
          <p:cNvSpPr txBox="1"/>
          <p:nvPr/>
        </p:nvSpPr>
        <p:spPr>
          <a:xfrm>
            <a:off x="1896165" y="2683370"/>
            <a:ext cx="7776864" cy="19697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indent="-57150"/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struct direct {</a:t>
            </a:r>
          </a:p>
          <a:p>
            <a:pPr marL="342900" lvl="1"/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char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d_name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[256]; /* filename */</a:t>
            </a:r>
          </a:p>
          <a:p>
            <a:pPr marL="342900" lvl="1"/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ino_t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d_ino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; /*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inode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number */</a:t>
            </a:r>
          </a:p>
          <a:p>
            <a:pPr marL="342900" lvl="1"/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off_t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d_off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; /* offset to the next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dirent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*/</a:t>
            </a:r>
          </a:p>
          <a:p>
            <a:pPr marL="342900" lvl="1"/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unsigned short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d_reclen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; /* length of this record */</a:t>
            </a:r>
          </a:p>
          <a:p>
            <a:pPr marL="342900" lvl="1"/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unsigned char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d_type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; /* type of file */</a:t>
            </a:r>
          </a:p>
          <a:p>
            <a:pPr indent="-57150"/>
            <a:r>
              <a:rPr lang="en-US" sz="1600" dirty="0">
                <a:latin typeface="Courier New" charset="0"/>
                <a:ea typeface="Courier New" charset="0"/>
                <a:cs typeface="Courier New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65987440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F834D-46A5-14EC-E5C3-697BCDAE9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Deleting Directories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AF3D2F-BA25-DA83-BC26-91A1B6D572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rmdir</a:t>
            </a:r>
            <a:r>
              <a:rPr lang="en-US" altLang="ko-KR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dirty="0"/>
              <a:t>: Delete a directory. </a:t>
            </a:r>
          </a:p>
          <a:p>
            <a:pPr lvl="1"/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rmdir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dirty="0">
                <a:solidFill>
                  <a:schemeClr val="accent1"/>
                </a:solidFill>
              </a:rPr>
              <a:t>requires directory be empty</a:t>
            </a:r>
            <a:r>
              <a:rPr lang="en-US" altLang="ko-KR" dirty="0"/>
              <a:t> before it deleted.</a:t>
            </a:r>
          </a:p>
          <a:p>
            <a:pPr lvl="1"/>
            <a:r>
              <a:rPr lang="en-US" altLang="ko-KR" dirty="0"/>
              <a:t>If you call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rmdir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ko-KR" dirty="0"/>
              <a:t>to a non-empty directory, it will fail.</a:t>
            </a:r>
          </a:p>
          <a:p>
            <a:endParaRPr lang="en-US" altLang="ko-KR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AFF22-641F-588F-E6B0-71A3FF2869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09399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F895D-B8B4-8B2A-2CC1-07990A198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Hard Links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0ADD5-D34F-C48D-7647-EE575A205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link()</a:t>
            </a:r>
            <a:r>
              <a:rPr lang="en-US" altLang="ko-KR" dirty="0"/>
              <a:t>: Link old file and a new file.</a:t>
            </a:r>
          </a:p>
          <a:p>
            <a:pPr lvl="1"/>
            <a:r>
              <a:rPr lang="en-US" altLang="ko-KR" dirty="0"/>
              <a:t>Create hard link named file2.</a:t>
            </a:r>
          </a:p>
          <a:p>
            <a:pPr lvl="1"/>
            <a:endParaRPr lang="en-US" altLang="ko-KR" dirty="0"/>
          </a:p>
          <a:p>
            <a:pPr marL="635000" lvl="2" indent="0">
              <a:buNone/>
            </a:pPr>
            <a:endParaRPr lang="en-US" altLang="ko-KR" dirty="0"/>
          </a:p>
          <a:p>
            <a:pPr marL="635000" lvl="2" indent="0">
              <a:buNone/>
            </a:pPr>
            <a:r>
              <a:rPr lang="en-US" altLang="ko-KR" dirty="0"/>
              <a:t>	</a:t>
            </a:r>
          </a:p>
          <a:p>
            <a:r>
              <a:rPr lang="en-US" altLang="ko-KR" dirty="0"/>
              <a:t>The result of </a:t>
            </a:r>
            <a:r>
              <a:rPr lang="en-US" altLang="ko-KR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link()</a:t>
            </a:r>
          </a:p>
          <a:p>
            <a:pPr lvl="1"/>
            <a:r>
              <a:rPr lang="en-US" altLang="ko-KR" dirty="0"/>
              <a:t>Two files have same </a:t>
            </a:r>
            <a:r>
              <a:rPr lang="en-US" altLang="ko-KR" dirty="0" err="1"/>
              <a:t>inode</a:t>
            </a:r>
            <a:r>
              <a:rPr lang="en-US" altLang="ko-KR" dirty="0"/>
              <a:t> number, but two human name(file, file2)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1C14A-DA47-CB4A-B3C4-DC544F06A4D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B5817E-49E0-AC97-A127-51592CC35D7D}"/>
              </a:ext>
            </a:extLst>
          </p:cNvPr>
          <p:cNvSpPr txBox="1"/>
          <p:nvPr/>
        </p:nvSpPr>
        <p:spPr>
          <a:xfrm>
            <a:off x="2207568" y="2257625"/>
            <a:ext cx="7776864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prompt&gt; echo hello &gt; file</a:t>
            </a:r>
          </a:p>
          <a:p>
            <a:pPr latinLnBrk="1"/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prompt&gt; cat file</a:t>
            </a:r>
          </a:p>
          <a:p>
            <a:pPr latinLnBrk="1"/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hello</a:t>
            </a:r>
          </a:p>
          <a:p>
            <a:pPr latinLnBrk="1"/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prompt&gt; ln file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file2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/* create a hard link, link file to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file2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*/</a:t>
            </a:r>
          </a:p>
          <a:p>
            <a:pPr latinLnBrk="1"/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prompt&gt; cat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file2</a:t>
            </a:r>
            <a:endParaRPr lang="en-US" altLang="ko-KR" sz="1400" dirty="0">
              <a:solidFill>
                <a:prstClr val="black"/>
              </a:solidFill>
              <a:latin typeface="Courier" pitchFamily="49" charset="0"/>
              <a:ea typeface="맑은 고딕" pitchFamily="50" charset="-127"/>
            </a:endParaRPr>
          </a:p>
          <a:p>
            <a:pPr latinLnBrk="1"/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hello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97E673-3373-F805-01F8-444C6749218C}"/>
              </a:ext>
            </a:extLst>
          </p:cNvPr>
          <p:cNvSpPr txBox="1"/>
          <p:nvPr/>
        </p:nvSpPr>
        <p:spPr>
          <a:xfrm>
            <a:off x="2207568" y="4967002"/>
            <a:ext cx="7776864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spAutoFit/>
          </a:bodyPr>
          <a:lstStyle/>
          <a:p>
            <a:pPr latinLnBrk="1"/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prompt&gt;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ls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-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file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file2</a:t>
            </a:r>
            <a:endParaRPr lang="en-US" altLang="ko-KR" sz="1400" dirty="0">
              <a:solidFill>
                <a:prstClr val="black"/>
              </a:solidFill>
              <a:latin typeface="Courier" pitchFamily="49" charset="0"/>
              <a:ea typeface="맑은 고딕" pitchFamily="50" charset="-127"/>
            </a:endParaRPr>
          </a:p>
          <a:p>
            <a:pPr latinLnBrk="1"/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67158084 file  </a:t>
            </a:r>
            <a:r>
              <a:rPr lang="en-US" altLang="ko-KR" sz="1400" dirty="0">
                <a:solidFill>
                  <a:srgbClr val="00B0F0"/>
                </a:solidFill>
                <a:latin typeface="Courier" pitchFamily="49" charset="0"/>
                <a:ea typeface="맑은 고딕" pitchFamily="50" charset="-127"/>
              </a:rPr>
              <a:t>/* </a:t>
            </a:r>
            <a:r>
              <a:rPr lang="en-US" altLang="ko-KR" sz="1400" dirty="0" err="1">
                <a:solidFill>
                  <a:srgbClr val="00B0F0"/>
                </a:solidFill>
                <a:latin typeface="Courier" pitchFamily="49" charset="0"/>
                <a:ea typeface="맑은 고딕" pitchFamily="50" charset="-127"/>
              </a:rPr>
              <a:t>inode</a:t>
            </a:r>
            <a:r>
              <a:rPr lang="en-US" altLang="ko-KR" sz="1400" dirty="0">
                <a:solidFill>
                  <a:srgbClr val="00B0F0"/>
                </a:solidFill>
                <a:latin typeface="Courier" pitchFamily="49" charset="0"/>
                <a:ea typeface="맑은 고딕" pitchFamily="50" charset="-127"/>
              </a:rPr>
              <a:t> value is 67158084 */</a:t>
            </a:r>
          </a:p>
          <a:p>
            <a:pPr latinLnBrk="1"/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67158084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file2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>
                <a:solidFill>
                  <a:srgbClr val="00B0F0"/>
                </a:solidFill>
                <a:latin typeface="Courier" pitchFamily="49" charset="0"/>
                <a:ea typeface="맑은 고딕" pitchFamily="50" charset="-127"/>
              </a:rPr>
              <a:t>/* </a:t>
            </a:r>
            <a:r>
              <a:rPr lang="en-US" altLang="ko-KR" sz="1400" dirty="0" err="1">
                <a:solidFill>
                  <a:srgbClr val="00B0F0"/>
                </a:solidFill>
                <a:latin typeface="Courier" pitchFamily="49" charset="0"/>
                <a:ea typeface="맑은 고딕" pitchFamily="50" charset="-127"/>
              </a:rPr>
              <a:t>inode</a:t>
            </a:r>
            <a:r>
              <a:rPr lang="en-US" altLang="ko-KR" sz="1400" dirty="0">
                <a:solidFill>
                  <a:srgbClr val="00B0F0"/>
                </a:solidFill>
                <a:latin typeface="Courier" pitchFamily="49" charset="0"/>
                <a:ea typeface="맑은 고딕" pitchFamily="50" charset="-127"/>
              </a:rPr>
              <a:t> value is 67158084 */</a:t>
            </a:r>
          </a:p>
          <a:p>
            <a:pPr latinLnBrk="1"/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prompt&gt;</a:t>
            </a:r>
          </a:p>
        </p:txBody>
      </p:sp>
    </p:spTree>
    <p:extLst>
      <p:ext uri="{BB962C8B-B14F-4D97-AF65-F5344CB8AC3E}">
        <p14:creationId xmlns:p14="http://schemas.microsoft.com/office/powerpoint/2010/main" val="2833211389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90B41-C1C4-3A1B-A892-F85BDBC44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Hard Links (Cont.)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94ED5-BA0D-7FDC-77AC-A05D035D5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2400" dirty="0"/>
              <a:t>How to create hard link file?</a:t>
            </a:r>
          </a:p>
          <a:p>
            <a:pPr lvl="1"/>
            <a:r>
              <a:rPr lang="en-US" altLang="ko-KR" sz="2000" b="1" dirty="0"/>
              <a:t>Step1.</a:t>
            </a:r>
            <a:r>
              <a:rPr lang="en-US" altLang="ko-KR" sz="2000" dirty="0"/>
              <a:t> Make an </a:t>
            </a:r>
            <a:r>
              <a:rPr lang="en-US" altLang="ko-KR" sz="2000" dirty="0" err="1">
                <a:solidFill>
                  <a:schemeClr val="accent6"/>
                </a:solidFill>
              </a:rPr>
              <a:t>inode</a:t>
            </a:r>
            <a:r>
              <a:rPr lang="en-US" altLang="ko-KR" sz="2000" dirty="0"/>
              <a:t>, track all information about the file.</a:t>
            </a:r>
          </a:p>
          <a:p>
            <a:pPr lvl="1"/>
            <a:r>
              <a:rPr lang="en-US" altLang="ko-KR" sz="2000" b="1" dirty="0"/>
              <a:t>Step2.</a:t>
            </a:r>
            <a:r>
              <a:rPr lang="en-US" altLang="ko-KR" sz="2000" dirty="0"/>
              <a:t> </a:t>
            </a:r>
            <a:r>
              <a:rPr lang="en-US" altLang="ko-KR" sz="2000" dirty="0">
                <a:solidFill>
                  <a:schemeClr val="accent1"/>
                </a:solidFill>
              </a:rPr>
              <a:t>Link</a:t>
            </a:r>
            <a:r>
              <a:rPr lang="en-US" altLang="ko-KR" sz="2000" dirty="0"/>
              <a:t> a human-readable name to file. </a:t>
            </a:r>
          </a:p>
          <a:p>
            <a:pPr lvl="1"/>
            <a:r>
              <a:rPr lang="en-US" altLang="ko-KR" sz="2000" b="1" dirty="0"/>
              <a:t>Step3.</a:t>
            </a:r>
            <a:r>
              <a:rPr lang="en-US" altLang="ko-KR" sz="2000" dirty="0"/>
              <a:t> Put link file into a current directory.</a:t>
            </a:r>
          </a:p>
          <a:p>
            <a:pPr lvl="1"/>
            <a:endParaRPr lang="en-US" altLang="ko-KR" sz="2000" dirty="0"/>
          </a:p>
          <a:p>
            <a:r>
              <a:rPr lang="en-US" altLang="ko-KR" sz="2400" dirty="0"/>
              <a:t>After creating a hard link to file, old and new files have no difference.</a:t>
            </a:r>
          </a:p>
          <a:p>
            <a:endParaRPr lang="en-US" altLang="ko-KR" sz="2400" dirty="0"/>
          </a:p>
          <a:p>
            <a:r>
              <a:rPr lang="en-US" altLang="ko-KR" sz="2400" dirty="0"/>
              <a:t>Thus, to remove a file, we call </a:t>
            </a:r>
            <a:r>
              <a:rPr lang="en-US" altLang="ko-KR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unlink()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34E65-24E7-8316-5F13-18D29AF3BDF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53801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097E7-7019-EC99-DC22-D1C35D2B1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unlink Hard Links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02006-71D6-C6E8-534C-A51EBB888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What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unlink()</a:t>
            </a:r>
            <a:r>
              <a:rPr lang="en-US" altLang="ko-KR" dirty="0"/>
              <a:t> is doing ?</a:t>
            </a:r>
          </a:p>
          <a:p>
            <a:pPr lvl="1"/>
            <a:r>
              <a:rPr lang="en-US" altLang="ko-KR" dirty="0">
                <a:solidFill>
                  <a:schemeClr val="accent1"/>
                </a:solidFill>
                <a:cs typeface="Courier New" panose="02070309020205020404" pitchFamily="49" charset="0"/>
              </a:rPr>
              <a:t>Check reference count</a:t>
            </a:r>
            <a:r>
              <a:rPr lang="en-US" altLang="ko-KR" dirty="0">
                <a:cs typeface="Courier New" panose="02070309020205020404" pitchFamily="49" charset="0"/>
              </a:rPr>
              <a:t> within the </a:t>
            </a:r>
            <a:r>
              <a:rPr lang="en-US" altLang="ko-KR" dirty="0" err="1">
                <a:cs typeface="Courier New" panose="02070309020205020404" pitchFamily="49" charset="0"/>
              </a:rPr>
              <a:t>inode</a:t>
            </a:r>
            <a:r>
              <a:rPr lang="en-US" altLang="ko-KR" dirty="0">
                <a:cs typeface="Courier New" panose="02070309020205020404" pitchFamily="49" charset="0"/>
              </a:rPr>
              <a:t> number. </a:t>
            </a:r>
          </a:p>
          <a:p>
            <a:pPr lvl="1"/>
            <a:r>
              <a:rPr lang="en-US" altLang="ko-KR" dirty="0">
                <a:solidFill>
                  <a:schemeClr val="accent1"/>
                </a:solidFill>
                <a:cs typeface="Courier New" panose="02070309020205020404" pitchFamily="49" charset="0"/>
              </a:rPr>
              <a:t>Remove</a:t>
            </a:r>
            <a:r>
              <a:rPr lang="en-US" altLang="ko-KR" dirty="0">
                <a:cs typeface="Courier New" panose="02070309020205020404" pitchFamily="49" charset="0"/>
              </a:rPr>
              <a:t> </a:t>
            </a:r>
            <a:r>
              <a:rPr lang="en-US" altLang="ko-KR" dirty="0">
                <a:solidFill>
                  <a:schemeClr val="accent1"/>
                </a:solidFill>
                <a:cs typeface="Courier New" panose="02070309020205020404" pitchFamily="49" charset="0"/>
              </a:rPr>
              <a:t>link</a:t>
            </a:r>
            <a:r>
              <a:rPr lang="en-US" altLang="ko-KR" dirty="0">
                <a:cs typeface="Courier New" panose="02070309020205020404" pitchFamily="49" charset="0"/>
              </a:rPr>
              <a:t> between human-readable name and </a:t>
            </a:r>
            <a:r>
              <a:rPr lang="en-US" altLang="ko-KR" dirty="0" err="1">
                <a:cs typeface="Courier New" panose="02070309020205020404" pitchFamily="49" charset="0"/>
              </a:rPr>
              <a:t>inode</a:t>
            </a:r>
            <a:r>
              <a:rPr lang="en-US" altLang="ko-KR" dirty="0">
                <a:cs typeface="Courier New" panose="02070309020205020404" pitchFamily="49" charset="0"/>
              </a:rPr>
              <a:t> number.</a:t>
            </a:r>
          </a:p>
          <a:p>
            <a:pPr lvl="1"/>
            <a:r>
              <a:rPr lang="en-US" altLang="ko-KR" dirty="0">
                <a:solidFill>
                  <a:schemeClr val="accent1"/>
                </a:solidFill>
                <a:cs typeface="Courier New" panose="02070309020205020404" pitchFamily="49" charset="0"/>
              </a:rPr>
              <a:t>Decrease reference count</a:t>
            </a:r>
            <a:r>
              <a:rPr lang="en-US" altLang="ko-KR" dirty="0">
                <a:cs typeface="Courier New" panose="02070309020205020404" pitchFamily="49" charset="0"/>
              </a:rPr>
              <a:t>.</a:t>
            </a:r>
          </a:p>
          <a:p>
            <a:pPr lvl="2"/>
            <a:r>
              <a:rPr lang="en-US" altLang="ko-KR" dirty="0">
                <a:cs typeface="Courier New" panose="02070309020205020404" pitchFamily="49" charset="0"/>
              </a:rPr>
              <a:t>When only it reaches zero, It delete a file (free the </a:t>
            </a:r>
            <a:r>
              <a:rPr lang="en-US" altLang="ko-KR" dirty="0" err="1">
                <a:cs typeface="Courier New" panose="02070309020205020404" pitchFamily="49" charset="0"/>
              </a:rPr>
              <a:t>inode</a:t>
            </a:r>
            <a:r>
              <a:rPr lang="en-US" altLang="ko-KR" dirty="0">
                <a:cs typeface="Courier New" panose="02070309020205020404" pitchFamily="49" charset="0"/>
              </a:rPr>
              <a:t> and related blocks)</a:t>
            </a:r>
          </a:p>
          <a:p>
            <a:pPr lvl="1"/>
            <a:endParaRPr lang="en-US" altLang="ko-KR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C0729-626B-90D7-D154-1CE9ACAF39C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444291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ACDFA-BCD1-13EA-4081-04A3F9D0A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Symbolic Links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85638-83F3-7AE4-6F5B-ACCD74122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>
                <a:solidFill>
                  <a:schemeClr val="accent6"/>
                </a:solidFill>
              </a:rPr>
              <a:t>Symbolic link</a:t>
            </a:r>
            <a:endParaRPr lang="en-US" altLang="ko-KR" sz="2400" dirty="0"/>
          </a:p>
          <a:p>
            <a:pPr lvl="1"/>
            <a:r>
              <a:rPr lang="en-US" altLang="ko-KR" sz="2000" dirty="0"/>
              <a:t>Special file that contains path to the source directory.</a:t>
            </a:r>
          </a:p>
          <a:p>
            <a:pPr lvl="1"/>
            <a:r>
              <a:rPr lang="en-US" altLang="ko-KR" sz="2000" dirty="0"/>
              <a:t>Hard Link cannot create to a directory. </a:t>
            </a:r>
          </a:p>
          <a:p>
            <a:pPr lvl="1"/>
            <a:r>
              <a:rPr lang="en-US" altLang="ko-KR" sz="2000" dirty="0"/>
              <a:t>Hard Link cannot create to a file to other partition.</a:t>
            </a:r>
          </a:p>
          <a:p>
            <a:endParaRPr lang="en-US" altLang="ko-KR" sz="2400" dirty="0"/>
          </a:p>
          <a:p>
            <a:r>
              <a:rPr lang="en-US" altLang="ko-KR" sz="2400" dirty="0"/>
              <a:t>An example of symbolic link</a:t>
            </a:r>
          </a:p>
          <a:p>
            <a:pPr lvl="1"/>
            <a:endParaRPr lang="en-US" altLang="ko-KR" sz="2000" dirty="0"/>
          </a:p>
          <a:p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5A1D1-7FC1-266A-D13B-694089B42F1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0D2E1E-485F-62A0-9B72-DF86519D6666}"/>
              </a:ext>
            </a:extLst>
          </p:cNvPr>
          <p:cNvSpPr txBox="1"/>
          <p:nvPr/>
        </p:nvSpPr>
        <p:spPr>
          <a:xfrm>
            <a:off x="1683596" y="4613452"/>
            <a:ext cx="7776864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prompt&gt; echo hello &gt; file</a:t>
            </a:r>
          </a:p>
          <a:p>
            <a:pPr latinLnBrk="1"/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prompt&gt; ln –s file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file2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 </a:t>
            </a:r>
            <a:r>
              <a:rPr lang="en-US" altLang="ko-KR" sz="1400" dirty="0">
                <a:solidFill>
                  <a:srgbClr val="00B0F0"/>
                </a:solidFill>
                <a:latin typeface="Courier" pitchFamily="49" charset="0"/>
                <a:ea typeface="맑은 고딕" pitchFamily="50" charset="-127"/>
              </a:rPr>
              <a:t>/* option –s : create a symbolic link, */</a:t>
            </a:r>
          </a:p>
          <a:p>
            <a:pPr latinLnBrk="1"/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prompt&gt; cat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file2</a:t>
            </a:r>
            <a:endParaRPr lang="en-US" altLang="ko-KR" sz="1400" dirty="0">
              <a:solidFill>
                <a:prstClr val="black"/>
              </a:solidFill>
              <a:latin typeface="Courier" pitchFamily="49" charset="0"/>
              <a:ea typeface="맑은 고딕" pitchFamily="50" charset="-127"/>
            </a:endParaRPr>
          </a:p>
          <a:p>
            <a:pPr latinLnBrk="1"/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hello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BCBE41-5231-DA26-A70F-AF2B95B582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0031" y="1443953"/>
            <a:ext cx="4489985" cy="290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74864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E3A4D-A80D-69F1-4194-71353D699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Symbolic Links (Cont.)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BB5EA-C7F3-58FF-BE6A-6A643B774A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Symbolic link is different file type.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Symbolic link is subject to the dangling reference. </a:t>
            </a:r>
          </a:p>
          <a:p>
            <a:pPr lvl="1"/>
            <a:endParaRPr lang="en-US" altLang="ko-KR" sz="2000" dirty="0"/>
          </a:p>
          <a:p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86CDA-AC03-6DE9-EF44-5FCFFAB5A98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2DFBAB-30F0-1EA3-B95A-2E405DE553E6}"/>
              </a:ext>
            </a:extLst>
          </p:cNvPr>
          <p:cNvSpPr txBox="1"/>
          <p:nvPr/>
        </p:nvSpPr>
        <p:spPr>
          <a:xfrm>
            <a:off x="1977137" y="1701505"/>
            <a:ext cx="7920880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prompt&gt;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ls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-al</a:t>
            </a:r>
          </a:p>
          <a:p>
            <a:pPr latinLnBrk="1"/>
            <a:r>
              <a:rPr lang="en-US" altLang="ko-KR" sz="1400" dirty="0" err="1">
                <a:solidFill>
                  <a:srgbClr val="F79646"/>
                </a:solidFill>
                <a:latin typeface="Courier" pitchFamily="49" charset="0"/>
                <a:ea typeface="맑은 고딕" pitchFamily="50" charset="-127"/>
              </a:rPr>
              <a:t>d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rwxr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-x--- 2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remzi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remzi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29 May 3 19:10 ./</a:t>
            </a:r>
          </a:p>
          <a:p>
            <a:pPr latinLnBrk="1"/>
            <a:r>
              <a:rPr lang="en-US" altLang="ko-KR" sz="1400" dirty="0" err="1">
                <a:solidFill>
                  <a:srgbClr val="F79646"/>
                </a:solidFill>
                <a:latin typeface="Courier" pitchFamily="49" charset="0"/>
                <a:ea typeface="맑은 고딕" pitchFamily="50" charset="-127"/>
              </a:rPr>
              <a:t>d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rwxr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-x--- 27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remzi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remzi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4096 May 3 15:14 ../       /* directory */</a:t>
            </a:r>
          </a:p>
          <a:p>
            <a:pPr latinLnBrk="1"/>
            <a:r>
              <a:rPr lang="en-US" altLang="ko-KR" sz="1400" dirty="0">
                <a:solidFill>
                  <a:srgbClr val="F79646"/>
                </a:solidFill>
                <a:latin typeface="Courier" pitchFamily="49" charset="0"/>
                <a:ea typeface="맑은 고딕" pitchFamily="50" charset="-127"/>
              </a:rPr>
              <a:t>-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rw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-r----- 1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remzi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remzi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>
                <a:solidFill>
                  <a:srgbClr val="F79646"/>
                </a:solidFill>
                <a:latin typeface="Courier" pitchFamily="49" charset="0"/>
                <a:ea typeface="맑은 고딕" pitchFamily="50" charset="-127"/>
              </a:rPr>
              <a:t>6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May 3 19:10 file          /* regular file */</a:t>
            </a:r>
          </a:p>
          <a:p>
            <a:pPr latinLnBrk="1"/>
            <a:r>
              <a:rPr lang="en-US" altLang="ko-KR" sz="1400" dirty="0" err="1">
                <a:solidFill>
                  <a:srgbClr val="F79646"/>
                </a:solidFill>
                <a:latin typeface="Courier" pitchFamily="49" charset="0"/>
                <a:ea typeface="맑은 고딕" pitchFamily="50" charset="-127"/>
              </a:rPr>
              <a:t>l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rwxrwxrwx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1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remzi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remzi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</a:t>
            </a:r>
            <a:r>
              <a:rPr lang="en-US" altLang="ko-KR" sz="1400" dirty="0">
                <a:solidFill>
                  <a:srgbClr val="F79646"/>
                </a:solidFill>
                <a:latin typeface="Courier" pitchFamily="49" charset="0"/>
                <a:ea typeface="맑은 고딕" pitchFamily="50" charset="-127"/>
              </a:rPr>
              <a:t>4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May 3 19:10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file2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-&gt; file /* symbolic link */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1F5433-4DF8-0FF1-E27D-6F689E996B9B}"/>
              </a:ext>
            </a:extLst>
          </p:cNvPr>
          <p:cNvSpPr txBox="1"/>
          <p:nvPr/>
        </p:nvSpPr>
        <p:spPr>
          <a:xfrm>
            <a:off x="1977137" y="3737880"/>
            <a:ext cx="7920880" cy="1600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prompt&gt; echo hello &gt; file</a:t>
            </a:r>
          </a:p>
          <a:p>
            <a:pPr latinLnBrk="1"/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prompt&gt; ln -s file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file2</a:t>
            </a:r>
            <a:endParaRPr lang="en-US" altLang="ko-KR" sz="1400" dirty="0">
              <a:solidFill>
                <a:prstClr val="black"/>
              </a:solidFill>
              <a:latin typeface="Courier" pitchFamily="49" charset="0"/>
              <a:ea typeface="맑은 고딕" pitchFamily="50" charset="-127"/>
            </a:endParaRPr>
          </a:p>
          <a:p>
            <a:pPr latinLnBrk="1"/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prompt&gt; cat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file2</a:t>
            </a:r>
            <a:endParaRPr lang="en-US" altLang="ko-KR" sz="1400" dirty="0">
              <a:solidFill>
                <a:prstClr val="black"/>
              </a:solidFill>
              <a:latin typeface="Courier" pitchFamily="49" charset="0"/>
              <a:ea typeface="맑은 고딕" pitchFamily="50" charset="-127"/>
            </a:endParaRPr>
          </a:p>
          <a:p>
            <a:pPr latinLnBrk="1"/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hello</a:t>
            </a:r>
          </a:p>
          <a:p>
            <a:pPr latinLnBrk="1"/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prompt&gt;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rm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 file</a:t>
            </a:r>
          </a:p>
          <a:p>
            <a:pPr latinLnBrk="1"/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prompt&gt; cat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file2</a:t>
            </a:r>
            <a:endParaRPr lang="en-US" altLang="ko-KR" sz="1400" dirty="0">
              <a:solidFill>
                <a:prstClr val="black"/>
              </a:solidFill>
              <a:latin typeface="Courier" pitchFamily="49" charset="0"/>
              <a:ea typeface="맑은 고딕" pitchFamily="50" charset="-127"/>
            </a:endParaRPr>
          </a:p>
          <a:p>
            <a:pPr latinLnBrk="1"/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cat: </a:t>
            </a:r>
            <a:r>
              <a:rPr lang="en-US" altLang="ko-KR" sz="1400" dirty="0" err="1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file2</a:t>
            </a:r>
            <a:r>
              <a:rPr lang="en-US" altLang="ko-KR" sz="1400" dirty="0">
                <a:solidFill>
                  <a:prstClr val="black"/>
                </a:solidFill>
                <a:latin typeface="Courier" pitchFamily="49" charset="0"/>
                <a:ea typeface="맑은 고딕" pitchFamily="50" charset="-127"/>
              </a:rPr>
              <a:t>: No such file or directory</a:t>
            </a:r>
          </a:p>
        </p:txBody>
      </p:sp>
    </p:spTree>
    <p:extLst>
      <p:ext uri="{BB962C8B-B14F-4D97-AF65-F5344CB8AC3E}">
        <p14:creationId xmlns:p14="http://schemas.microsoft.com/office/powerpoint/2010/main" val="3993741186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D32768C-F15F-6E75-41D1-9F14D317D991}"/>
              </a:ext>
            </a:extLst>
          </p:cNvPr>
          <p:cNvSpPr txBox="1"/>
          <p:nvPr/>
        </p:nvSpPr>
        <p:spPr>
          <a:xfrm>
            <a:off x="779780" y="3128918"/>
            <a:ext cx="10632440" cy="6001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lvl="1" algn="ctr" defTabSz="292100" hangingPunct="0"/>
            <a:r>
              <a:rPr lang="en-US" sz="3300" b="1" kern="0" dirty="0">
                <a:solidFill>
                  <a:srgbClr val="FFFFFF">
                    <a:lumMod val="95000"/>
                  </a:srgbClr>
                </a:solidFill>
                <a:latin typeface="Gill Sans MT" panose="020B0502020104020203" pitchFamily="34" charset="0"/>
                <a:cs typeface="Helvetica"/>
                <a:sym typeface="Helvetica"/>
              </a:rPr>
              <a:t>Q &amp; A</a:t>
            </a:r>
            <a:endParaRPr lang="en-US" sz="2800" b="1" kern="0" dirty="0">
              <a:solidFill>
                <a:srgbClr val="FFFFFF">
                  <a:lumMod val="95000"/>
                </a:srgbClr>
              </a:solidFill>
              <a:latin typeface="Gill Sans MT" panose="020B0502020104020203" pitchFamily="34" charset="0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18749692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5E5E5E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5E00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8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8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_3150-revise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3150-revised" id="{72E33548-5CDA-544A-B5F4-E210C371BE6B}" vid="{AFAE12A1-A27E-B74F-B116-16CE6FFB837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5321</TotalTime>
  <Words>1616</Words>
  <Application>Microsoft Macintosh PowerPoint</Application>
  <PresentationFormat>宽屏</PresentationFormat>
  <Paragraphs>247</Paragraphs>
  <Slides>21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8" baseType="lpstr">
      <vt:lpstr>굴림</vt:lpstr>
      <vt:lpstr>HY견고딕</vt:lpstr>
      <vt:lpstr>맑은 고딕</vt:lpstr>
      <vt:lpstr>맑은 고딕</vt:lpstr>
      <vt:lpstr>Aptos</vt:lpstr>
      <vt:lpstr>Arial</vt:lpstr>
      <vt:lpstr>Calibri</vt:lpstr>
      <vt:lpstr>Courier</vt:lpstr>
      <vt:lpstr>Courier New</vt:lpstr>
      <vt:lpstr>Gill Sans MT</vt:lpstr>
      <vt:lpstr>Helvetica</vt:lpstr>
      <vt:lpstr>Helvetica Light</vt:lpstr>
      <vt:lpstr>Helvetica Neue</vt:lpstr>
      <vt:lpstr>Helvetica Neue Light</vt:lpstr>
      <vt:lpstr>Wingdings</vt:lpstr>
      <vt:lpstr>White</vt:lpstr>
      <vt:lpstr>2_3150-revised</vt:lpstr>
      <vt:lpstr>PowerPoint 演示文稿</vt:lpstr>
      <vt:lpstr>PowerPoint 演示文稿</vt:lpstr>
      <vt:lpstr>File System Structure</vt:lpstr>
      <vt:lpstr>Overall Organization</vt:lpstr>
      <vt:lpstr>Structure of Inode</vt:lpstr>
      <vt:lpstr>File System API</vt:lpstr>
      <vt:lpstr>File System APIs Summary</vt:lpstr>
      <vt:lpstr>Getting Information About Files </vt:lpstr>
      <vt:lpstr>Getting Information About Files (Cont.)</vt:lpstr>
      <vt:lpstr>Renaming files</vt:lpstr>
      <vt:lpstr>Removing Files</vt:lpstr>
      <vt:lpstr>Making Directories</vt:lpstr>
      <vt:lpstr>Reading Directories </vt:lpstr>
      <vt:lpstr>Reading Directories </vt:lpstr>
      <vt:lpstr>Deleting Directories</vt:lpstr>
      <vt:lpstr>Hard Links</vt:lpstr>
      <vt:lpstr>Hard Links (Cont.)</vt:lpstr>
      <vt:lpstr>unlink Hard Links</vt:lpstr>
      <vt:lpstr>Symbolic Links</vt:lpstr>
      <vt:lpstr>Symbolic Links (Cont.)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 Jianqiang</dc:creator>
  <cp:lastModifiedBy>JIA, Chaobo</cp:lastModifiedBy>
  <cp:revision>122</cp:revision>
  <cp:lastPrinted>2024-11-20T09:13:23Z</cp:lastPrinted>
  <dcterms:created xsi:type="dcterms:W3CDTF">2023-01-06T06:17:44Z</dcterms:created>
  <dcterms:modified xsi:type="dcterms:W3CDTF">2026-04-02T05:21:51Z</dcterms:modified>
</cp:coreProperties>
</file>