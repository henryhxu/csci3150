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613" r:id="rId2"/>
    <p:sldId id="667" r:id="rId3"/>
    <p:sldId id="657" r:id="rId4"/>
    <p:sldId id="668" r:id="rId5"/>
    <p:sldId id="646" r:id="rId6"/>
    <p:sldId id="648" r:id="rId7"/>
    <p:sldId id="625" r:id="rId8"/>
    <p:sldId id="636" r:id="rId9"/>
    <p:sldId id="658" r:id="rId10"/>
    <p:sldId id="659" r:id="rId11"/>
    <p:sldId id="660" r:id="rId12"/>
    <p:sldId id="661" r:id="rId13"/>
    <p:sldId id="662" r:id="rId14"/>
    <p:sldId id="642" r:id="rId15"/>
    <p:sldId id="652" r:id="rId16"/>
    <p:sldId id="653" r:id="rId17"/>
    <p:sldId id="666" r:id="rId18"/>
    <p:sldId id="663" r:id="rId19"/>
    <p:sldId id="665" r:id="rId20"/>
    <p:sldId id="664" r:id="rId21"/>
    <p:sldId id="63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51E9F-A845-4914-A3CC-CC345012599B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D8A1-9A08-4DDC-ACAE-443678235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3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7394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BB922-3FA9-0D68-8D29-98DA2BDF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8BBB7-410B-EA6E-6820-FFFBE87C1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9249C-F73B-3984-50F5-64B8E05CD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4631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E895-8327-C19D-7E63-53FC26BA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8AE9F-0ECD-E92C-1549-CAFE6C589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78421-E809-0BF9-2B24-BAC124341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42415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196524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231475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5942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670232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91072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227800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936721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520917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676632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425664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010288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55363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33EC-93BA-581A-9A1F-81DFECC8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2F02E-A858-F2B0-367C-7AC60A281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C1AE8-FF81-BA49-EAD6-17F2EBF5E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69294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823413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2FE1-3E23-39D3-E0B4-5808784D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C0459-AC74-1B7D-C755-0455C6469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477AB-968B-1A83-B2E8-6D422AE07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112111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743339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686ED8-374A-AFA5-27CC-BADD1D5E7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defTabSz="412750">
              <a:defRPr sz="6000" baseline="166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059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07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0"/>
            <a:ext cx="12192000" cy="941294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75383" y="0"/>
            <a:ext cx="10593290" cy="9412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229567"/>
            <a:ext cx="10502900" cy="4648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0080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256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52" name="Rectangle"/>
          <p:cNvSpPr/>
          <p:nvPr/>
        </p:nvSpPr>
        <p:spPr>
          <a:xfrm>
            <a:off x="0" y="6507659"/>
            <a:ext cx="12192000" cy="367110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568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61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DB323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43783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F4C20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04784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9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3CBA5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1072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00079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63B76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4562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EDC44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3600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CA423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267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0" y="-16768"/>
            <a:ext cx="12192000" cy="6032004"/>
          </a:xfrm>
          <a:prstGeom prst="rect">
            <a:avLst/>
          </a:prstGeom>
          <a:solidFill>
            <a:srgbClr val="419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/>
          <a:lstStyle>
            <a:lvl1pPr algn="ctr" defTabSz="412750">
              <a:defRPr sz="6000" b="0" baseline="1666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78372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410766">
              <a:defRPr sz="3500" b="0" baseline="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222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1pPr>
            <a:lvl2pPr marL="4445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2pPr>
            <a:lvl3pPr marL="6667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3pPr>
            <a:lvl4pPr marL="8890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4pPr>
            <a:lvl5pPr marL="1111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7052" y="6536531"/>
            <a:ext cx="322203" cy="313546"/>
          </a:xfrm>
          <a:prstGeom prst="rect">
            <a:avLst/>
          </a:prstGeom>
        </p:spPr>
        <p:txBody>
          <a:bodyPr lIns="71437" tIns="71437" rIns="71437" bIns="71437"/>
          <a:lstStyle>
            <a:lvl1pPr defTabSz="410766">
              <a:def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45070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14A3-DCCD-1F67-5A43-D409DDA7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C241-D7F8-3937-C18B-364EFE4B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1B77-9054-FFAD-AEB3-F44121FC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DD41-9B81-A544-8498-92133950A0E4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69CF-9400-12F2-90B6-21413E60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5769-C2E4-40A2-0D1B-A3522EC4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991F-E3FA-3A41-8A65-A6D6C0B5A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0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9356" y="177800"/>
            <a:ext cx="1059329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0016" y="6400800"/>
            <a:ext cx="38151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defTabSz="412750">
              <a:defRPr sz="1800">
                <a:solidFill>
                  <a:srgbClr val="000000"/>
                </a:solidFill>
                <a:latin typeface="Gill Sans MT" panose="020B050202010402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hf hdr="0" ftr="0" dt="0"/>
  <p:txStyles>
    <p:titleStyle>
      <a:lvl1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28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606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2pPr>
      <a:lvl3pPr marL="924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3pPr>
      <a:lvl4pPr marL="1241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4pPr>
      <a:lvl5pPr marL="155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5pPr>
      <a:lvl6pPr marL="1924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6pPr>
      <a:lvl7pPr marL="2242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7pPr>
      <a:lvl8pPr marL="2559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8pPr>
      <a:lvl9pPr marL="2877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lass/mjxsr09gf91dw/post/1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azza.com/class/mjxsr09gf91dw/post/1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nryhxu/CSCI315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7908799/xsh/semaphore.h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13C63-B26A-4A9C-A1CA-724346AB29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FENG,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 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Yicheng</a:t>
            </a:r>
          </a:p>
          <a:p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yichengfeng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@</a:t>
            </a:r>
            <a:r>
              <a:rPr lang="nb-NO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link.cuhk.edu.hk</a:t>
            </a:r>
            <a:endParaRPr lang="nb-NO" altLang="zh-CN" dirty="0">
              <a:solidFill>
                <a:schemeClr val="bg1">
                  <a:lumMod val="95000"/>
                </a:schemeClr>
              </a:solidFill>
              <a:latin typeface="Gill Sans MT" panose="020B0502020104020203" pitchFamily="34" charset="0"/>
            </a:endParaRPr>
          </a:p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</a:rPr>
              <a:t>Feb.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 1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1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889000" y="1489226"/>
            <a:ext cx="10632440" cy="10310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Semaphores in C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CSCI3150 Introduction to Operating Systems, Spring 2026</a:t>
            </a:r>
          </a:p>
        </p:txBody>
      </p:sp>
    </p:spTree>
    <p:extLst>
      <p:ext uri="{BB962C8B-B14F-4D97-AF65-F5344CB8AC3E}">
        <p14:creationId xmlns:p14="http://schemas.microsoft.com/office/powerpoint/2010/main" val="28085131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b="1" dirty="0">
                <a:cs typeface="Helvetica"/>
              </a:rPr>
              <a:t>Assignment 2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Helvetica"/>
              </a:rPr>
              <a:t>Invitation URL: </a:t>
            </a:r>
            <a:r>
              <a:rPr lang="en-US" sz="2400" u="sng" dirty="0">
                <a:cs typeface="Helvetica"/>
              </a:rPr>
              <a:t>https://</a:t>
            </a:r>
            <a:r>
              <a:rPr lang="en-US" sz="2400" u="sng" dirty="0" err="1">
                <a:cs typeface="Helvetica"/>
              </a:rPr>
              <a:t>classroom.github.com</a:t>
            </a:r>
            <a:r>
              <a:rPr lang="en-US" sz="2400" u="sng" dirty="0">
                <a:cs typeface="Helvetica"/>
              </a:rPr>
              <a:t>/a/</a:t>
            </a:r>
            <a:r>
              <a:rPr lang="en-US" sz="2400" u="sng" dirty="0" err="1">
                <a:cs typeface="Helvetica"/>
              </a:rPr>
              <a:t>RKvPmvxf</a:t>
            </a:r>
            <a:endParaRPr lang="en-US" sz="2400" u="sng" dirty="0">
              <a:cs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" altLang="zh-CN" sz="2400" dirty="0"/>
              <a:t>Deadline: 23:59:59 p.m., Sun, Mar 1st, 2026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" altLang="zh-CN" sz="2400" dirty="0"/>
              <a:t>Submission: </a:t>
            </a:r>
            <a:r>
              <a:rPr lang="en" altLang="zh-CN" sz="2400" dirty="0" err="1"/>
              <a:t>Github</a:t>
            </a:r>
            <a:r>
              <a:rPr lang="en" altLang="zh-CN" sz="2400" dirty="0"/>
              <a:t> classroom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" altLang="zh-CN" sz="2400" dirty="0"/>
              <a:t>refer to the Assignment 1 guide: </a:t>
            </a:r>
            <a:r>
              <a:rPr lang="en" altLang="zh-CN" sz="1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https://piazza.com/class/mjxsr09gf91dw/post/11</a:t>
            </a:r>
            <a:r>
              <a:rPr lang="en-US" altLang="zh-CN" sz="2400" dirty="0"/>
              <a:t>)</a:t>
            </a:r>
            <a:endParaRPr lang="en" altLang="zh-CN" sz="2400" dirty="0"/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" altLang="zh-CN" sz="2400" dirty="0"/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0583335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399BC-5D82-95FC-771A-E38E1B55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B60E-83E1-F833-B745-30DF3B00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9512F-74FB-CDC2-6B79-97022E597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1147845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b="1" dirty="0">
                <a:cs typeface="Helvetica"/>
              </a:rPr>
              <a:t>Assignment 2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" altLang="zh-CN" sz="2400" dirty="0"/>
              <a:t>For students who have already accepted asg2, please run </a:t>
            </a:r>
            <a:r>
              <a:rPr lang="en" altLang="zh-CN" sz="2400" b="1" i="1" dirty="0"/>
              <a:t>git pull </a:t>
            </a:r>
            <a:r>
              <a:rPr lang="en" altLang="zh-CN" sz="2400" dirty="0"/>
              <a:t>to update 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04B6C-0C82-D416-7D0E-F47426746A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820A36-5623-F633-074E-CDB9D8D3F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55" y="2606718"/>
            <a:ext cx="10336490" cy="181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6445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6CC-92E8-0C20-57E5-F4457CA1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A114-A88F-C67C-6FA2-BA052246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5C54F-C7C3-871A-B191-13691F748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1059578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b="1" dirty="0">
                <a:cs typeface="Helvetica"/>
              </a:rPr>
              <a:t>Assignment 2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" altLang="zh-CN" sz="2400" dirty="0"/>
              <a:t>If you can't access asg2 via this URL, please try the solution also mentioned in asg1:</a:t>
            </a:r>
          </a:p>
          <a:p>
            <a:pPr marL="317500" lvl="1" indent="0">
              <a:spcBef>
                <a:spcPts val="1200"/>
              </a:spcBef>
              <a:buNone/>
              <a:defRPr/>
            </a:pPr>
            <a:r>
              <a:rPr lang="en" altLang="zh-CN" sz="2400" dirty="0"/>
              <a:t> </a:t>
            </a:r>
            <a:r>
              <a:rPr lang="en" altLang="zh-CN" sz="2000" dirty="0">
                <a:hlinkClick r:id="rId3"/>
              </a:rPr>
              <a:t>https://piazza.com/class/mjxsr09gf91dw/post/19</a:t>
            </a:r>
            <a:endParaRPr lang="en-US" sz="2400" dirty="0"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EC644-4818-578A-76FE-1FCD7A575CB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C69A03-F7AA-E1B6-A43E-95E714AC1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289" y="3035131"/>
            <a:ext cx="8436083" cy="3471381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B21CCB-8496-7013-F0EA-FFAC3DCEA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716" y="2205502"/>
            <a:ext cx="3654413" cy="202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7236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Tutorial this week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Helvetica"/>
              </a:rPr>
              <a:t>Semaphore usage in C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Helvetica"/>
              </a:rPr>
              <a:t>Interfaces in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semaphore.h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&gt;</a:t>
            </a:r>
            <a:endParaRPr lang="en-US" sz="2400" dirty="0">
              <a:cs typeface="Helvetica"/>
            </a:endParaRP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to use inter-process semaphores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666F3-2E33-F336-CBC8-9499F9D78784}"/>
              </a:ext>
            </a:extLst>
          </p:cNvPr>
          <p:cNvSpPr txBox="1"/>
          <p:nvPr/>
        </p:nvSpPr>
        <p:spPr>
          <a:xfrm>
            <a:off x="3367171" y="4430460"/>
            <a:ext cx="6171565" cy="646331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All examples used in this tutorial:</a:t>
            </a:r>
          </a:p>
          <a:p>
            <a:pPr algn="ctr"/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  <a:hlinkClick r:id="rId3"/>
              </a:rPr>
              <a:t>https://github.com/henryhxu/CSCI3150/</a:t>
            </a:r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4154995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Semaphores</a:t>
            </a:r>
            <a:r>
              <a:rPr lang="en-US" dirty="0"/>
              <a:t> in &lt;</a:t>
            </a:r>
            <a:r>
              <a:rPr lang="en-US" altLang="zh-CN" sz="4000" dirty="0" err="1">
                <a:cs typeface="Helvetica"/>
              </a:rPr>
              <a:t>semaphore.h</a:t>
            </a:r>
            <a:r>
              <a:rPr lang="en-US" dirty="0"/>
              <a:t>&gt;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725" y="1157355"/>
            <a:ext cx="10942521" cy="1245604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400" dirty="0">
                <a:cs typeface="Helvetica"/>
              </a:rPr>
              <a:t>The </a:t>
            </a:r>
            <a:r>
              <a:rPr lang="en-US" altLang="zh-CN" sz="2400" dirty="0" err="1">
                <a:cs typeface="Helvetica"/>
              </a:rPr>
              <a:t>semaphore.h</a:t>
            </a:r>
            <a:r>
              <a:rPr lang="en-US" altLang="zh-CN" sz="2400" dirty="0">
                <a:cs typeface="Helvetica"/>
              </a:rPr>
              <a:t> is a powerful tool for creating and managing semaphores in C. It defines the </a:t>
            </a:r>
            <a:r>
              <a:rPr lang="en-US" altLang="zh-CN" sz="2400" i="1" dirty="0" err="1">
                <a:latin typeface="Consolas" panose="020B0609020204030204" pitchFamily="49" charset="0"/>
                <a:cs typeface="Helvetica"/>
              </a:rPr>
              <a:t>sem_t</a:t>
            </a:r>
            <a:r>
              <a:rPr lang="en-US" altLang="zh-CN" sz="2400" dirty="0">
                <a:cs typeface="Helvetica"/>
              </a:rPr>
              <a:t> type, used in performing semaphore operations. See also </a:t>
            </a:r>
            <a:r>
              <a:rPr lang="en-US" altLang="zh-CN" sz="2400" dirty="0">
                <a:cs typeface="Helvetica"/>
                <a:hlinkClick r:id="rId3"/>
              </a:rPr>
              <a:t>https://pubs.opengroup.org/onlinepubs/7908799/xsh/semaphore.h.html</a:t>
            </a:r>
            <a:endParaRPr lang="en-US" altLang="zh-CN" sz="2400" dirty="0">
              <a:cs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0E6A9C-20C9-7CC9-CBF6-89EE2B4A6609}"/>
              </a:ext>
            </a:extLst>
          </p:cNvPr>
          <p:cNvSpPr txBox="1"/>
          <p:nvPr/>
        </p:nvSpPr>
        <p:spPr>
          <a:xfrm>
            <a:off x="275383" y="2476679"/>
            <a:ext cx="8342524" cy="42780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To use it: </a:t>
            </a:r>
            <a:r>
              <a:rPr lang="en-HK" altLang="zh-CN" sz="240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 </a:t>
            </a:r>
            <a:r>
              <a:rPr lang="en-HK" altLang="zh-CN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semaphore.h</a:t>
            </a:r>
            <a:r>
              <a:rPr lang="en-HK" altLang="zh-CN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n-HK" altLang="zh-CN" sz="280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Interfaces:</a:t>
            </a: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sem_destroy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sem_getvalue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*, </a:t>
            </a:r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sem_init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*, </a:t>
            </a:r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unsigned </a:t>
            </a:r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✔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1" i="0" dirty="0" err="1"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*, </a:t>
            </a:r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...);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✔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sem_trywait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sem_unlink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1" i="0" dirty="0" err="1"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 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2000" b="1" i="0" dirty="0">
                <a:solidFill>
                  <a:srgbClr val="2E8B5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*); 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✔</a:t>
            </a:r>
            <a:endParaRPr lang="en-HK" altLang="zh-CN" sz="20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altLang="zh-CN" sz="240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189634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sem_init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initialize an </a:t>
            </a:r>
            <a:r>
              <a:rPr lang="en-US" altLang="zh-CN" sz="2400" i="1" u="sng" dirty="0"/>
              <a:t>unnamed semaphore</a:t>
            </a:r>
            <a:r>
              <a:rPr lang="en-US" altLang="zh-CN" sz="2400" dirty="0"/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sem_init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pshared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741404"/>
            <a:ext cx="10084709" cy="1292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pointer to the semaphore variable.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pshared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: whether the semaphore is shared between processes (0 for no sharing).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: semaphore initial value. </a:t>
            </a:r>
            <a:endParaRPr lang="zh-CN" altLang="zh-CN" kern="0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  <a:cs typeface="Helvetic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4050844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970F9F-5EC6-EC7C-76FE-811228D7001B}"/>
              </a:ext>
            </a:extLst>
          </p:cNvPr>
          <p:cNvSpPr txBox="1"/>
          <p:nvPr/>
        </p:nvSpPr>
        <p:spPr>
          <a:xfrm>
            <a:off x="1262739" y="4539231"/>
            <a:ext cx="10084709" cy="1200329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BUFFER_SIZE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[BUFFER_SIZE];</a:t>
            </a:r>
          </a:p>
          <a:p>
            <a:r>
              <a:rPr lang="en-US" altLang="zh-CN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empty; </a:t>
            </a:r>
          </a:p>
          <a:p>
            <a:r>
              <a:rPr lang="en-US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sem_init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BUFFER_SIZE);</a:t>
            </a:r>
          </a:p>
        </p:txBody>
      </p:sp>
    </p:spTree>
    <p:extLst>
      <p:ext uri="{BB962C8B-B14F-4D97-AF65-F5344CB8AC3E}">
        <p14:creationId xmlns:p14="http://schemas.microsoft.com/office/powerpoint/2010/main" val="116498656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sem_open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initialize and open a </a:t>
            </a:r>
            <a:r>
              <a:rPr lang="en-US" altLang="zh-CN" sz="2400" i="1" u="sng" dirty="0"/>
              <a:t>named semaphore </a:t>
            </a:r>
            <a:r>
              <a:rPr lang="en-US" altLang="zh-CN" sz="2400" dirty="0"/>
              <a:t>(inter-process).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13235" y="162192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31425" y="2150223"/>
            <a:ext cx="10084709" cy="64633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CN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oflag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oflag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mode_t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235" y="2764217"/>
            <a:ext cx="10084709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must start with / (e.g. /</a:t>
            </a:r>
            <a:r>
              <a:rPr lang="en-US" altLang="zh-CN" kern="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mysemaphore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oflag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0, O_CREAT, O_CREAT | O_EXCL.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permission bits.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Permission bits control access to files or objects and are represented as a three- or four-digit number. Each digit represents permissions for the owner, group, and others, respectively.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Common values include: 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4: Read (r)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2: Write (w)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1: Execute (x)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These values can be combined, such as 6 for read and write (</a:t>
            </a:r>
            <a:r>
              <a:rPr lang="en-US" altLang="zh-CN" kern="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rw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-).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The first digit (e.g., 0) can set special permissions like SUID or SGID.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HK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initial value.</a:t>
            </a:r>
            <a:endParaRPr lang="zh-CN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766919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sem_open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086953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1081704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40" y="1606790"/>
            <a:ext cx="10084709" cy="92333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altLang="zh-CN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*sem;</a:t>
            </a:r>
          </a:p>
          <a:p>
            <a:r>
              <a:rPr lang="pt-B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*sem_name = </a:t>
            </a:r>
            <a:r>
              <a:rPr lang="pt-BR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/mysemaphore</a:t>
            </a:r>
            <a:r>
              <a:rPr lang="pt-BR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 = </a:t>
            </a:r>
            <a:r>
              <a:rPr lang="pt-BR" altLang="zh-CN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(sem_name, O_CREAT | O_EXCL,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0644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12222E-DBE4-5C26-C72F-8E482C92F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16" y="2391289"/>
            <a:ext cx="10084709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zh-CN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O_CREAT | O_EXCL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If the semaphore already exists, the function call fails.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0644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6: The owner (the user who created the semaphore) has read and write permissions (4 + 2 = 6, i.e. </a:t>
            </a:r>
            <a:r>
              <a:rPr lang="en-US" altLang="zh-CN" kern="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rw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-).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4: The group user (other users who belong to the same user group as the creator) has only read permission (4 = 4, i.e. r--).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4: Other users (other users who do not belong to the same group) have only read permission (4 = 4, i.e. r--).</a:t>
            </a:r>
          </a:p>
        </p:txBody>
      </p:sp>
    </p:spTree>
    <p:extLst>
      <p:ext uri="{BB962C8B-B14F-4D97-AF65-F5344CB8AC3E}">
        <p14:creationId xmlns:p14="http://schemas.microsoft.com/office/powerpoint/2010/main" val="123957370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sem_trywait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1596830"/>
          </a:xfrm>
        </p:spPr>
        <p:txBody>
          <a:bodyPr>
            <a:normAutofit lnSpcReduction="10000"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P</a:t>
            </a:r>
            <a:r>
              <a:rPr lang="en-US" altLang="zh-CN" sz="2400" dirty="0" err="1">
                <a:cs typeface="Helvetica"/>
              </a:rPr>
              <a:t>urpose</a:t>
            </a:r>
            <a:r>
              <a:rPr lang="en-US" altLang="zh-CN" sz="2400" dirty="0">
                <a:cs typeface="Helvetica"/>
              </a:rPr>
              <a:t>: </a:t>
            </a:r>
            <a:r>
              <a:rPr lang="en-US" altLang="zh-CN" sz="2400" dirty="0" err="1">
                <a:cs typeface="Helvetica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t is useful in cases where you don't want the process or thread to block while waiting for the semaphore.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sz="18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sem_trywait</a:t>
            </a:r>
            <a:r>
              <a:rPr lang="en-US" altLang="zh-CN" sz="18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is a non-blocking function that attempts to decrease the value of a semaphore. If the semaphore’s value is greater than 0, it decrements the value and proceeds. However, if the semaphore's value is 0 (unavailable), it returns immediately with a failure and sets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errno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to EAGAIN.</a:t>
            </a:r>
            <a:endParaRPr lang="en-US" altLang="zh-CN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2762996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3291296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sem_trywait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pt-BR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3650965"/>
            <a:ext cx="10084709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pointer to the semaphore variable.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430762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970F9F-5EC6-EC7C-76FE-811228D7001B}"/>
              </a:ext>
            </a:extLst>
          </p:cNvPr>
          <p:cNvSpPr txBox="1"/>
          <p:nvPr/>
        </p:nvSpPr>
        <p:spPr>
          <a:xfrm>
            <a:off x="1262739" y="4796014"/>
            <a:ext cx="10084709" cy="20313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CN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sem_trywait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HK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Semaphore acquired!</a:t>
            </a:r>
            <a:r>
              <a:rPr lang="en-HK" altLang="zh-CN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HK" altLang="zh-CN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HK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errno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EAGAIN) {</a:t>
            </a:r>
          </a:p>
          <a:p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Semaphore unavailable, do other things.</a:t>
            </a:r>
            <a:r>
              <a:rPr lang="en-HK" altLang="zh-CN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312430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sem_destroy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805912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400" dirty="0"/>
              <a:t>Purpose: used to destroy the </a:t>
            </a:r>
            <a:r>
              <a:rPr lang="en-US" altLang="zh-CN" sz="2400" i="1" u="sng" dirty="0"/>
              <a:t>unnamed semaphore</a:t>
            </a:r>
            <a:r>
              <a:rPr lang="en-US" altLang="zh-CN" sz="2400" dirty="0"/>
              <a:t>.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Only a semaphore that was created using </a:t>
            </a:r>
            <a:r>
              <a:rPr lang="en-US" altLang="zh-CN" sz="19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sem_init</a:t>
            </a:r>
            <a:r>
              <a:rPr lang="en-US" altLang="zh-CN" sz="19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may be destroyed using </a:t>
            </a:r>
            <a:r>
              <a:rPr lang="en-US" altLang="zh-CN" sz="19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sem_destroy</a:t>
            </a:r>
            <a:r>
              <a:rPr lang="en-US" altLang="zh-CN" sz="19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2017699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545999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sem_destroy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pt-BR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3200030"/>
            <a:ext cx="10084709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pointer to the semaphore variable.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4050844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970F9F-5EC6-EC7C-76FE-811228D7001B}"/>
              </a:ext>
            </a:extLst>
          </p:cNvPr>
          <p:cNvSpPr txBox="1"/>
          <p:nvPr/>
        </p:nvSpPr>
        <p:spPr>
          <a:xfrm>
            <a:off x="1262739" y="4539231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sem_destroy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34796169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sem_close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558661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6"/>
            <a:ext cx="10502900" cy="1601315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400" dirty="0"/>
              <a:t>Purpose: used to indicate that the calling process is finished using the </a:t>
            </a:r>
            <a:r>
              <a:rPr lang="en-US" altLang="zh-CN" sz="2400" i="1" u="sng" dirty="0"/>
              <a:t>named semaphore</a:t>
            </a:r>
            <a:r>
              <a:rPr lang="en-US" altLang="zh-CN" sz="2400" dirty="0"/>
              <a:t>.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sz="1800" dirty="0">
                <a:cs typeface="Helvetica"/>
              </a:rPr>
              <a:t>You cannot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call </a:t>
            </a:r>
            <a:r>
              <a:rPr lang="en-US" altLang="zh-CN" sz="19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sem_close</a:t>
            </a:r>
            <a:r>
              <a:rPr lang="en-US" altLang="zh-CN" sz="19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for an unnamed semaphore (one created by </a:t>
            </a:r>
            <a:r>
              <a:rPr lang="en-US" altLang="zh-CN" sz="19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sem_init</a:t>
            </a:r>
            <a:r>
              <a:rPr lang="en-US" altLang="zh-CN" sz="18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).</a:t>
            </a:r>
            <a:endParaRPr lang="en-US" altLang="zh-CN" sz="1900" kern="1200" dirty="0">
              <a:solidFill>
                <a:srgbClr val="74531F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255631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3084617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pt-BR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3738648"/>
            <a:ext cx="10084709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pointer to the semaphore variable.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4589462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970F9F-5EC6-EC7C-76FE-811228D7001B}"/>
              </a:ext>
            </a:extLst>
          </p:cNvPr>
          <p:cNvSpPr txBox="1"/>
          <p:nvPr/>
        </p:nvSpPr>
        <p:spPr>
          <a:xfrm>
            <a:off x="1262739" y="5077849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44722889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sem_unlink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5110622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49" y="1229566"/>
            <a:ext cx="10898601" cy="1601315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400" dirty="0"/>
              <a:t>Purpose: remove the </a:t>
            </a:r>
            <a:r>
              <a:rPr lang="en-US" altLang="zh-CN" sz="2400" i="1" u="sng" dirty="0"/>
              <a:t>named semaphore</a:t>
            </a:r>
            <a:r>
              <a:rPr lang="en-US" altLang="zh-CN" sz="2400" dirty="0"/>
              <a:t>.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zh-CN" sz="1800" dirty="0">
                <a:cs typeface="Helvetica"/>
              </a:rPr>
              <a:t> If one or more processes have the semaphore open when </a:t>
            </a:r>
            <a:r>
              <a:rPr lang="en-US" altLang="zh-CN" sz="19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sem_unlink</a:t>
            </a:r>
            <a:r>
              <a:rPr lang="en-US" altLang="zh-CN" sz="19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 </a:t>
            </a:r>
            <a:r>
              <a:rPr lang="en-US" altLang="zh-CN" sz="1800" dirty="0">
                <a:cs typeface="Helvetica"/>
              </a:rPr>
              <a:t>is called, destruction of the semaphore is postponed until all references to the semaphore have been closed by calls to</a:t>
            </a:r>
            <a:r>
              <a:rPr lang="en-US" altLang="zh-CN" sz="18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8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sem_close</a:t>
            </a:r>
            <a:r>
              <a:rPr lang="en-US" altLang="zh-CN" sz="18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</a:t>
            </a:r>
            <a:r>
              <a:rPr lang="en-US" altLang="zh-CN" sz="1800" dirty="0">
                <a:cs typeface="Helvetica"/>
              </a:rPr>
              <a:t>, or the process exits.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293209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3460397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sem_unlink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(const </a:t>
            </a:r>
            <a:r>
              <a:rPr lang="pt-BR" altLang="zh-CN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pt-BR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4114428"/>
            <a:ext cx="10084709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cs typeface="Helvetica"/>
              </a:rPr>
              <a:t>the semaphore name.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4965242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970F9F-5EC6-EC7C-76FE-811228D7001B}"/>
              </a:ext>
            </a:extLst>
          </p:cNvPr>
          <p:cNvSpPr txBox="1"/>
          <p:nvPr/>
        </p:nvSpPr>
        <p:spPr>
          <a:xfrm>
            <a:off x="1262739" y="5453629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CN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dirty="0">
                <a:solidFill>
                  <a:srgbClr val="74531F"/>
                </a:solidFill>
                <a:latin typeface="Consolas" panose="020B0609020204030204" pitchFamily="49" charset="0"/>
              </a:rPr>
              <a:t>unlink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(“/</a:t>
            </a:r>
            <a:r>
              <a:rPr lang="en-HK" altLang="zh-CN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”</a:t>
            </a:r>
            <a:r>
              <a:rPr lang="en-HK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5747734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Semaphores in Process 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占位符 7">
            <a:extLst>
              <a:ext uri="{FF2B5EF4-FFF2-40B4-BE49-F238E27FC236}">
                <a16:creationId xmlns:a16="http://schemas.microsoft.com/office/drawing/2014/main" id="{14771B40-21CF-5E90-3A74-392C5D51E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6"/>
            <a:ext cx="10502900" cy="4795453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b="1" i="0" dirty="0">
                <a:solidFill>
                  <a:srgbClr val="000000"/>
                </a:solidFill>
                <a:effectLst/>
                <a:latin typeface="-apple-system"/>
              </a:rPr>
              <a:t> Problem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-apple-system"/>
              </a:rPr>
              <a:t>: How to use </a:t>
            </a:r>
            <a:r>
              <a:rPr lang="en-US" altLang="zh-CN" sz="2400" kern="1200" dirty="0">
                <a:solidFill>
                  <a:srgbClr val="50A14F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kern="1200" dirty="0" err="1">
                <a:solidFill>
                  <a:srgbClr val="50A14F"/>
                </a:solidFill>
                <a:latin typeface="Consolas" panose="020B0609020204030204" pitchFamily="49" charset="0"/>
              </a:rPr>
              <a:t>semaphore.h</a:t>
            </a:r>
            <a:r>
              <a:rPr lang="en-US" altLang="zh-CN" sz="2400" kern="1200" dirty="0">
                <a:solidFill>
                  <a:srgbClr val="50A14F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-apple-system"/>
              </a:rPr>
              <a:t> to implement inter-process semaphores?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-apple-system"/>
              </a:rPr>
              <a:t>Background:</a:t>
            </a:r>
            <a:endParaRPr lang="zh-CN" altLang="zh-CN" sz="2400" b="1" dirty="0">
              <a:solidFill>
                <a:srgbClr val="000000"/>
              </a:solidFill>
              <a:latin typeface="-apple-system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Threads share the same memory space, allowing direct access to semaphore variables of other threads.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zh-CN" sz="1800" dirty="0">
                <a:cs typeface="Helvetica"/>
              </a:rPr>
              <a:t> However, processes have separate memory spaces. A process cannot access the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semaphore</a:t>
            </a:r>
            <a:r>
              <a:rPr lang="en-US" altLang="zh-CN" sz="1800" dirty="0">
                <a:cs typeface="Helvetica"/>
              </a:rPr>
              <a:t> variables of other processes.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zh-CN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400" b="1" i="0" dirty="0">
                <a:solidFill>
                  <a:srgbClr val="000000"/>
                </a:solidFill>
                <a:effectLst/>
                <a:latin typeface="-apple-system"/>
              </a:rPr>
              <a:t>Solution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endParaRPr lang="zh-CN" altLang="zh-CN" sz="2400" b="1" dirty="0">
              <a:solidFill>
                <a:srgbClr val="000000"/>
              </a:solidFill>
              <a:latin typeface="-apple-system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  Named semaphores: use </a:t>
            </a:r>
            <a:r>
              <a:rPr lang="en-US" altLang="zh-CN" sz="18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sem_open</a:t>
            </a:r>
            <a:r>
              <a:rPr lang="en-US" altLang="zh-CN" sz="18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</a:rPr>
              <a:t>to create or open a named semaphore.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zh-CN" sz="1800" dirty="0">
                <a:cs typeface="Helvetica"/>
              </a:rPr>
              <a:t>  Unnamed semaphore: the semaphore needs to be placed in shared memory, and the </a:t>
            </a:r>
            <a:r>
              <a:rPr lang="en-US" altLang="zh-CN" sz="1800" kern="1200" dirty="0" err="1">
                <a:solidFill>
                  <a:srgbClr val="808080"/>
                </a:solidFill>
                <a:latin typeface="Consolas" panose="020B0609020204030204" pitchFamily="49" charset="0"/>
              </a:rPr>
              <a:t>pshared</a:t>
            </a:r>
            <a:r>
              <a:rPr lang="en-US" altLang="zh-CN" sz="1800" dirty="0">
                <a:cs typeface="Helvetica"/>
              </a:rPr>
              <a:t> parameter of </a:t>
            </a:r>
            <a:r>
              <a:rPr lang="en-US" altLang="zh-CN" sz="1800" kern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sem_init</a:t>
            </a:r>
            <a:r>
              <a:rPr lang="en-US" altLang="zh-CN" sz="1800" kern="1200" dirty="0">
                <a:solidFill>
                  <a:srgbClr val="74531F"/>
                </a:solidFill>
                <a:latin typeface="Consolas" panose="020B0609020204030204" pitchFamily="49" charset="0"/>
              </a:rPr>
              <a:t>()</a:t>
            </a:r>
            <a:r>
              <a:rPr lang="en-US" altLang="zh-CN" sz="1800" dirty="0">
                <a:cs typeface="Helvetica"/>
              </a:rPr>
              <a:t> is set to non-zero (usually 1).</a:t>
            </a:r>
            <a:endParaRPr lang="en-US" altLang="zh-CN" sz="24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6065965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Named Semaphore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8F36E625-385C-74EA-5F44-3F24878C63BE}"/>
              </a:ext>
            </a:extLst>
          </p:cNvPr>
          <p:cNvSpPr txBox="1"/>
          <p:nvPr/>
        </p:nvSpPr>
        <p:spPr>
          <a:xfrm>
            <a:off x="135471" y="1264941"/>
            <a:ext cx="5820354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numCol="1">
            <a:spAutoFit/>
          </a:bodyPr>
          <a:lstStyle/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semaphore.h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fcntl.h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HK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semaphore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mysem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O_CREAT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0644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A enters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zh-CN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A leaves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E3DD26D-BBB8-B2A2-69C6-6646F31F2824}"/>
              </a:ext>
            </a:extLst>
          </p:cNvPr>
          <p:cNvSpPr txBox="1"/>
          <p:nvPr/>
        </p:nvSpPr>
        <p:spPr>
          <a:xfrm>
            <a:off x="4720723" y="1272092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a.c</a:t>
            </a:r>
            <a:endParaRPr lang="en-US" dirty="0"/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3EEA725B-360D-DDD8-AA35-9EB51F024E08}"/>
              </a:ext>
            </a:extLst>
          </p:cNvPr>
          <p:cNvSpPr txBox="1"/>
          <p:nvPr/>
        </p:nvSpPr>
        <p:spPr>
          <a:xfrm>
            <a:off x="5955825" y="1264941"/>
            <a:ext cx="6100704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numCol="1">
            <a:spAutoFit/>
          </a:bodyPr>
          <a:lstStyle/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semaphore.h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fcntl.h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HK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Open the semaphore created in Process A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mysem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B enters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B leaves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68B40315-921F-F5C0-BEF1-A218B56ECC14}"/>
              </a:ext>
            </a:extLst>
          </p:cNvPr>
          <p:cNvSpPr txBox="1">
            <a:spLocks/>
          </p:cNvSpPr>
          <p:nvPr/>
        </p:nvSpPr>
        <p:spPr>
          <a:xfrm>
            <a:off x="11896196" y="6553200"/>
            <a:ext cx="102657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defPPr>
              <a:defRPr lang="en-US"/>
            </a:defPPr>
            <a:lvl1pPr marL="0" algn="l" defTabSz="412750" rtl="0" eaLnBrk="1" latinLnBrk="0" hangingPunct="1">
              <a:defRPr sz="1800" kern="1200">
                <a:solidFill>
                  <a:srgbClr val="800080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hangingPunct="0">
              <a:defRPr/>
            </a:pPr>
            <a:endParaRPr lang="en-US" kern="0" dirty="0">
              <a:cs typeface="Helvetica"/>
              <a:sym typeface="Helvetica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B8F52D21-1BF1-F266-8F77-EF369A55624A}"/>
              </a:ext>
            </a:extLst>
          </p:cNvPr>
          <p:cNvSpPr txBox="1"/>
          <p:nvPr/>
        </p:nvSpPr>
        <p:spPr>
          <a:xfrm>
            <a:off x="10821427" y="1272092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.c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70535C-5F33-3B6A-63A0-737C48BE2A35}"/>
              </a:ext>
            </a:extLst>
          </p:cNvPr>
          <p:cNvSpPr txBox="1"/>
          <p:nvPr/>
        </p:nvSpPr>
        <p:spPr>
          <a:xfrm>
            <a:off x="135471" y="5342612"/>
            <a:ext cx="110086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Tip: We can use </a:t>
            </a:r>
            <a:r>
              <a:rPr lang="en-US" altLang="zh-CN" kern="0" dirty="0">
                <a:solidFill>
                  <a:srgbClr val="0070C0"/>
                </a:solidFill>
                <a:latin typeface="Gill Sans MT" panose="020B0502020104020203" pitchFamily="34" charset="0"/>
                <a:cs typeface="Helvetica"/>
                <a:sym typeface="Helvetica"/>
              </a:rPr>
              <a:t>./a &amp; ./b 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to run a and b concurrently.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However, &amp; is not a binary operator. It is a unary postfix operator (i.e. one coming after a command) and instructing the shell to run the specified command in the background.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E.g. ./a &amp; ./b means that a 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runs from the background, while b runs from foreground.</a:t>
            </a:r>
            <a:endParaRPr lang="en-US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64569-F6DC-0CD9-754A-505DE44FBF01}"/>
              </a:ext>
            </a:extLst>
          </p:cNvPr>
          <p:cNvSpPr/>
          <p:nvPr/>
        </p:nvSpPr>
        <p:spPr>
          <a:xfrm>
            <a:off x="501041" y="2824619"/>
            <a:ext cx="5179512" cy="20668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58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6FE3FF-B9E2-96BF-DEA4-73938C86472E}"/>
              </a:ext>
            </a:extLst>
          </p:cNvPr>
          <p:cNvSpPr/>
          <p:nvPr/>
        </p:nvSpPr>
        <p:spPr>
          <a:xfrm>
            <a:off x="6321395" y="2824619"/>
            <a:ext cx="5179512" cy="20668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58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2609510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Named Semaphore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占位符 7">
            <a:extLst>
              <a:ext uri="{FF2B5EF4-FFF2-40B4-BE49-F238E27FC236}">
                <a16:creationId xmlns:a16="http://schemas.microsoft.com/office/drawing/2014/main" id="{14771B40-21CF-5E90-3A74-392C5D51E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6"/>
            <a:ext cx="10502900" cy="5382774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i="0" dirty="0" err="1">
                <a:solidFill>
                  <a:srgbClr val="000000"/>
                </a:solidFill>
                <a:effectLst/>
                <a:latin typeface="-apple-system"/>
              </a:rPr>
              <a:t>a.</a:t>
            </a:r>
            <a:r>
              <a:rPr lang="en-US" altLang="zh-CN" sz="2400" dirty="0" err="1">
                <a:solidFill>
                  <a:srgbClr val="000000"/>
                </a:solidFill>
                <a:latin typeface="-apple-system"/>
              </a:rPr>
              <a:t>c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 and </a:t>
            </a:r>
            <a:r>
              <a:rPr lang="en-US" altLang="zh-CN" sz="2400" dirty="0" err="1">
                <a:solidFill>
                  <a:srgbClr val="000000"/>
                </a:solidFill>
                <a:latin typeface="-apple-system"/>
              </a:rPr>
              <a:t>b.c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 works.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00000"/>
              </a:solidFill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00000"/>
              </a:solidFill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i="0" dirty="0">
                <a:solidFill>
                  <a:srgbClr val="000000"/>
                </a:solidFill>
                <a:effectLst/>
                <a:latin typeface="-apple-system"/>
              </a:rPr>
              <a:t>Only </a:t>
            </a:r>
            <a:r>
              <a:rPr lang="en-US" altLang="zh-CN" sz="2400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-apple-system"/>
              </a:rPr>
              <a:t>one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-apple-system"/>
              </a:rPr>
              <a:t> process enters critical section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6C6EADC-8896-F0B9-0E0A-842E7FF88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419" y="1811618"/>
            <a:ext cx="5423316" cy="17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8575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E23DF-85E3-85C4-AE3D-C249E82E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FC18-5B1A-B8EE-3AE2-8CAE55B07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Named Semaphore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B439F-5BDB-6412-E2F5-ADEB3875B04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占位符 7">
            <a:extLst>
              <a:ext uri="{FF2B5EF4-FFF2-40B4-BE49-F238E27FC236}">
                <a16:creationId xmlns:a16="http://schemas.microsoft.com/office/drawing/2014/main" id="{01864431-986E-BAA9-3245-102926FC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490532"/>
            <a:ext cx="10502900" cy="538277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altLang="zh-CN" sz="2400" dirty="0">
              <a:solidFill>
                <a:srgbClr val="000000"/>
              </a:solidFill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But what if we change the initial value of the semaphore to 2</a:t>
            </a:r>
            <a:r>
              <a:rPr lang="zh-CN" altLang="en-US" sz="2400" dirty="0">
                <a:solidFill>
                  <a:srgbClr val="000000"/>
                </a:solidFill>
                <a:latin typeface="-apple-system"/>
              </a:rPr>
              <a:t>？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We want both process A and B to enter the critical section.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HK" altLang="zh-CN" sz="2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sz="2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HK" altLang="zh-CN" sz="2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2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HK" altLang="zh-CN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mysem</a:t>
            </a:r>
            <a:r>
              <a:rPr lang="en-HK" altLang="zh-CN" sz="2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2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O_CREAT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0644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HK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i="0" dirty="0">
                <a:solidFill>
                  <a:srgbClr val="000000"/>
                </a:solidFill>
                <a:effectLst/>
                <a:latin typeface="-apple-system"/>
              </a:rPr>
              <a:t>Let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’s change the value and re-compile it.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00000"/>
              </a:solidFill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i="0" dirty="0">
                <a:solidFill>
                  <a:srgbClr val="000000"/>
                </a:solidFill>
                <a:effectLst/>
                <a:latin typeface="-apple-system"/>
              </a:rPr>
              <a:t>Still 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o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-apple-system"/>
              </a:rPr>
              <a:t>nly </a:t>
            </a:r>
            <a:r>
              <a:rPr lang="en-US" altLang="zh-CN" sz="2400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-apple-system"/>
              </a:rPr>
              <a:t>one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-apple-system"/>
              </a:rPr>
              <a:t> process enters critical section. Our change does not work.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776F65D-4FF7-3A1B-A347-25401538D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737" y="3590316"/>
            <a:ext cx="5423316" cy="170487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1227375-5953-CD58-3267-E005F9BCAC4E}"/>
              </a:ext>
            </a:extLst>
          </p:cNvPr>
          <p:cNvSpPr/>
          <p:nvPr/>
        </p:nvSpPr>
        <p:spPr>
          <a:xfrm>
            <a:off x="8937321" y="2298524"/>
            <a:ext cx="438411" cy="53861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58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1348880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Named Semaphore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占位符 7">
            <a:extLst>
              <a:ext uri="{FF2B5EF4-FFF2-40B4-BE49-F238E27FC236}">
                <a16:creationId xmlns:a16="http://schemas.microsoft.com/office/drawing/2014/main" id="{14771B40-21CF-5E90-3A74-392C5D51E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6"/>
            <a:ext cx="10502900" cy="5382774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Why didn't our changes take effect?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Because even though our program ends, the named semaphore is still exist in memory.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Where it is? /dev/</a:t>
            </a:r>
            <a:r>
              <a:rPr lang="en-US" altLang="zh-CN" sz="2400" dirty="0" err="1">
                <a:solidFill>
                  <a:srgbClr val="000000"/>
                </a:solidFill>
                <a:latin typeface="-apple-system"/>
              </a:rPr>
              <a:t>shm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. If you do not delete it, it persists until shutdown.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00000"/>
              </a:solidFill>
              <a:latin typeface="-apple-system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Thus, we need to add </a:t>
            </a:r>
            <a:r>
              <a:rPr kumimoji="0" lang="pt-B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4531F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sem_unlink()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apple-system"/>
                <a:cs typeface="Helvetica"/>
              </a:rPr>
              <a:t>to remove named semaphores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apple-system"/>
                <a:cs typeface="Helvetica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n our code.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9902E1-3394-B1A2-27FA-987D9D2A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645" y="3828002"/>
            <a:ext cx="7249278" cy="4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212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3858A-C534-D190-DE05-D8F66CB6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C72D-AF0C-5BC1-6B77-EB498299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Named Semaphore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A333B-1ED3-0270-56B3-80F8AE79645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5341D096-5953-4E06-AD96-103B0C5601FF}"/>
              </a:ext>
            </a:extLst>
          </p:cNvPr>
          <p:cNvSpPr txBox="1"/>
          <p:nvPr/>
        </p:nvSpPr>
        <p:spPr>
          <a:xfrm>
            <a:off x="135471" y="1264941"/>
            <a:ext cx="5820354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numCol="1">
            <a:spAutoFit/>
          </a:bodyPr>
          <a:lstStyle/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semaphore.h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fcntl.h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HK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semaphore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mysem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O_CREAT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0644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A enters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zh-CN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A leaves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</a:t>
            </a:r>
            <a:r>
              <a:rPr lang="en-HK" altLang="zh-CN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unlink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mysem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E04F959D-B020-892B-06FD-AC5F4D5FE477}"/>
              </a:ext>
            </a:extLst>
          </p:cNvPr>
          <p:cNvSpPr txBox="1"/>
          <p:nvPr/>
        </p:nvSpPr>
        <p:spPr>
          <a:xfrm>
            <a:off x="4720723" y="1272092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a.c</a:t>
            </a:r>
            <a:endParaRPr lang="en-US" dirty="0"/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0C80301E-5260-01B4-C126-433EC94734A0}"/>
              </a:ext>
            </a:extLst>
          </p:cNvPr>
          <p:cNvSpPr txBox="1"/>
          <p:nvPr/>
        </p:nvSpPr>
        <p:spPr>
          <a:xfrm>
            <a:off x="5955825" y="1264941"/>
            <a:ext cx="6100704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numCol="1">
            <a:spAutoFit/>
          </a:bodyPr>
          <a:lstStyle/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semaphore.h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fcntl.h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HK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Open the semaphore created in Process A</a:t>
            </a:r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sem_open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HK" altLang="zh-C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mysem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B enters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Process B leaves the critical section.</a:t>
            </a:r>
            <a:r>
              <a:rPr lang="en-HK" altLang="zh-CN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HK" altLang="zh-CN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sem_close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HK" altLang="zh-CN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HK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HK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HK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D14C1DED-796D-F5E1-7F92-E19C216C6E66}"/>
              </a:ext>
            </a:extLst>
          </p:cNvPr>
          <p:cNvSpPr txBox="1">
            <a:spLocks/>
          </p:cNvSpPr>
          <p:nvPr/>
        </p:nvSpPr>
        <p:spPr>
          <a:xfrm>
            <a:off x="11896196" y="6553200"/>
            <a:ext cx="102657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defPPr>
              <a:defRPr lang="en-US"/>
            </a:defPPr>
            <a:lvl1pPr marL="0" algn="l" defTabSz="412750" rtl="0" eaLnBrk="1" latinLnBrk="0" hangingPunct="1">
              <a:defRPr sz="1800" kern="1200">
                <a:solidFill>
                  <a:srgbClr val="800080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hangingPunct="0">
              <a:defRPr/>
            </a:pPr>
            <a:endParaRPr lang="en-US" kern="0" dirty="0">
              <a:cs typeface="Helvetica"/>
              <a:sym typeface="Helvetica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E47D629-1966-D913-3729-3C0FCCA6AFA3}"/>
              </a:ext>
            </a:extLst>
          </p:cNvPr>
          <p:cNvSpPr txBox="1"/>
          <p:nvPr/>
        </p:nvSpPr>
        <p:spPr>
          <a:xfrm>
            <a:off x="10821427" y="1272092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.c</a:t>
            </a:r>
            <a:endParaRPr 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F00238-2DED-0E26-3709-20A850FBA03F}"/>
              </a:ext>
            </a:extLst>
          </p:cNvPr>
          <p:cNvSpPr/>
          <p:nvPr/>
        </p:nvSpPr>
        <p:spPr>
          <a:xfrm>
            <a:off x="455892" y="4528159"/>
            <a:ext cx="5179512" cy="20668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58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7930975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Unnamed Semaphore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占位符 7">
            <a:extLst>
              <a:ext uri="{FF2B5EF4-FFF2-40B4-BE49-F238E27FC236}">
                <a16:creationId xmlns:a16="http://schemas.microsoft.com/office/drawing/2014/main" id="{14771B40-21CF-5E90-3A74-392C5D51E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6"/>
            <a:ext cx="10502900" cy="5382774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You can also use the unnamed semaphore to implement inter-process semaphores.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But it is harder than using named semaphore and beyond the scope of this course.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-apple-system"/>
              </a:rPr>
              <a:t>If you are interested in operating system, you can try it.</a:t>
            </a:r>
          </a:p>
        </p:txBody>
      </p:sp>
    </p:spTree>
    <p:extLst>
      <p:ext uri="{BB962C8B-B14F-4D97-AF65-F5344CB8AC3E}">
        <p14:creationId xmlns:p14="http://schemas.microsoft.com/office/powerpoint/2010/main" val="263879691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779780" y="3128918"/>
            <a:ext cx="10632440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algn="ctr" defTabSz="292100" hangingPunct="0"/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Thanks</a:t>
            </a:r>
            <a:endParaRPr lang="en-US" sz="2800" b="1" kern="0" dirty="0">
              <a:solidFill>
                <a:srgbClr val="FFFFFF">
                  <a:lumMod val="95000"/>
                </a:srgbClr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874969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2081</Words>
  <Application>Microsoft Macintosh PowerPoint</Application>
  <PresentationFormat>宽屏</PresentationFormat>
  <Paragraphs>248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-apple-system</vt:lpstr>
      <vt:lpstr>Arial</vt:lpstr>
      <vt:lpstr>Calibri</vt:lpstr>
      <vt:lpstr>Consolas</vt:lpstr>
      <vt:lpstr>Gill Sans MT</vt:lpstr>
      <vt:lpstr>Helvetica</vt:lpstr>
      <vt:lpstr>Helvetica Light</vt:lpstr>
      <vt:lpstr>Helvetica Neue Light</vt:lpstr>
      <vt:lpstr>Wingdings</vt:lpstr>
      <vt:lpstr>White</vt:lpstr>
      <vt:lpstr>PowerPoint 演示文稿</vt:lpstr>
      <vt:lpstr>Reminder</vt:lpstr>
      <vt:lpstr>Reminder</vt:lpstr>
      <vt:lpstr>Reminder</vt:lpstr>
      <vt:lpstr>Overview</vt:lpstr>
      <vt:lpstr>Semaphores in &lt;semaphore.h&gt;</vt:lpstr>
      <vt:lpstr>1. sem_init</vt:lpstr>
      <vt:lpstr>2. sem_open</vt:lpstr>
      <vt:lpstr>2. sem_open</vt:lpstr>
      <vt:lpstr>3. sem_trywait</vt:lpstr>
      <vt:lpstr>4. sem_destroy</vt:lpstr>
      <vt:lpstr>5. sem_close</vt:lpstr>
      <vt:lpstr>6. sem_unlink</vt:lpstr>
      <vt:lpstr>Example: Semaphores in Process Synchronization</vt:lpstr>
      <vt:lpstr>Example: Named Semaphore</vt:lpstr>
      <vt:lpstr>Example: Named Semaphore</vt:lpstr>
      <vt:lpstr>Example: Named Semaphore</vt:lpstr>
      <vt:lpstr>Example: Named Semaphore</vt:lpstr>
      <vt:lpstr>Example: Named Semaphore</vt:lpstr>
      <vt:lpstr>Example: Unnamed Semaphore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Jianqiang</dc:creator>
  <cp:lastModifiedBy>Yicheng Feng</cp:lastModifiedBy>
  <cp:revision>56</cp:revision>
  <dcterms:created xsi:type="dcterms:W3CDTF">2023-01-06T06:17:44Z</dcterms:created>
  <dcterms:modified xsi:type="dcterms:W3CDTF">2026-02-11T05:32:20Z</dcterms:modified>
</cp:coreProperties>
</file>