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613" r:id="rId2"/>
    <p:sldId id="635" r:id="rId3"/>
    <p:sldId id="624" r:id="rId4"/>
    <p:sldId id="625" r:id="rId5"/>
    <p:sldId id="626" r:id="rId6"/>
    <p:sldId id="627" r:id="rId7"/>
    <p:sldId id="628" r:id="rId8"/>
    <p:sldId id="629" r:id="rId9"/>
    <p:sldId id="630" r:id="rId10"/>
    <p:sldId id="631" r:id="rId11"/>
    <p:sldId id="632" r:id="rId12"/>
    <p:sldId id="633" r:id="rId13"/>
    <p:sldId id="63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8082B1-0D0D-71C6-1EA1-B742AB2BF174}" v="26" dt="2024-09-17T03:38:38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51E9F-A845-4914-A3CC-CC345012599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ED8A1-9A08-4DDC-ACAE-443678235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34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6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018315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73946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59420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537771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744610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146546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953840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369947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115605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825674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016365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17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51686ED8-374A-AFA5-27CC-BADD1D5E79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27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>
            <a:lvl1pPr defTabSz="412750">
              <a:defRPr sz="6000" baseline="1666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059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8070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"/>
          <p:cNvSpPr/>
          <p:nvPr/>
        </p:nvSpPr>
        <p:spPr>
          <a:xfrm>
            <a:off x="0" y="0"/>
            <a:ext cx="12192000" cy="941294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4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75383" y="0"/>
            <a:ext cx="10593290" cy="9412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229567"/>
            <a:ext cx="10502900" cy="46482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00080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2563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52" name="Rectangle"/>
          <p:cNvSpPr/>
          <p:nvPr/>
        </p:nvSpPr>
        <p:spPr>
          <a:xfrm>
            <a:off x="0" y="6507659"/>
            <a:ext cx="12192000" cy="367110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7568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61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DB323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43783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F4C20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104784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9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3CBA5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1072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00079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63B76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345627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EDC44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43600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CA423E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1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52670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"/>
          <p:cNvSpPr/>
          <p:nvPr/>
        </p:nvSpPr>
        <p:spPr>
          <a:xfrm>
            <a:off x="0" y="-16768"/>
            <a:ext cx="12192000" cy="6032004"/>
          </a:xfrm>
          <a:prstGeom prst="rect">
            <a:avLst/>
          </a:prstGeom>
          <a:solidFill>
            <a:srgbClr val="419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/>
          <a:lstStyle>
            <a:lvl1pPr algn="ctr" defTabSz="412750">
              <a:defRPr sz="6000" b="0" baseline="1666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078372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2193727" y="178594"/>
            <a:ext cx="7804547" cy="1518048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410766">
              <a:defRPr sz="3500" b="0" baseline="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2193727" y="1821656"/>
            <a:ext cx="7804547" cy="442019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222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1pPr>
            <a:lvl2pPr marL="4445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2pPr>
            <a:lvl3pPr marL="6667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3pPr>
            <a:lvl4pPr marL="8890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4pPr>
            <a:lvl5pPr marL="1111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7052" y="6536531"/>
            <a:ext cx="322203" cy="313546"/>
          </a:xfrm>
          <a:prstGeom prst="rect">
            <a:avLst/>
          </a:prstGeom>
        </p:spPr>
        <p:txBody>
          <a:bodyPr lIns="71437" tIns="71437" rIns="71437" bIns="71437"/>
          <a:lstStyle>
            <a:lvl1pPr defTabSz="410766">
              <a:def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45070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14A3-DCCD-1F67-5A43-D409DDA7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9C241-D7F8-3937-C18B-364EFE4B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11B77-9054-FFAD-AEB3-F44121FC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DD41-9B81-A544-8498-92133950A0E4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A69CF-9400-12F2-90B6-21413E60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5769-C2E4-40A2-0D1B-A3522EC4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991F-E3FA-3A41-8A65-A6D6C0B5A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90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99356" y="177800"/>
            <a:ext cx="1059329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30016" y="6400800"/>
            <a:ext cx="381515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defTabSz="412750">
              <a:defRPr sz="1800">
                <a:solidFill>
                  <a:srgbClr val="000000"/>
                </a:solidFill>
                <a:latin typeface="Gill Sans MT" panose="020B050202010402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/>
  <p:hf hdr="0" ftr="0" dt="0"/>
  <p:txStyles>
    <p:titleStyle>
      <a:lvl1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28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606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2pPr>
      <a:lvl3pPr marL="924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3pPr>
      <a:lvl4pPr marL="1241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4pPr>
      <a:lvl5pPr marL="155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5pPr>
      <a:lvl6pPr marL="1924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6pPr>
      <a:lvl7pPr marL="2242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7pPr>
      <a:lvl8pPr marL="2559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8pPr>
      <a:lvl9pPr marL="2877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C13C63-B26A-4A9C-A1CA-724346AB290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</p:spPr>
        <p:txBody>
          <a:bodyPr>
            <a:normAutofit/>
          </a:bodyPr>
          <a:lstStyle/>
          <a:p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Shaofeng Wu</a:t>
            </a:r>
          </a:p>
          <a:p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wsf123@link.cuhk.edu.hk</a:t>
            </a:r>
          </a:p>
          <a:p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J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an 22</a:t>
            </a:r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,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889000" y="1489226"/>
            <a:ext cx="10632440" cy="10310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Assignment 1: System Calls</a:t>
            </a:r>
          </a:p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CSCI3150 Introduction to Operating Systems, Spring 2026</a:t>
            </a:r>
          </a:p>
        </p:txBody>
      </p:sp>
    </p:spTree>
    <p:extLst>
      <p:ext uri="{BB962C8B-B14F-4D97-AF65-F5344CB8AC3E}">
        <p14:creationId xmlns:p14="http://schemas.microsoft.com/office/powerpoint/2010/main" val="280851316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R</a:t>
            </a:r>
            <a:r>
              <a:rPr lang="en-US" altLang="zh-CN" dirty="0"/>
              <a:t>eminder:</a:t>
            </a:r>
            <a:r>
              <a:rPr lang="zh-CN" altLang="en-US" dirty="0"/>
              <a:t> </a:t>
            </a:r>
            <a:r>
              <a:rPr lang="en-US" altLang="zh-CN" dirty="0"/>
              <a:t>Assignment 1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Assignment 1: Implementation of A Simple Shell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HK" sz="2100" dirty="0"/>
              <a:t>Understanding how to interact with an operating system, e.g. Linux</a:t>
            </a:r>
            <a:endParaRPr kumimoji="0" lang="en-HK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Implement a basic shell that supports 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Built-in commands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External commands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Understanding the design choices and rationales of a shell</a:t>
            </a:r>
          </a:p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Deadline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HK" sz="2100" dirty="0">
                <a:solidFill>
                  <a:srgbClr val="FF0000"/>
                </a:solidFill>
                <a:cs typeface="Helvetica"/>
              </a:rPr>
              <a:t>Jan 26, 2026, 11:59 p.m.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algn="ctr" hangingPunct="0"/>
            <a:fld id="{86CB4B4D-7CA3-9044-876B-883B54F8677D}" type="slidenum">
              <a:rPr lang="en-US" kern="0">
                <a:cs typeface="Helvetica"/>
                <a:sym typeface="Helvetica"/>
              </a:rPr>
              <a:pPr algn="ctr" hangingPunct="0"/>
              <a:t>2</a:t>
            </a:fld>
            <a:endParaRPr lang="en-US" kern="0"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1023445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(1/1)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Tutorial last week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HK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Behavior</a:t>
            </a: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of a bash shell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Built-in commands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External commands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HK" sz="2100" dirty="0">
                <a:cs typeface="Helvetica"/>
              </a:rPr>
              <a:t>Code walk of asg1</a:t>
            </a:r>
            <a:endParaRPr kumimoji="0" lang="en-HK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Tutorial this week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System calls in C programming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fork &amp; exec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dup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</a:t>
            </a:r>
            <a:endParaRPr kumimoji="0" lang="en-HK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666F3-2E33-F336-CBC8-9499F9D78784}"/>
              </a:ext>
            </a:extLst>
          </p:cNvPr>
          <p:cNvSpPr txBox="1"/>
          <p:nvPr/>
        </p:nvSpPr>
        <p:spPr>
          <a:xfrm>
            <a:off x="5514556" y="2160393"/>
            <a:ext cx="6171565" cy="923330"/>
          </a:xfrm>
          <a:prstGeom prst="rect">
            <a:avLst/>
          </a:prstGeom>
          <a:solidFill>
            <a:srgbClr val="FFC000"/>
          </a:solidFill>
          <a:ln w="5715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202020"/>
                </a:solidFill>
                <a:latin typeface="Gill Sans MT" panose="020B0502020104020203" pitchFamily="34" charset="0"/>
              </a:rPr>
              <a:t>All examples used in this tutorial:</a:t>
            </a:r>
          </a:p>
          <a:p>
            <a:pPr algn="ctr"/>
            <a:r>
              <a:rPr lang="en-US" altLang="zh-CN" b="1" dirty="0">
                <a:solidFill>
                  <a:srgbClr val="202020"/>
                </a:solidFill>
                <a:latin typeface="Gill Sans MT" panose="020B0502020104020203" pitchFamily="34" charset="0"/>
              </a:rPr>
              <a:t>https://github.com/henryhxu/CSCI3150/tree/2026-Spring/tutorial/T03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772781-1465-F35B-28E9-8AEC36B0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172" y="3774278"/>
            <a:ext cx="3783369" cy="284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1367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&amp; Exec (1/3)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7865" y="1280861"/>
            <a:ext cx="5396134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000" b="1" dirty="0">
                <a:cs typeface="Helvetica"/>
              </a:rPr>
              <a:t>Fork &amp; wait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Function prototype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pid_t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fork(void);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pid_t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wait(int *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wstatus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);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fork() is used to create child processes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wait() is used to let the parent wait for one of its child to terminate 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The child process created with fork() is an exact duplicate of the parent process except for several points(process id, memory lock, …)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en-HK" sz="1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框 8">
            <a:extLst>
              <a:ext uri="{FF2B5EF4-FFF2-40B4-BE49-F238E27FC236}">
                <a16:creationId xmlns:a16="http://schemas.microsoft.com/office/drawing/2014/main" id="{3E00218D-7891-8ADE-ECC3-225D3F01C25D}"/>
              </a:ext>
            </a:extLst>
          </p:cNvPr>
          <p:cNvSpPr txBox="1"/>
          <p:nvPr/>
        </p:nvSpPr>
        <p:spPr>
          <a:xfrm>
            <a:off x="58001" y="1124663"/>
            <a:ext cx="6601879" cy="5586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 &lt;sys/</a:t>
            </a:r>
            <a:r>
              <a:rPr lang="en-HK" sz="1050" dirty="0" err="1">
                <a:solidFill>
                  <a:srgbClr val="0F4A85"/>
                </a:solidFill>
                <a:latin typeface="Consolas" panose="020B0609020204030204" pitchFamily="49" charset="0"/>
              </a:rPr>
              <a:t>wait.h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05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 &lt;</a:t>
            </a:r>
            <a:r>
              <a:rPr lang="en-HK" sz="1050" dirty="0" err="1">
                <a:solidFill>
                  <a:srgbClr val="0F4A85"/>
                </a:solidFill>
                <a:latin typeface="Consolas" panose="020B0609020204030204" pitchFamily="49" charset="0"/>
              </a:rPr>
              <a:t>stdio.h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05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 &lt;</a:t>
            </a:r>
            <a:r>
              <a:rPr lang="en-HK" sz="1050" dirty="0" err="1">
                <a:solidFill>
                  <a:srgbClr val="0F4A85"/>
                </a:solidFill>
                <a:latin typeface="Consolas" panose="020B0609020204030204" pitchFamily="49" charset="0"/>
              </a:rPr>
              <a:t>stdlib.h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05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 &lt;</a:t>
            </a:r>
            <a:r>
              <a:rPr lang="en-HK" sz="1050" dirty="0" err="1">
                <a:solidFill>
                  <a:srgbClr val="0F4A85"/>
                </a:solidFill>
                <a:latin typeface="Consolas" panose="020B0609020204030204" pitchFamily="49" charset="0"/>
              </a:rPr>
              <a:t>unistd.h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05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b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int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5E2CBC"/>
                </a:solidFill>
                <a:latin typeface="Consolas" panose="020B0609020204030204" pitchFamily="49" charset="0"/>
              </a:rPr>
              <a:t>main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(){</a:t>
            </a:r>
          </a:p>
          <a:p>
            <a:b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050" dirty="0" err="1">
                <a:solidFill>
                  <a:srgbClr val="0F4A85"/>
                </a:solidFill>
                <a:latin typeface="Consolas" panose="020B0609020204030204" pitchFamily="49" charset="0"/>
              </a:rPr>
              <a:t>pid_t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pid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int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status;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int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wait_return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for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int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i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; 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i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10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; 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i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HK" sz="1050" dirty="0">
                <a:solidFill>
                  <a:srgbClr val="515151"/>
                </a:solidFill>
                <a:latin typeface="Consolas" panose="020B0609020204030204" pitchFamily="49" charset="0"/>
              </a:rPr>
              <a:t>        /* create 10 child processes in parent process */</a:t>
            </a:r>
            <a:endParaRPr lang="en-HK" sz="105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    </a:t>
            </a:r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if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pid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        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pid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5E2CBC"/>
                </a:solidFill>
                <a:latin typeface="Consolas" panose="020B0609020204030204" pitchFamily="49" charset="0"/>
              </a:rPr>
              <a:t>fork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        </a:t>
            </a:r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if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pid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HK" sz="1050" dirty="0" err="1">
                <a:solidFill>
                  <a:srgbClr val="5E2CBC"/>
                </a:solidFill>
                <a:latin typeface="Consolas" panose="020B0609020204030204" pitchFamily="49" charset="0"/>
              </a:rPr>
              <a:t>printf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"fork() failed</a:t>
            </a:r>
            <a:r>
              <a:rPr lang="en-HK" sz="105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HK" sz="1050" dirty="0">
                <a:solidFill>
                  <a:srgbClr val="5E2CBC"/>
                </a:solidFill>
                <a:latin typeface="Consolas" panose="020B0609020204030204" pitchFamily="49" charset="0"/>
              </a:rPr>
              <a:t>exit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1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        }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if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pid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    </a:t>
            </a:r>
            <a:r>
              <a:rPr lang="en-HK" sz="1050" dirty="0" err="1">
                <a:solidFill>
                  <a:srgbClr val="5E2CBC"/>
                </a:solidFill>
                <a:latin typeface="Consolas" panose="020B0609020204030204" pitchFamily="49" charset="0"/>
              </a:rPr>
              <a:t>printf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"Hello from child </a:t>
            </a:r>
            <a:r>
              <a:rPr lang="en-HK" sz="1050" dirty="0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en-HK" sz="105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,</a:t>
            </a:r>
            <a:r>
              <a:rPr lang="en-HK" sz="1050" dirty="0">
                <a:solidFill>
                  <a:srgbClr val="5E2CB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dirty="0" err="1">
                <a:solidFill>
                  <a:srgbClr val="5E2CBC"/>
                </a:solidFill>
                <a:latin typeface="Consolas" panose="020B0609020204030204" pitchFamily="49" charset="0"/>
              </a:rPr>
              <a:t>getpid</a:t>
            </a:r>
            <a:r>
              <a:rPr lang="en-HK" altLang="zh-CN" sz="1050" dirty="0">
                <a:solidFill>
                  <a:srgbClr val="292929"/>
                </a:solidFill>
                <a:latin typeface="Consolas" panose="020B0609020204030204" pitchFamily="49" charset="0"/>
              </a:rPr>
              <a:t>()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    </a:t>
            </a:r>
            <a:r>
              <a:rPr lang="en-HK" sz="1050" dirty="0">
                <a:solidFill>
                  <a:srgbClr val="5E2CBC"/>
                </a:solidFill>
                <a:latin typeface="Consolas" panose="020B0609020204030204" pitchFamily="49" charset="0"/>
              </a:rPr>
              <a:t>exit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HK" sz="1050" dirty="0">
                <a:solidFill>
                  <a:srgbClr val="515151"/>
                </a:solidFill>
                <a:latin typeface="Consolas" panose="020B0609020204030204" pitchFamily="49" charset="0"/>
              </a:rPr>
              <a:t>    /* wait for all child to terminate by checking the return value of wait */</a:t>
            </a:r>
            <a:endParaRPr lang="en-HK" sz="105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while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((</a:t>
            </a:r>
            <a:r>
              <a:rPr lang="en-HK" sz="1050" dirty="0" err="1">
                <a:solidFill>
                  <a:srgbClr val="292929"/>
                </a:solidFill>
                <a:latin typeface="Consolas" panose="020B0609020204030204" pitchFamily="49" charset="0"/>
              </a:rPr>
              <a:t>wait_return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5E2CBC"/>
                </a:solidFill>
                <a:latin typeface="Consolas" panose="020B0609020204030204" pitchFamily="49" charset="0"/>
              </a:rPr>
              <a:t>wait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status)) </a:t>
            </a:r>
            <a:r>
              <a:rPr lang="en-HK" sz="105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){;}</a:t>
            </a:r>
          </a:p>
          <a:p>
            <a:b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050" dirty="0" err="1">
                <a:solidFill>
                  <a:srgbClr val="5E2CBC"/>
                </a:solidFill>
                <a:latin typeface="Consolas" panose="020B0609020204030204" pitchFamily="49" charset="0"/>
              </a:rPr>
              <a:t>printf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"All child terminated</a:t>
            </a:r>
            <a:r>
              <a:rPr lang="en-HK" sz="105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HK" sz="105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050" dirty="0">
                <a:solidFill>
                  <a:srgbClr val="B5200D"/>
                </a:solidFill>
                <a:latin typeface="Consolas" panose="020B0609020204030204" pitchFamily="49" charset="0"/>
              </a:rPr>
              <a:t>return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05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HK" sz="1050" dirty="0">
                <a:solidFill>
                  <a:srgbClr val="292929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28813-FD25-B04C-BF5B-4CD5267A682C}"/>
              </a:ext>
            </a:extLst>
          </p:cNvPr>
          <p:cNvSpPr txBox="1"/>
          <p:nvPr/>
        </p:nvSpPr>
        <p:spPr>
          <a:xfrm>
            <a:off x="4348478" y="1244986"/>
            <a:ext cx="17617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example1.c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98656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&amp; Exec (2/3)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1383" y="1280861"/>
            <a:ext cx="5690616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1800" b="1" dirty="0">
                <a:cs typeface="Helvetica"/>
              </a:rPr>
              <a:t>The exec() system call family: 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execl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(const char *pathname, const char *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, ... /*, (char *) NULL */);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execlp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(const char *file, const char *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, ... /*, (char *) NULL */);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execle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(const char *pathname, const char *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, ... /*, (char *) NULL, char *const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envp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[] */);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execv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(const char *pathname, char *const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argv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[]);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execvp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(const char *file, char *const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argv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[]);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execvpe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(const char *file, char *const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argv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[], char *const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envp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[]);</a:t>
            </a:r>
          </a:p>
          <a:p>
            <a:pPr marL="317500" marR="0" lvl="1" indent="0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kumimoji="0" lang="en-HK" sz="20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文本框 8">
            <a:extLst>
              <a:ext uri="{FF2B5EF4-FFF2-40B4-BE49-F238E27FC236}">
                <a16:creationId xmlns:a16="http://schemas.microsoft.com/office/drawing/2014/main" id="{7EE45859-8B74-CD35-C8F3-849759F3278B}"/>
              </a:ext>
            </a:extLst>
          </p:cNvPr>
          <p:cNvSpPr txBox="1"/>
          <p:nvPr/>
        </p:nvSpPr>
        <p:spPr>
          <a:xfrm>
            <a:off x="275383" y="1086525"/>
            <a:ext cx="6096000" cy="5693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#define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 _GNU_SOURCE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 &lt;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stdio.h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 &lt;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stdlib.h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 &lt;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unistd.h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b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int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5E2CBC"/>
                </a:solidFill>
                <a:latin typeface="Consolas" panose="020B0609020204030204" pitchFamily="49" charset="0"/>
              </a:rPr>
              <a:t>main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(){</a:t>
            </a:r>
          </a:p>
          <a:p>
            <a:b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char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file_name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“./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my_env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char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HK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argv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[</a:t>
            </a:r>
            <a:r>
              <a:rPr lang="en-HK" sz="1400" dirty="0">
                <a:solidFill>
                  <a:srgbClr val="096D48"/>
                </a:solidFill>
                <a:latin typeface="Consolas" panose="020B0609020204030204" pitchFamily="49" charset="0"/>
              </a:rPr>
              <a:t>32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]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{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my_env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, 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NULL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}; 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char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HK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envp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[</a:t>
            </a:r>
            <a:r>
              <a:rPr lang="en-HK" sz="1400" dirty="0">
                <a:solidFill>
                  <a:srgbClr val="096D48"/>
                </a:solidFill>
                <a:latin typeface="Consolas" panose="020B0609020204030204" pitchFamily="49" charset="0"/>
              </a:rPr>
              <a:t>2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]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{ 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"ABC=1"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, 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NULL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    /* execute the command */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b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//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execl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("/bin/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my_env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",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argv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[0], NULL);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//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execlp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file_name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,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argv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[0], NULL);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//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execle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("/bin/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my_env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",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argv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[0], NULL,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envp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);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b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//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execv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("/bin/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my_env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",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argv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);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//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execvp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file_name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, </a:t>
            </a:r>
            <a:r>
              <a:rPr lang="en-HK" sz="1400" dirty="0" err="1">
                <a:solidFill>
                  <a:srgbClr val="515151"/>
                </a:solidFill>
                <a:latin typeface="Consolas" panose="020B0609020204030204" pitchFamily="49" charset="0"/>
              </a:rPr>
              <a:t>argv</a:t>
            </a:r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);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 err="1">
                <a:solidFill>
                  <a:srgbClr val="5E2CBC"/>
                </a:solidFill>
                <a:latin typeface="Consolas" panose="020B0609020204030204" pitchFamily="49" charset="0"/>
              </a:rPr>
              <a:t>execvpe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file_name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, 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argv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, 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envp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 err="1">
                <a:solidFill>
                  <a:srgbClr val="5E2CBC"/>
                </a:solidFill>
                <a:latin typeface="Consolas" panose="020B0609020204030204" pitchFamily="49" charset="0"/>
              </a:rPr>
              <a:t>printf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"We just arrive at a line of code after exec()</a:t>
            </a:r>
            <a:r>
              <a:rPr lang="en-HK" sz="14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return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11B85-1C2F-4DBF-35CA-8DCBE468A6FA}"/>
              </a:ext>
            </a:extLst>
          </p:cNvPr>
          <p:cNvSpPr txBox="1"/>
          <p:nvPr/>
        </p:nvSpPr>
        <p:spPr>
          <a:xfrm>
            <a:off x="4348478" y="1244986"/>
            <a:ext cx="17617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example2.c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231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&amp; Exec (3/3)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3871" y="2999933"/>
            <a:ext cx="5690616" cy="1242883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000" b="1" dirty="0">
                <a:cs typeface="Helvetica"/>
              </a:rPr>
              <a:t>Combining fork() and exec()?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Child process will have its own image, no longer a duplicate of its parent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en-HK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框 8">
            <a:extLst>
              <a:ext uri="{FF2B5EF4-FFF2-40B4-BE49-F238E27FC236}">
                <a16:creationId xmlns:a16="http://schemas.microsoft.com/office/drawing/2014/main" id="{E4402189-FB2B-B75C-F07B-ABD686DA4834}"/>
              </a:ext>
            </a:extLst>
          </p:cNvPr>
          <p:cNvSpPr txBox="1"/>
          <p:nvPr/>
        </p:nvSpPr>
        <p:spPr>
          <a:xfrm>
            <a:off x="117513" y="1084202"/>
            <a:ext cx="6096000" cy="5478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 &lt;sys/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wait.h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 &lt;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stdio.h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 &lt;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stdlib.h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#include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 &lt;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unistd.h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&gt;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b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int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5E2CBC"/>
                </a:solidFill>
                <a:latin typeface="Consolas" panose="020B0609020204030204" pitchFamily="49" charset="0"/>
              </a:rPr>
              <a:t>main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(){</a:t>
            </a:r>
          </a:p>
          <a:p>
            <a:b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pid_t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pid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pid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5E2CBC"/>
                </a:solidFill>
                <a:latin typeface="Consolas" panose="020B0609020204030204" pitchFamily="49" charset="0"/>
              </a:rPr>
              <a:t>fork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if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pid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HK" sz="1400" dirty="0">
                <a:solidFill>
                  <a:srgbClr val="096D48"/>
                </a:solidFill>
                <a:latin typeface="Consolas" panose="020B0609020204030204" pitchFamily="49" charset="0"/>
              </a:rPr>
              <a:t>1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    </a:t>
            </a:r>
            <a:r>
              <a:rPr lang="en-HK" sz="1400" dirty="0" err="1">
                <a:solidFill>
                  <a:srgbClr val="5E2CBC"/>
                </a:solidFill>
                <a:latin typeface="Consolas" panose="020B0609020204030204" pitchFamily="49" charset="0"/>
              </a:rPr>
              <a:t>printf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"Fork error</a:t>
            </a:r>
            <a:r>
              <a:rPr lang="en-HK" sz="14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    </a:t>
            </a:r>
            <a:r>
              <a:rPr lang="en-HK" sz="1400" dirty="0">
                <a:solidFill>
                  <a:srgbClr val="5E2CBC"/>
                </a:solidFill>
                <a:latin typeface="Consolas" panose="020B0609020204030204" pitchFamily="49" charset="0"/>
              </a:rPr>
              <a:t>exit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HK" sz="1400" dirty="0">
                <a:solidFill>
                  <a:srgbClr val="096D48"/>
                </a:solidFill>
                <a:latin typeface="Consolas" panose="020B0609020204030204" pitchFamily="49" charset="0"/>
              </a:rPr>
              <a:t>1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else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if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pid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        /* parent */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    </a:t>
            </a:r>
            <a:r>
              <a:rPr lang="en-HK" sz="1400" dirty="0" err="1">
                <a:solidFill>
                  <a:srgbClr val="5E2CBC"/>
                </a:solidFill>
                <a:latin typeface="Consolas" panose="020B0609020204030204" pitchFamily="49" charset="0"/>
              </a:rPr>
              <a:t>printf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"parent is doing something</a:t>
            </a:r>
            <a:r>
              <a:rPr lang="en-HK" sz="14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    </a:t>
            </a:r>
            <a:r>
              <a:rPr lang="en-HK" sz="1400" dirty="0">
                <a:solidFill>
                  <a:srgbClr val="5E2CBC"/>
                </a:solidFill>
                <a:latin typeface="Consolas" panose="020B0609020204030204" pitchFamily="49" charset="0"/>
              </a:rPr>
              <a:t>sleep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>
                <a:solidFill>
                  <a:srgbClr val="096D48"/>
                </a:solidFill>
                <a:latin typeface="Consolas" panose="020B0609020204030204" pitchFamily="49" charset="0"/>
              </a:rPr>
              <a:t>5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    </a:t>
            </a:r>
            <a:r>
              <a:rPr lang="en-HK" sz="1400" dirty="0" err="1">
                <a:solidFill>
                  <a:srgbClr val="5E2CBC"/>
                </a:solidFill>
                <a:latin typeface="Consolas" panose="020B0609020204030204" pitchFamily="49" charset="0"/>
              </a:rPr>
              <a:t>printf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"parent finished its task"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else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HK" sz="1400" dirty="0">
                <a:solidFill>
                  <a:srgbClr val="515151"/>
                </a:solidFill>
                <a:latin typeface="Consolas" panose="020B0609020204030204" pitchFamily="49" charset="0"/>
              </a:rPr>
              <a:t>        /* child */</a:t>
            </a:r>
            <a:endParaRPr lang="en-HK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    </a:t>
            </a:r>
            <a:r>
              <a:rPr lang="en-HK" sz="1400" dirty="0" err="1">
                <a:solidFill>
                  <a:srgbClr val="5E2CBC"/>
                </a:solidFill>
                <a:latin typeface="Consolas" panose="020B0609020204030204" pitchFamily="49" charset="0"/>
              </a:rPr>
              <a:t>execlp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(</a:t>
            </a:r>
            <a:r>
              <a:rPr lang="en-HK" sz="1400" dirty="0">
                <a:solidFill>
                  <a:srgbClr val="0F4A85"/>
                </a:solidFill>
                <a:latin typeface="Consolas" panose="020B0609020204030204" pitchFamily="49" charset="0"/>
              </a:rPr>
              <a:t>"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ls"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,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"ls"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,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"-a"</a:t>
            </a:r>
            <a:r>
              <a:rPr lang="en-HK" sz="1400" dirty="0" err="1">
                <a:solidFill>
                  <a:srgbClr val="292929"/>
                </a:solidFill>
                <a:latin typeface="Consolas" panose="020B0609020204030204" pitchFamily="49" charset="0"/>
              </a:rPr>
              <a:t>,</a:t>
            </a:r>
            <a:r>
              <a:rPr lang="en-HK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NULL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    </a:t>
            </a:r>
            <a:r>
              <a:rPr lang="en-HK" sz="1400" dirty="0">
                <a:solidFill>
                  <a:srgbClr val="B5200D"/>
                </a:solidFill>
                <a:latin typeface="Consolas" panose="020B0609020204030204" pitchFamily="49" charset="0"/>
              </a:rPr>
              <a:t>return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en-HK" sz="1400" dirty="0">
                <a:solidFill>
                  <a:srgbClr val="096D48"/>
                </a:solidFill>
                <a:latin typeface="Consolas" panose="020B0609020204030204" pitchFamily="49" charset="0"/>
              </a:rPr>
              <a:t>0</a:t>
            </a:r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HK" sz="1400" dirty="0">
                <a:solidFill>
                  <a:srgbClr val="292929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A4115-D735-AA0B-2F7D-7D8D60C835A2}"/>
              </a:ext>
            </a:extLst>
          </p:cNvPr>
          <p:cNvSpPr txBox="1"/>
          <p:nvPr/>
        </p:nvSpPr>
        <p:spPr>
          <a:xfrm>
            <a:off x="4348478" y="1244986"/>
            <a:ext cx="17617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example3.c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97267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8">
            <a:extLst>
              <a:ext uri="{FF2B5EF4-FFF2-40B4-BE49-F238E27FC236}">
                <a16:creationId xmlns:a16="http://schemas.microsoft.com/office/drawing/2014/main" id="{72AFE265-3EE0-CF67-FB85-DF20A91BE0DD}"/>
              </a:ext>
            </a:extLst>
          </p:cNvPr>
          <p:cNvSpPr txBox="1"/>
          <p:nvPr/>
        </p:nvSpPr>
        <p:spPr>
          <a:xfrm>
            <a:off x="275383" y="1203343"/>
            <a:ext cx="6096000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&lt;stdlib.h&gt;</a:t>
            </a:r>
            <a:endParaRPr lang="en-US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&lt;unistd.h&gt;</a:t>
            </a:r>
            <a:endParaRPr lang="en-US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fcntl.h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b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file_path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"./test0.txt"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file_path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O_RDWR);</a:t>
            </a:r>
          </a:p>
          <a:p>
            <a:b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redirect standard output to the file */</a:t>
            </a:r>
            <a:endParaRPr lang="en-US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dup2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fd,STDOUT_FILENO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"------dup test ends------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 (1/1)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3871" y="1084202"/>
            <a:ext cx="5690616" cy="5316597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000" b="1" dirty="0">
                <a:cs typeface="Helvetica"/>
              </a:rPr>
              <a:t>dup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/>
                <a:cs typeface="Helvetica"/>
                <a:sym typeface="Helvetica"/>
              </a:rPr>
              <a:t>Function prototype</a:t>
            </a:r>
            <a:endParaRPr lang="en-US" sz="18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/>
              <a:cs typeface="Helvetica"/>
            </a:endParaRP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dup(int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oldfd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);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dup2(int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oldfd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, int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newfd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);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/>
                <a:cs typeface="Helvetica"/>
                <a:sym typeface="Helvetica"/>
              </a:rPr>
              <a:t>Allocates a new file descriptor that refers to the same open file description as the descriptor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/>
                <a:cs typeface="Helvetica"/>
                <a:sym typeface="Helvetica"/>
              </a:rPr>
              <a:t>oldfd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/>
                <a:cs typeface="Helvetica"/>
                <a:sym typeface="Helvetica"/>
              </a:rPr>
              <a:t>. For dup2, it specifically </a:t>
            </a:r>
            <a:r>
              <a:rPr lang="en-US" sz="1800" dirty="0">
                <a:latin typeface="Gill Sans MT"/>
                <a:cs typeface="Helvetica"/>
              </a:rPr>
              <a:t>uses </a:t>
            </a:r>
            <a:r>
              <a:rPr lang="en-US" sz="1800" dirty="0" err="1">
                <a:latin typeface="Gill Sans MT"/>
                <a:cs typeface="Helvetica"/>
              </a:rPr>
              <a:t>newfd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/>
                <a:cs typeface="Helvetica"/>
                <a:sym typeface="Helvetica"/>
              </a:rPr>
              <a:t> instead of allocating a new file descriptor.</a:t>
            </a:r>
            <a:endParaRPr lang="en-US" sz="18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/>
              <a:cs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/>
                <a:cs typeface="Helvetica"/>
                <a:sym typeface="Helvetica"/>
              </a:rPr>
              <a:t>On success, these system calls return the new file descriptor. On error, -1 is returned.</a:t>
            </a:r>
            <a:endParaRPr lang="en-US" sz="18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/>
              <a:cs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Question: How to restore standard output after the dup2()?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en-HK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A4115-D735-AA0B-2F7D-7D8D60C835A2}"/>
              </a:ext>
            </a:extLst>
          </p:cNvPr>
          <p:cNvSpPr txBox="1"/>
          <p:nvPr/>
        </p:nvSpPr>
        <p:spPr>
          <a:xfrm>
            <a:off x="4348478" y="1244986"/>
            <a:ext cx="17617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example4.c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436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(1/4)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726" y="1157354"/>
            <a:ext cx="5539862" cy="5316597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1800" b="1" dirty="0">
                <a:cs typeface="Helvetica"/>
              </a:rPr>
              <a:t>Pipe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System call for pipe creation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pipe(int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pipefd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[2])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 characteristics 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Unidirectional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“Half-duplex”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Byte-stream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How does the reader know EOF?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IPC between related processes(fork())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Notes for correctly using pipe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sng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Always close the un-used read/write end of a pipe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en-HK" sz="20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DFE1F7E-F87E-A9D7-392B-C5EBA5859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57354"/>
            <a:ext cx="5560982" cy="58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1AB48B6-53EC-305A-2AF0-8416D97E3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748" y="2764209"/>
            <a:ext cx="6087486" cy="143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箭头: 下 2">
            <a:extLst>
              <a:ext uri="{FF2B5EF4-FFF2-40B4-BE49-F238E27FC236}">
                <a16:creationId xmlns:a16="http://schemas.microsoft.com/office/drawing/2014/main" id="{13579561-D94C-52FD-3CA2-9B08EB6AB407}"/>
              </a:ext>
            </a:extLst>
          </p:cNvPr>
          <p:cNvSpPr/>
          <p:nvPr/>
        </p:nvSpPr>
        <p:spPr>
          <a:xfrm>
            <a:off x="8650200" y="2029175"/>
            <a:ext cx="452582" cy="625579"/>
          </a:xfrm>
          <a:prstGeom prst="downArrow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18A79C-1CA9-76CB-FC0E-A87CFC8D7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346" y="4906896"/>
            <a:ext cx="6087486" cy="143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乘号 7">
            <a:extLst>
              <a:ext uri="{FF2B5EF4-FFF2-40B4-BE49-F238E27FC236}">
                <a16:creationId xmlns:a16="http://schemas.microsoft.com/office/drawing/2014/main" id="{96D5BBEA-995B-54E3-BB5A-11985889A7F9}"/>
              </a:ext>
            </a:extLst>
          </p:cNvPr>
          <p:cNvSpPr/>
          <p:nvPr/>
        </p:nvSpPr>
        <p:spPr>
          <a:xfrm>
            <a:off x="6697055" y="5688461"/>
            <a:ext cx="535709" cy="683491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12" name="乘号 9">
            <a:extLst>
              <a:ext uri="{FF2B5EF4-FFF2-40B4-BE49-F238E27FC236}">
                <a16:creationId xmlns:a16="http://schemas.microsoft.com/office/drawing/2014/main" id="{695D7984-2E4C-5348-921D-2E7247C46606}"/>
              </a:ext>
            </a:extLst>
          </p:cNvPr>
          <p:cNvSpPr/>
          <p:nvPr/>
        </p:nvSpPr>
        <p:spPr>
          <a:xfrm>
            <a:off x="10608656" y="4815242"/>
            <a:ext cx="535709" cy="683491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ECC7D8A4-A3FB-1FE9-A04E-2E963DD0E521}"/>
              </a:ext>
            </a:extLst>
          </p:cNvPr>
          <p:cNvSpPr txBox="1"/>
          <p:nvPr/>
        </p:nvSpPr>
        <p:spPr>
          <a:xfrm>
            <a:off x="9304315" y="1998511"/>
            <a:ext cx="1275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  <a:latin typeface="Gill Sans MT" panose="020B0502020104020203" pitchFamily="34" charset="0"/>
              </a:rPr>
              <a:t>fork()</a:t>
            </a:r>
            <a:endParaRPr lang="en-US" altLang="zh-CN" b="1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14" name="箭头: 下 11">
            <a:extLst>
              <a:ext uri="{FF2B5EF4-FFF2-40B4-BE49-F238E27FC236}">
                <a16:creationId xmlns:a16="http://schemas.microsoft.com/office/drawing/2014/main" id="{81953AD4-E88C-8016-30EC-6A979ECB2A23}"/>
              </a:ext>
            </a:extLst>
          </p:cNvPr>
          <p:cNvSpPr/>
          <p:nvPr/>
        </p:nvSpPr>
        <p:spPr>
          <a:xfrm>
            <a:off x="8650200" y="4235490"/>
            <a:ext cx="452582" cy="625579"/>
          </a:xfrm>
          <a:prstGeom prst="downArrow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sp>
        <p:nvSpPr>
          <p:cNvPr id="15" name="文本框 12">
            <a:extLst>
              <a:ext uri="{FF2B5EF4-FFF2-40B4-BE49-F238E27FC236}">
                <a16:creationId xmlns:a16="http://schemas.microsoft.com/office/drawing/2014/main" id="{0482A7BF-1EE2-3E17-AAEA-82FF89DECB9A}"/>
              </a:ext>
            </a:extLst>
          </p:cNvPr>
          <p:cNvSpPr txBox="1"/>
          <p:nvPr/>
        </p:nvSpPr>
        <p:spPr>
          <a:xfrm>
            <a:off x="9291205" y="4230467"/>
            <a:ext cx="1462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Gill Sans MT" panose="020B0502020104020203" pitchFamily="34" charset="0"/>
              </a:rPr>
              <a:t>close()</a:t>
            </a:r>
            <a:endParaRPr lang="en-US" altLang="zh-CN" b="1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55766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8">
            <a:extLst>
              <a:ext uri="{FF2B5EF4-FFF2-40B4-BE49-F238E27FC236}">
                <a16:creationId xmlns:a16="http://schemas.microsoft.com/office/drawing/2014/main" id="{0CA50DB8-3837-1196-8CE2-41838A463148}"/>
              </a:ext>
            </a:extLst>
          </p:cNvPr>
          <p:cNvSpPr txBox="1"/>
          <p:nvPr/>
        </p:nvSpPr>
        <p:spPr>
          <a:xfrm>
            <a:off x="275383" y="1061980"/>
            <a:ext cx="6096000" cy="57708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&lt;stdlib.h&gt;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&lt;unistd.h&gt;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&lt;fcntl.h&gt;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readbuf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create a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ret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pipe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(ret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"create pipe error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write something into the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"------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sz="9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pipe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test1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------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"pipe test2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------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close the write end, EOF will be added into the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read from the pipe into a buffer until there is no content in the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readbuf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total_bytes_read))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print the content in the buffer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"total read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readbuf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readbuf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close read end of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(2/4)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3871" y="1084202"/>
            <a:ext cx="5690616" cy="5316597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000" b="1" dirty="0">
                <a:cs typeface="Helvetica"/>
              </a:rPr>
              <a:t>Basic usage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Function prototype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pipe(int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pipefd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[2]);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Pipe() creates a pipe, a unidirectional data channel that can be used for inter-process communication.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pipefd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[0]: read end of the pipe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pipefd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[1]: write end of the pipe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On success, zero is returned.  On error, -1 is returned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en-HK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A4115-D735-AA0B-2F7D-7D8D60C835A2}"/>
              </a:ext>
            </a:extLst>
          </p:cNvPr>
          <p:cNvSpPr txBox="1"/>
          <p:nvPr/>
        </p:nvSpPr>
        <p:spPr>
          <a:xfrm>
            <a:off x="4348478" y="1244986"/>
            <a:ext cx="17617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example5.c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96008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(3/4)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848" y="4359365"/>
            <a:ext cx="5690616" cy="2498636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1600" b="1" dirty="0">
                <a:cs typeface="Helvetica"/>
              </a:rPr>
              <a:t>IPC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/>
                <a:cs typeface="Helvetica"/>
                <a:sym typeface="Helvetica"/>
              </a:rPr>
              <a:t>Pipe is one of the </a:t>
            </a:r>
            <a:r>
              <a:rPr lang="en-US" sz="1400" dirty="0">
                <a:latin typeface="Gill Sans MT"/>
                <a:cs typeface="Helvetica"/>
              </a:rPr>
              <a:t>things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/>
                <a:cs typeface="Helvetica"/>
                <a:sym typeface="Helvetica"/>
              </a:rPr>
              <a:t> that will be inherited by child processes created with fork()</a:t>
            </a:r>
            <a:endParaRPr lang="en-US" sz="1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/>
              <a:cs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Inter process communication(IPC) can be achieved with pipe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pipefd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[0]: read end of the pipe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pipefd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[1]: write end of the pipe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/>
                <a:cs typeface="Helvetica"/>
                <a:sym typeface="Helvetica"/>
              </a:rPr>
              <a:t>On success, zero is returned.  On error, -1 is returned</a:t>
            </a:r>
            <a:endParaRPr lang="en-US" sz="1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/>
              <a:cs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en-HK" sz="18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A4115-D735-AA0B-2F7D-7D8D60C835A2}"/>
              </a:ext>
            </a:extLst>
          </p:cNvPr>
          <p:cNvSpPr txBox="1"/>
          <p:nvPr/>
        </p:nvSpPr>
        <p:spPr>
          <a:xfrm>
            <a:off x="4348478" y="1244986"/>
            <a:ext cx="17617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example6.c</a:t>
            </a:r>
            <a:endParaRPr lang="en-US" dirty="0"/>
          </a:p>
        </p:txBody>
      </p:sp>
      <p:sp>
        <p:nvSpPr>
          <p:cNvPr id="6" name="文本框 8">
            <a:extLst>
              <a:ext uri="{FF2B5EF4-FFF2-40B4-BE49-F238E27FC236}">
                <a16:creationId xmlns:a16="http://schemas.microsoft.com/office/drawing/2014/main" id="{2070A4B2-B29C-D55B-7D34-9986D3458A52}"/>
              </a:ext>
            </a:extLst>
          </p:cNvPr>
          <p:cNvSpPr txBox="1"/>
          <p:nvPr/>
        </p:nvSpPr>
        <p:spPr>
          <a:xfrm>
            <a:off x="6002527" y="1065808"/>
            <a:ext cx="6096000" cy="52168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fork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"fork"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 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    /* close un-</a:t>
            </a:r>
            <a:r>
              <a:rPr lang="en-US" sz="900" b="0" dirty="0" err="1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unsed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 write end of the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    /* read from parent process into the buffer*/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readbuf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total_bytes_read))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    /* print the content in the buffer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readbuf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"[Message from parent]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readbuf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    /* close un-used read end of the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292929"/>
                </a:solidFill>
                <a:latin typeface="Consolas" panose="020B0609020204030204" pitchFamily="49" charset="0"/>
              </a:rPr>
              <a:t>        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sleep(5);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    /* write something into the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"Hello child process"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    /* finished writing, close write end so child sees EOF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    /* wait for the child process to terminate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wait_return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status))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19BC028A-A476-B4AA-E733-117AAE791C2D}"/>
              </a:ext>
            </a:extLst>
          </p:cNvPr>
          <p:cNvSpPr txBox="1"/>
          <p:nvPr/>
        </p:nvSpPr>
        <p:spPr>
          <a:xfrm>
            <a:off x="275383" y="1081544"/>
            <a:ext cx="5603910" cy="32778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assert.h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signal.h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stdbool.h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n-US" sz="900" b="0" dirty="0" err="1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&lt;sys/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wait.h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/* wait, sleep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/* fork, write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pid_t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wait_return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status;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total_bytes_read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readbuf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create a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ret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pipe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(ret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"create pipe error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68985530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(4/4)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1575" y="1084203"/>
            <a:ext cx="5690616" cy="5316597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1800" b="1" dirty="0">
                <a:cs typeface="Helvetica"/>
              </a:rPr>
              <a:t>Pipe w/ read/write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example6.c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If all file descriptors referring to the write end of a pipe have been closed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Read from pipe will see end-of-file(EOF)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If a process attempts to read from an empty pipe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Read will block until data is available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example7.c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If all file descriptors referring to the read end of a pipe have been closed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Write to the pipe will generate SIGPIPE for the process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If a process attempts to write to a full pipe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Write blocks until sufficient data has been read from the pipe to allow the write to complete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en-HK" sz="20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A4115-D735-AA0B-2F7D-7D8D60C835A2}"/>
              </a:ext>
            </a:extLst>
          </p:cNvPr>
          <p:cNvSpPr txBox="1"/>
          <p:nvPr/>
        </p:nvSpPr>
        <p:spPr>
          <a:xfrm>
            <a:off x="4348478" y="1244986"/>
            <a:ext cx="17617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example7.c</a:t>
            </a:r>
            <a:endParaRPr lang="en-US" dirty="0"/>
          </a:p>
        </p:txBody>
      </p:sp>
      <p:sp>
        <p:nvSpPr>
          <p:cNvPr id="6" name="文本框 8">
            <a:extLst>
              <a:ext uri="{FF2B5EF4-FFF2-40B4-BE49-F238E27FC236}">
                <a16:creationId xmlns:a16="http://schemas.microsoft.com/office/drawing/2014/main" id="{0F45C583-3AE7-8389-A189-4EC30C42A2F9}"/>
              </a:ext>
            </a:extLst>
          </p:cNvPr>
          <p:cNvSpPr txBox="1"/>
          <p:nvPr/>
        </p:nvSpPr>
        <p:spPr>
          <a:xfrm>
            <a:off x="117513" y="1070371"/>
            <a:ext cx="6096000" cy="57708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assert.h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signal.h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n-US" sz="900" b="0" dirty="0" err="1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&lt;sys/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wait.h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/* wait, sleep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/* fork, write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signal_handler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s1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"SIGPIPE captured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s2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"Unknown Signal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(sig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SIGPIPE){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(STDOUT_FILENO, s1, 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(s1));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 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(STDOUT_FILENO, s2, 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(s2));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pid_t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create a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ret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pipe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(ret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"create pipe error</a:t>
            </a:r>
            <a:r>
              <a:rPr lang="en-US" sz="9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create a signal handler to capture signal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(SIGPIPE, </a:t>
            </a:r>
            <a:r>
              <a:rPr lang="en-US" sz="9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signal_handler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close all read end of the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writer something to the pipe */</a:t>
            </a:r>
            <a:endParaRPr lang="en-US" sz="9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pipe_fd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9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"test content"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318472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(1/1)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DBDE787-1C48-7F89-930D-777DB7475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816" y="2179576"/>
            <a:ext cx="3343199" cy="34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E4653A4C-54CE-D49D-C9E5-58363FDB9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689" y="3425298"/>
            <a:ext cx="3885597" cy="913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箭头: 下 4">
            <a:extLst>
              <a:ext uri="{FF2B5EF4-FFF2-40B4-BE49-F238E27FC236}">
                <a16:creationId xmlns:a16="http://schemas.microsoft.com/office/drawing/2014/main" id="{62FFA018-BDFF-793D-051C-D910D710BF89}"/>
              </a:ext>
            </a:extLst>
          </p:cNvPr>
          <p:cNvSpPr/>
          <p:nvPr/>
        </p:nvSpPr>
        <p:spPr>
          <a:xfrm>
            <a:off x="5490072" y="2886461"/>
            <a:ext cx="288000" cy="468000"/>
          </a:xfrm>
          <a:prstGeom prst="downArrow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ill Sans MT" panose="020B0502020104020203" pitchFamily="34" charset="0"/>
            </a:endParaRPr>
          </a:p>
        </p:txBody>
      </p:sp>
      <p:sp>
        <p:nvSpPr>
          <p:cNvPr id="10" name="文本框 10">
            <a:extLst>
              <a:ext uri="{FF2B5EF4-FFF2-40B4-BE49-F238E27FC236}">
                <a16:creationId xmlns:a16="http://schemas.microsoft.com/office/drawing/2014/main" id="{9156E9F7-4A9C-0AB3-3E1B-AD3C410C6702}"/>
              </a:ext>
            </a:extLst>
          </p:cNvPr>
          <p:cNvSpPr txBox="1"/>
          <p:nvPr/>
        </p:nvSpPr>
        <p:spPr>
          <a:xfrm>
            <a:off x="5800046" y="2901892"/>
            <a:ext cx="102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Gill Sans MT" panose="020B0502020104020203" pitchFamily="34" charset="0"/>
              </a:rPr>
              <a:t>2. fork()</a:t>
            </a:r>
            <a:endParaRPr lang="en-US" altLang="zh-CN" sz="1100" b="1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11" name="箭头: 下 11">
            <a:extLst>
              <a:ext uri="{FF2B5EF4-FFF2-40B4-BE49-F238E27FC236}">
                <a16:creationId xmlns:a16="http://schemas.microsoft.com/office/drawing/2014/main" id="{BBA1F8AE-64B8-7278-58BA-1A2409159540}"/>
              </a:ext>
            </a:extLst>
          </p:cNvPr>
          <p:cNvSpPr/>
          <p:nvPr/>
        </p:nvSpPr>
        <p:spPr>
          <a:xfrm>
            <a:off x="5484488" y="4402214"/>
            <a:ext cx="288000" cy="468000"/>
          </a:xfrm>
          <a:prstGeom prst="downArrow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文本框 12">
            <a:extLst>
              <a:ext uri="{FF2B5EF4-FFF2-40B4-BE49-F238E27FC236}">
                <a16:creationId xmlns:a16="http://schemas.microsoft.com/office/drawing/2014/main" id="{4584C6AB-0F40-96F1-1AEC-BE88DC03E8B4}"/>
              </a:ext>
            </a:extLst>
          </p:cNvPr>
          <p:cNvSpPr txBox="1"/>
          <p:nvPr/>
        </p:nvSpPr>
        <p:spPr>
          <a:xfrm>
            <a:off x="5753554" y="4445836"/>
            <a:ext cx="113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Gill Sans MT" panose="020B0502020104020203" pitchFamily="34" charset="0"/>
              </a:rPr>
              <a:t>3. close()</a:t>
            </a:r>
            <a:endParaRPr lang="en-US" altLang="zh-CN" sz="1100" b="1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sp>
        <p:nvSpPr>
          <p:cNvPr id="13" name="箭头: 下 13">
            <a:extLst>
              <a:ext uri="{FF2B5EF4-FFF2-40B4-BE49-F238E27FC236}">
                <a16:creationId xmlns:a16="http://schemas.microsoft.com/office/drawing/2014/main" id="{80E3AD84-FF83-B445-51E0-1329F6A232A3}"/>
              </a:ext>
            </a:extLst>
          </p:cNvPr>
          <p:cNvSpPr/>
          <p:nvPr/>
        </p:nvSpPr>
        <p:spPr>
          <a:xfrm>
            <a:off x="5484488" y="1645513"/>
            <a:ext cx="288000" cy="468000"/>
          </a:xfrm>
          <a:prstGeom prst="downArrow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ill Sans MT" panose="020B0502020104020203" pitchFamily="34" charset="0"/>
            </a:endParaRPr>
          </a:p>
        </p:txBody>
      </p:sp>
      <p:sp>
        <p:nvSpPr>
          <p:cNvPr id="14" name="文本框 14">
            <a:extLst>
              <a:ext uri="{FF2B5EF4-FFF2-40B4-BE49-F238E27FC236}">
                <a16:creationId xmlns:a16="http://schemas.microsoft.com/office/drawing/2014/main" id="{BD5A69C2-6855-AE1A-0EE8-F47BB3A7CC92}"/>
              </a:ext>
            </a:extLst>
          </p:cNvPr>
          <p:cNvSpPr txBox="1"/>
          <p:nvPr/>
        </p:nvSpPr>
        <p:spPr>
          <a:xfrm>
            <a:off x="5783888" y="1691693"/>
            <a:ext cx="104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Gill Sans MT" panose="020B0502020104020203" pitchFamily="34" charset="0"/>
              </a:rPr>
              <a:t>1. pipe()</a:t>
            </a:r>
            <a:endParaRPr lang="en-US" altLang="zh-CN" sz="1100" b="1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15" name="文本框 16">
            <a:extLst>
              <a:ext uri="{FF2B5EF4-FFF2-40B4-BE49-F238E27FC236}">
                <a16:creationId xmlns:a16="http://schemas.microsoft.com/office/drawing/2014/main" id="{A562F9CB-2608-7890-BA58-8DF72935E2DA}"/>
              </a:ext>
            </a:extLst>
          </p:cNvPr>
          <p:cNvSpPr txBox="1"/>
          <p:nvPr/>
        </p:nvSpPr>
        <p:spPr>
          <a:xfrm>
            <a:off x="9314766" y="5479140"/>
            <a:ext cx="1329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Gill Sans MT" panose="020B0502020104020203" pitchFamily="34" charset="0"/>
              </a:rPr>
              <a:t>5. </a:t>
            </a:r>
            <a:r>
              <a:rPr lang="en-US" altLang="zh-CN" b="1" dirty="0" err="1">
                <a:solidFill>
                  <a:srgbClr val="00B050"/>
                </a:solidFill>
                <a:latin typeface="Gill Sans MT" panose="020B0502020104020203" pitchFamily="34" charset="0"/>
              </a:rPr>
              <a:t>execvp</a:t>
            </a:r>
            <a:r>
              <a:rPr lang="en-US" altLang="zh-CN" b="1" dirty="0">
                <a:solidFill>
                  <a:srgbClr val="00B050"/>
                </a:solidFill>
                <a:latin typeface="Gill Sans MT" panose="020B0502020104020203" pitchFamily="34" charset="0"/>
              </a:rPr>
              <a:t>()</a:t>
            </a:r>
            <a:endParaRPr lang="en-US" altLang="zh-CN" sz="1100" b="1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16" name="文本框 18">
            <a:extLst>
              <a:ext uri="{FF2B5EF4-FFF2-40B4-BE49-F238E27FC236}">
                <a16:creationId xmlns:a16="http://schemas.microsoft.com/office/drawing/2014/main" id="{2D430DA2-3855-C958-4261-C521DE0BE1DE}"/>
              </a:ext>
            </a:extLst>
          </p:cNvPr>
          <p:cNvSpPr txBox="1"/>
          <p:nvPr/>
        </p:nvSpPr>
        <p:spPr>
          <a:xfrm>
            <a:off x="784313" y="4998983"/>
            <a:ext cx="1329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Gill Sans MT" panose="020B0502020104020203" pitchFamily="34" charset="0"/>
              </a:rPr>
              <a:t>5. </a:t>
            </a:r>
            <a:r>
              <a:rPr lang="en-US" altLang="zh-CN" b="1" dirty="0" err="1">
                <a:solidFill>
                  <a:srgbClr val="00B050"/>
                </a:solidFill>
                <a:latin typeface="Gill Sans MT" panose="020B0502020104020203" pitchFamily="34" charset="0"/>
              </a:rPr>
              <a:t>execvp</a:t>
            </a:r>
            <a:r>
              <a:rPr lang="en-US" altLang="zh-CN" b="1" dirty="0">
                <a:solidFill>
                  <a:srgbClr val="00B050"/>
                </a:solidFill>
                <a:latin typeface="Gill Sans MT" panose="020B0502020104020203" pitchFamily="34" charset="0"/>
              </a:rPr>
              <a:t>()</a:t>
            </a:r>
            <a:endParaRPr lang="en-US" altLang="zh-CN" sz="1100" b="1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17" name="矩形 19">
            <a:extLst>
              <a:ext uri="{FF2B5EF4-FFF2-40B4-BE49-F238E27FC236}">
                <a16:creationId xmlns:a16="http://schemas.microsoft.com/office/drawing/2014/main" id="{7F0F9029-D159-B3EF-0051-61ED9EC3FF32}"/>
              </a:ext>
            </a:extLst>
          </p:cNvPr>
          <p:cNvSpPr/>
          <p:nvPr/>
        </p:nvSpPr>
        <p:spPr>
          <a:xfrm>
            <a:off x="3685686" y="2143502"/>
            <a:ext cx="3885597" cy="5841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18" name="矩形 20">
            <a:extLst>
              <a:ext uri="{FF2B5EF4-FFF2-40B4-BE49-F238E27FC236}">
                <a16:creationId xmlns:a16="http://schemas.microsoft.com/office/drawing/2014/main" id="{5DBD83F9-CABD-2E4E-E719-DEFCAF683A0F}"/>
              </a:ext>
            </a:extLst>
          </p:cNvPr>
          <p:cNvSpPr/>
          <p:nvPr/>
        </p:nvSpPr>
        <p:spPr>
          <a:xfrm>
            <a:off x="3685689" y="3421140"/>
            <a:ext cx="3885597" cy="403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19" name="矩形 21">
            <a:extLst>
              <a:ext uri="{FF2B5EF4-FFF2-40B4-BE49-F238E27FC236}">
                <a16:creationId xmlns:a16="http://schemas.microsoft.com/office/drawing/2014/main" id="{56AF2648-FE7C-F7F2-0833-FCB42A0CF643}"/>
              </a:ext>
            </a:extLst>
          </p:cNvPr>
          <p:cNvSpPr/>
          <p:nvPr/>
        </p:nvSpPr>
        <p:spPr>
          <a:xfrm>
            <a:off x="3685687" y="3929513"/>
            <a:ext cx="3885597" cy="403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20" name="文本框 22">
            <a:extLst>
              <a:ext uri="{FF2B5EF4-FFF2-40B4-BE49-F238E27FC236}">
                <a16:creationId xmlns:a16="http://schemas.microsoft.com/office/drawing/2014/main" id="{7A2EE620-2AF3-6C47-7619-AABBAE7331D4}"/>
              </a:ext>
            </a:extLst>
          </p:cNvPr>
          <p:cNvSpPr txBox="1"/>
          <p:nvPr/>
        </p:nvSpPr>
        <p:spPr>
          <a:xfrm>
            <a:off x="5201518" y="2445174"/>
            <a:ext cx="97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Gill Sans MT" panose="020B0502020104020203" pitchFamily="34" charset="0"/>
              </a:rPr>
              <a:t>Process 1</a:t>
            </a:r>
            <a:endParaRPr lang="en-US" altLang="zh-CN" sz="1000" b="1" dirty="0">
              <a:solidFill>
                <a:srgbClr val="00B0F0"/>
              </a:solidFill>
              <a:latin typeface="Gill Sans MT" panose="020B0502020104020203" pitchFamily="34" charset="0"/>
            </a:endParaRPr>
          </a:p>
        </p:txBody>
      </p:sp>
      <p:sp>
        <p:nvSpPr>
          <p:cNvPr id="21" name="文本框 23">
            <a:extLst>
              <a:ext uri="{FF2B5EF4-FFF2-40B4-BE49-F238E27FC236}">
                <a16:creationId xmlns:a16="http://schemas.microsoft.com/office/drawing/2014/main" id="{FF41E83E-479E-0435-2B66-914C89896790}"/>
              </a:ext>
            </a:extLst>
          </p:cNvPr>
          <p:cNvSpPr txBox="1"/>
          <p:nvPr/>
        </p:nvSpPr>
        <p:spPr>
          <a:xfrm>
            <a:off x="5188587" y="3463374"/>
            <a:ext cx="97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Gill Sans MT" panose="020B0502020104020203" pitchFamily="34" charset="0"/>
              </a:rPr>
              <a:t>Process 1</a:t>
            </a:r>
            <a:endParaRPr lang="en-US" altLang="zh-CN" sz="1000" b="1" dirty="0">
              <a:solidFill>
                <a:srgbClr val="00B0F0"/>
              </a:solidFill>
              <a:latin typeface="Gill Sans MT" panose="020B0502020104020203" pitchFamily="34" charset="0"/>
            </a:endParaRPr>
          </a:p>
        </p:txBody>
      </p:sp>
      <p:sp>
        <p:nvSpPr>
          <p:cNvPr id="22" name="文本框 24">
            <a:extLst>
              <a:ext uri="{FF2B5EF4-FFF2-40B4-BE49-F238E27FC236}">
                <a16:creationId xmlns:a16="http://schemas.microsoft.com/office/drawing/2014/main" id="{2CD2ECBB-F302-8EDD-265F-746D52AA8437}"/>
              </a:ext>
            </a:extLst>
          </p:cNvPr>
          <p:cNvSpPr txBox="1"/>
          <p:nvPr/>
        </p:nvSpPr>
        <p:spPr>
          <a:xfrm>
            <a:off x="5188590" y="3958242"/>
            <a:ext cx="97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Gill Sans MT" panose="020B0502020104020203" pitchFamily="34" charset="0"/>
              </a:rPr>
              <a:t>Process 2</a:t>
            </a:r>
            <a:endParaRPr lang="en-US" altLang="zh-CN" sz="1000" b="1" dirty="0">
              <a:solidFill>
                <a:srgbClr val="00B0F0"/>
              </a:solidFill>
              <a:latin typeface="Gill Sans MT" panose="020B0502020104020203" pitchFamily="34" charset="0"/>
            </a:endParaRP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CBBCE679-DDDD-0D8E-8114-B5467313E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689" y="4998733"/>
            <a:ext cx="3885597" cy="913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矩形 30">
            <a:extLst>
              <a:ext uri="{FF2B5EF4-FFF2-40B4-BE49-F238E27FC236}">
                <a16:creationId xmlns:a16="http://schemas.microsoft.com/office/drawing/2014/main" id="{46F44024-5613-1607-0C01-8CEB5BFADF9E}"/>
              </a:ext>
            </a:extLst>
          </p:cNvPr>
          <p:cNvSpPr/>
          <p:nvPr/>
        </p:nvSpPr>
        <p:spPr>
          <a:xfrm>
            <a:off x="3685689" y="4946207"/>
            <a:ext cx="3885597" cy="4240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25" name="矩形 31">
            <a:extLst>
              <a:ext uri="{FF2B5EF4-FFF2-40B4-BE49-F238E27FC236}">
                <a16:creationId xmlns:a16="http://schemas.microsoft.com/office/drawing/2014/main" id="{74FEEED5-5350-3B53-604A-F4EB609AE295}"/>
              </a:ext>
            </a:extLst>
          </p:cNvPr>
          <p:cNvSpPr/>
          <p:nvPr/>
        </p:nvSpPr>
        <p:spPr>
          <a:xfrm>
            <a:off x="3685689" y="5501105"/>
            <a:ext cx="3885597" cy="4240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26" name="文本框 32">
            <a:extLst>
              <a:ext uri="{FF2B5EF4-FFF2-40B4-BE49-F238E27FC236}">
                <a16:creationId xmlns:a16="http://schemas.microsoft.com/office/drawing/2014/main" id="{A3E0D879-2186-572E-AC95-4061942C2442}"/>
              </a:ext>
            </a:extLst>
          </p:cNvPr>
          <p:cNvSpPr txBox="1"/>
          <p:nvPr/>
        </p:nvSpPr>
        <p:spPr>
          <a:xfrm>
            <a:off x="5188586" y="5033875"/>
            <a:ext cx="97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Gill Sans MT" panose="020B0502020104020203" pitchFamily="34" charset="0"/>
              </a:rPr>
              <a:t>Process 1</a:t>
            </a:r>
            <a:endParaRPr lang="en-US" altLang="zh-CN" sz="1000" b="1" dirty="0">
              <a:solidFill>
                <a:srgbClr val="00B0F0"/>
              </a:solidFill>
              <a:latin typeface="Gill Sans MT" panose="020B0502020104020203" pitchFamily="34" charset="0"/>
            </a:endParaRPr>
          </a:p>
        </p:txBody>
      </p:sp>
      <p:sp>
        <p:nvSpPr>
          <p:cNvPr id="27" name="文本框 33">
            <a:extLst>
              <a:ext uri="{FF2B5EF4-FFF2-40B4-BE49-F238E27FC236}">
                <a16:creationId xmlns:a16="http://schemas.microsoft.com/office/drawing/2014/main" id="{8EDBD085-78DF-645C-A6A1-8BA74C2277E8}"/>
              </a:ext>
            </a:extLst>
          </p:cNvPr>
          <p:cNvSpPr txBox="1"/>
          <p:nvPr/>
        </p:nvSpPr>
        <p:spPr>
          <a:xfrm>
            <a:off x="5188590" y="5531677"/>
            <a:ext cx="97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Gill Sans MT" panose="020B0502020104020203" pitchFamily="34" charset="0"/>
              </a:rPr>
              <a:t>Process 2</a:t>
            </a:r>
            <a:endParaRPr lang="en-US" altLang="zh-CN" sz="1000" b="1" dirty="0">
              <a:solidFill>
                <a:srgbClr val="00B0F0"/>
              </a:solidFill>
              <a:latin typeface="Gill Sans MT" panose="020B0502020104020203" pitchFamily="34" charset="0"/>
            </a:endParaRPr>
          </a:p>
        </p:txBody>
      </p:sp>
      <p:sp>
        <p:nvSpPr>
          <p:cNvPr id="28" name="乘号 7">
            <a:extLst>
              <a:ext uri="{FF2B5EF4-FFF2-40B4-BE49-F238E27FC236}">
                <a16:creationId xmlns:a16="http://schemas.microsoft.com/office/drawing/2014/main" id="{03B67171-867C-1A10-7AA7-B0E867DBA612}"/>
              </a:ext>
            </a:extLst>
          </p:cNvPr>
          <p:cNvSpPr/>
          <p:nvPr/>
        </p:nvSpPr>
        <p:spPr>
          <a:xfrm>
            <a:off x="6647226" y="4937259"/>
            <a:ext cx="396000" cy="4680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29" name="乘号 34">
            <a:extLst>
              <a:ext uri="{FF2B5EF4-FFF2-40B4-BE49-F238E27FC236}">
                <a16:creationId xmlns:a16="http://schemas.microsoft.com/office/drawing/2014/main" id="{1DB0C6FD-2FB7-BF3B-436D-EB2375B3E4CC}"/>
              </a:ext>
            </a:extLst>
          </p:cNvPr>
          <p:cNvSpPr/>
          <p:nvPr/>
        </p:nvSpPr>
        <p:spPr>
          <a:xfrm>
            <a:off x="4211645" y="5479140"/>
            <a:ext cx="396000" cy="4680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30" name="文本框 35">
            <a:extLst>
              <a:ext uri="{FF2B5EF4-FFF2-40B4-BE49-F238E27FC236}">
                <a16:creationId xmlns:a16="http://schemas.microsoft.com/office/drawing/2014/main" id="{7BCB396B-69B8-F854-3BD6-77B970C07622}"/>
              </a:ext>
            </a:extLst>
          </p:cNvPr>
          <p:cNvSpPr txBox="1"/>
          <p:nvPr/>
        </p:nvSpPr>
        <p:spPr>
          <a:xfrm>
            <a:off x="2238752" y="4808123"/>
            <a:ext cx="99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Gill Sans MT" panose="020B0502020104020203" pitchFamily="34" charset="0"/>
              </a:rPr>
              <a:t>4. dup()</a:t>
            </a:r>
            <a:endParaRPr lang="en-US" altLang="zh-CN" sz="1100" b="1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31" name="直接箭头连接符 38">
            <a:extLst>
              <a:ext uri="{FF2B5EF4-FFF2-40B4-BE49-F238E27FC236}">
                <a16:creationId xmlns:a16="http://schemas.microsoft.com/office/drawing/2014/main" id="{E0AAD4E7-A9D8-4DD7-04F4-72DD84B678EB}"/>
              </a:ext>
            </a:extLst>
          </p:cNvPr>
          <p:cNvCxnSpPr>
            <a:stCxn id="16" idx="3"/>
          </p:cNvCxnSpPr>
          <p:nvPr/>
        </p:nvCxnSpPr>
        <p:spPr>
          <a:xfrm>
            <a:off x="2113395" y="5183649"/>
            <a:ext cx="137773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9">
            <a:extLst>
              <a:ext uri="{FF2B5EF4-FFF2-40B4-BE49-F238E27FC236}">
                <a16:creationId xmlns:a16="http://schemas.microsoft.com/office/drawing/2014/main" id="{7EF53409-8D2C-37DA-A332-028A2BDA7BBC}"/>
              </a:ext>
            </a:extLst>
          </p:cNvPr>
          <p:cNvSpPr txBox="1"/>
          <p:nvPr/>
        </p:nvSpPr>
        <p:spPr>
          <a:xfrm>
            <a:off x="1871163" y="5171259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Gill Sans MT" panose="020B0502020104020203" pitchFamily="34" charset="0"/>
              </a:rPr>
              <a:t>stdout</a:t>
            </a:r>
            <a:endParaRPr lang="en-US" altLang="zh-CN" sz="1050" b="1" dirty="0">
              <a:latin typeface="Gill Sans MT" panose="020B0502020104020203" pitchFamily="34" charset="0"/>
            </a:endParaRPr>
          </a:p>
        </p:txBody>
      </p:sp>
      <p:sp>
        <p:nvSpPr>
          <p:cNvPr id="33" name="文本框 40">
            <a:extLst>
              <a:ext uri="{FF2B5EF4-FFF2-40B4-BE49-F238E27FC236}">
                <a16:creationId xmlns:a16="http://schemas.microsoft.com/office/drawing/2014/main" id="{A78CC172-1C14-4BAC-4030-B9B079C75AD7}"/>
              </a:ext>
            </a:extLst>
          </p:cNvPr>
          <p:cNvSpPr txBox="1"/>
          <p:nvPr/>
        </p:nvSpPr>
        <p:spPr>
          <a:xfrm>
            <a:off x="2787014" y="5177455"/>
            <a:ext cx="1071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Gill Sans MT" panose="020B0502020104020203" pitchFamily="34" charset="0"/>
              </a:rPr>
              <a:t>pipefd</a:t>
            </a:r>
            <a:r>
              <a:rPr lang="en-US" altLang="zh-CN" sz="1600" b="1" dirty="0">
                <a:latin typeface="Gill Sans MT" panose="020B0502020104020203" pitchFamily="34" charset="0"/>
              </a:rPr>
              <a:t>[1]</a:t>
            </a:r>
            <a:endParaRPr lang="en-US" altLang="zh-CN" sz="1050" b="1" dirty="0">
              <a:latin typeface="Gill Sans MT" panose="020B0502020104020203" pitchFamily="34" charset="0"/>
            </a:endParaRPr>
          </a:p>
        </p:txBody>
      </p:sp>
      <p:sp>
        <p:nvSpPr>
          <p:cNvPr id="34" name="文本框 41">
            <a:extLst>
              <a:ext uri="{FF2B5EF4-FFF2-40B4-BE49-F238E27FC236}">
                <a16:creationId xmlns:a16="http://schemas.microsoft.com/office/drawing/2014/main" id="{A0E2CB96-5ED4-1388-8CC9-193CF023C3EC}"/>
              </a:ext>
            </a:extLst>
          </p:cNvPr>
          <p:cNvSpPr txBox="1"/>
          <p:nvPr/>
        </p:nvSpPr>
        <p:spPr>
          <a:xfrm>
            <a:off x="7950093" y="5293181"/>
            <a:ext cx="99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Gill Sans MT" panose="020B0502020104020203" pitchFamily="34" charset="0"/>
              </a:rPr>
              <a:t>4. dup()</a:t>
            </a:r>
            <a:endParaRPr lang="en-US" altLang="zh-CN" sz="1100" b="1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35" name="直接箭头连接符 42">
            <a:extLst>
              <a:ext uri="{FF2B5EF4-FFF2-40B4-BE49-F238E27FC236}">
                <a16:creationId xmlns:a16="http://schemas.microsoft.com/office/drawing/2014/main" id="{72B1D919-565C-6AE1-A5AD-8D439CE583D1}"/>
              </a:ext>
            </a:extLst>
          </p:cNvPr>
          <p:cNvCxnSpPr/>
          <p:nvPr/>
        </p:nvCxnSpPr>
        <p:spPr>
          <a:xfrm>
            <a:off x="7711564" y="5668707"/>
            <a:ext cx="149091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43">
            <a:extLst>
              <a:ext uri="{FF2B5EF4-FFF2-40B4-BE49-F238E27FC236}">
                <a16:creationId xmlns:a16="http://schemas.microsoft.com/office/drawing/2014/main" id="{71070C54-78E6-6D51-2B98-8C9EE459AA28}"/>
              </a:ext>
            </a:extLst>
          </p:cNvPr>
          <p:cNvSpPr txBox="1"/>
          <p:nvPr/>
        </p:nvSpPr>
        <p:spPr>
          <a:xfrm>
            <a:off x="7582504" y="5656317"/>
            <a:ext cx="1071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Gill Sans MT" panose="020B0502020104020203" pitchFamily="34" charset="0"/>
              </a:rPr>
              <a:t>pipefd</a:t>
            </a:r>
            <a:r>
              <a:rPr lang="en-US" altLang="zh-CN" sz="1600" b="1" dirty="0">
                <a:latin typeface="Gill Sans MT" panose="020B0502020104020203" pitchFamily="34" charset="0"/>
              </a:rPr>
              <a:t>[0]</a:t>
            </a:r>
            <a:endParaRPr lang="en-US" altLang="zh-CN" sz="1050" b="1" dirty="0">
              <a:latin typeface="Gill Sans MT" panose="020B0502020104020203" pitchFamily="34" charset="0"/>
            </a:endParaRPr>
          </a:p>
        </p:txBody>
      </p:sp>
      <p:sp>
        <p:nvSpPr>
          <p:cNvPr id="37" name="文本框 44">
            <a:extLst>
              <a:ext uri="{FF2B5EF4-FFF2-40B4-BE49-F238E27FC236}">
                <a16:creationId xmlns:a16="http://schemas.microsoft.com/office/drawing/2014/main" id="{86495473-98A9-72C6-201A-7C2B720D878D}"/>
              </a:ext>
            </a:extLst>
          </p:cNvPr>
          <p:cNvSpPr txBox="1"/>
          <p:nvPr/>
        </p:nvSpPr>
        <p:spPr>
          <a:xfrm>
            <a:off x="8627661" y="5662513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Gill Sans MT" panose="020B0502020104020203" pitchFamily="34" charset="0"/>
              </a:rPr>
              <a:t>stdin</a:t>
            </a:r>
            <a:endParaRPr lang="en-US" altLang="zh-CN" sz="1050" b="1" dirty="0">
              <a:latin typeface="Gill Sans MT" panose="020B0502020104020203" pitchFamily="34" charset="0"/>
            </a:endParaRPr>
          </a:p>
        </p:txBody>
      </p:sp>
      <p:sp>
        <p:nvSpPr>
          <p:cNvPr id="38" name="文本框 45">
            <a:extLst>
              <a:ext uri="{FF2B5EF4-FFF2-40B4-BE49-F238E27FC236}">
                <a16:creationId xmlns:a16="http://schemas.microsoft.com/office/drawing/2014/main" id="{CDD01EF8-8EB8-D90D-643F-A46F01CDAFD5}"/>
              </a:ext>
            </a:extLst>
          </p:cNvPr>
          <p:cNvSpPr txBox="1"/>
          <p:nvPr/>
        </p:nvSpPr>
        <p:spPr>
          <a:xfrm>
            <a:off x="7998265" y="4490446"/>
            <a:ext cx="35181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Gill Sans MT" panose="020B0502020104020203" pitchFamily="34" charset="0"/>
              </a:rPr>
              <a:t>* Redirect proper </a:t>
            </a:r>
            <a:r>
              <a:rPr lang="en-US" altLang="zh-CN" sz="1600" b="1" dirty="0" err="1">
                <a:latin typeface="Gill Sans MT" panose="020B0502020104020203" pitchFamily="34" charset="0"/>
              </a:rPr>
              <a:t>fd</a:t>
            </a:r>
            <a:r>
              <a:rPr lang="en-US" altLang="zh-CN" sz="1600" b="1" dirty="0">
                <a:latin typeface="Gill Sans MT" panose="020B0502020104020203" pitchFamily="34" charset="0"/>
              </a:rPr>
              <a:t> to proper </a:t>
            </a:r>
            <a:r>
              <a:rPr lang="en-US" altLang="zh-CN" sz="1600" b="1" dirty="0" err="1">
                <a:latin typeface="Gill Sans MT" panose="020B0502020104020203" pitchFamily="34" charset="0"/>
              </a:rPr>
              <a:t>fd</a:t>
            </a:r>
            <a:r>
              <a:rPr lang="en-US" altLang="zh-CN" sz="1600" b="1" dirty="0">
                <a:latin typeface="Gill Sans MT" panose="020B0502020104020203" pitchFamily="34" charset="0"/>
              </a:rPr>
              <a:t>, here I just use </a:t>
            </a:r>
            <a:r>
              <a:rPr lang="en-US" altLang="zh-CN" sz="1600" b="1" dirty="0" err="1">
                <a:latin typeface="Gill Sans MT" panose="020B0502020104020203" pitchFamily="34" charset="0"/>
              </a:rPr>
              <a:t>stdout</a:t>
            </a:r>
            <a:r>
              <a:rPr lang="en-US" altLang="zh-CN" sz="1600" b="1" dirty="0">
                <a:latin typeface="Gill Sans MT" panose="020B0502020104020203" pitchFamily="34" charset="0"/>
              </a:rPr>
              <a:t>/stdin as an example</a:t>
            </a:r>
            <a:endParaRPr lang="en-US" altLang="zh-CN" sz="1050" b="1" dirty="0">
              <a:latin typeface="Gill Sans MT" panose="020B05020201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7432D5-AAD2-2861-B7E3-5305DC06008C}"/>
              </a:ext>
            </a:extLst>
          </p:cNvPr>
          <p:cNvSpPr txBox="1"/>
          <p:nvPr/>
        </p:nvSpPr>
        <p:spPr>
          <a:xfrm>
            <a:off x="7918312" y="1295863"/>
            <a:ext cx="3885598" cy="1077218"/>
          </a:xfrm>
          <a:prstGeom prst="rect">
            <a:avLst/>
          </a:prstGeom>
          <a:solidFill>
            <a:srgbClr val="FFC000"/>
          </a:solidFill>
          <a:ln w="5715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202020"/>
                </a:solidFill>
                <a:latin typeface="Gill Sans MT" panose="020B0502020104020203" pitchFamily="34" charset="0"/>
              </a:rPr>
              <a:t>How to use the above systems calls to achieve inter-process communication, where some processes may run an external binary? </a:t>
            </a:r>
          </a:p>
        </p:txBody>
      </p:sp>
    </p:spTree>
    <p:extLst>
      <p:ext uri="{BB962C8B-B14F-4D97-AF65-F5344CB8AC3E}">
        <p14:creationId xmlns:p14="http://schemas.microsoft.com/office/powerpoint/2010/main" val="382923776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779780" y="3128918"/>
            <a:ext cx="10632440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1" algn="ctr" defTabSz="292100" hangingPunct="0"/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Q &amp; A</a:t>
            </a:r>
            <a:endParaRPr lang="en-US" sz="2800" b="1" kern="0" dirty="0">
              <a:solidFill>
                <a:srgbClr val="FFFFFF">
                  <a:lumMod val="95000"/>
                </a:srgbClr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874969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</TotalTime>
  <Words>3132</Words>
  <Application>Microsoft Office PowerPoint</Application>
  <PresentationFormat>Widescreen</PresentationFormat>
  <Paragraphs>330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Helvetica Light</vt:lpstr>
      <vt:lpstr>Helvetica Neue Light</vt:lpstr>
      <vt:lpstr>Calibri</vt:lpstr>
      <vt:lpstr>Consolas</vt:lpstr>
      <vt:lpstr>Gill Sans MT</vt:lpstr>
      <vt:lpstr>Helvetica</vt:lpstr>
      <vt:lpstr>Wingdings</vt:lpstr>
      <vt:lpstr>White</vt:lpstr>
      <vt:lpstr>PowerPoint Presentation</vt:lpstr>
      <vt:lpstr>Reminder: Assignment 1</vt:lpstr>
      <vt:lpstr>Overview (1/1)</vt:lpstr>
      <vt:lpstr>Fork &amp; Exec (1/3)</vt:lpstr>
      <vt:lpstr>Fork &amp; Exec (2/3)</vt:lpstr>
      <vt:lpstr>Fork &amp; Exec (3/3)</vt:lpstr>
      <vt:lpstr>Dup (1/1)</vt:lpstr>
      <vt:lpstr>Pipe (1/4)</vt:lpstr>
      <vt:lpstr>Pipe (2/4)</vt:lpstr>
      <vt:lpstr>Pipe (3/4)</vt:lpstr>
      <vt:lpstr>Pipe (4/4)</vt:lpstr>
      <vt:lpstr>Summary (1/1)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Shaofeng</dc:creator>
  <cp:lastModifiedBy>WU, Shaofeng</cp:lastModifiedBy>
  <cp:revision>38</cp:revision>
  <dcterms:created xsi:type="dcterms:W3CDTF">2023-01-06T06:17:44Z</dcterms:created>
  <dcterms:modified xsi:type="dcterms:W3CDTF">2026-01-22T10:16:45Z</dcterms:modified>
</cp:coreProperties>
</file>