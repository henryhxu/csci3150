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3"/>
  </p:notesMasterIdLst>
  <p:sldIdLst>
    <p:sldId id="613" r:id="rId3"/>
    <p:sldId id="624" r:id="rId4"/>
    <p:sldId id="636" r:id="rId5"/>
    <p:sldId id="637" r:id="rId6"/>
    <p:sldId id="635" r:id="rId7"/>
    <p:sldId id="638" r:id="rId8"/>
    <p:sldId id="639" r:id="rId9"/>
    <p:sldId id="640" r:id="rId10"/>
    <p:sldId id="641" r:id="rId11"/>
    <p:sldId id="63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679383-BD75-A846-912B-F4A02E5CB4BB}" v="24" dt="2024-11-03T12:34:07.473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6312"/>
  </p:normalViewPr>
  <p:slideViewPr>
    <p:cSldViewPr snapToGrid="0">
      <p:cViewPr varScale="1">
        <p:scale>
          <a:sx n="79" d="100"/>
          <a:sy n="79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Kaiwen" userId="d2b7700c-ac07-4aef-b2bf-800af199d77b" providerId="ADAL" clId="{DB679383-BD75-A846-912B-F4A02E5CB4BB}"/>
    <pc:docChg chg="custSel modSld">
      <pc:chgData name="CHEN, Kaiwen" userId="d2b7700c-ac07-4aef-b2bf-800af199d77b" providerId="ADAL" clId="{DB679383-BD75-A846-912B-F4A02E5CB4BB}" dt="2024-11-17T04:55:52.785" v="15" actId="27636"/>
      <pc:docMkLst>
        <pc:docMk/>
      </pc:docMkLst>
      <pc:sldChg chg="modSp mod">
        <pc:chgData name="CHEN, Kaiwen" userId="d2b7700c-ac07-4aef-b2bf-800af199d77b" providerId="ADAL" clId="{DB679383-BD75-A846-912B-F4A02E5CB4BB}" dt="2024-11-17T04:55:52.785" v="15" actId="27636"/>
        <pc:sldMkLst>
          <pc:docMk/>
          <pc:sldMk cId="436700335" sldId="640"/>
        </pc:sldMkLst>
        <pc:spChg chg="mod">
          <ac:chgData name="CHEN, Kaiwen" userId="d2b7700c-ac07-4aef-b2bf-800af199d77b" providerId="ADAL" clId="{DB679383-BD75-A846-912B-F4A02E5CB4BB}" dt="2024-11-17T04:55:52.785" v="15" actId="27636"/>
          <ac:spMkLst>
            <pc:docMk/>
            <pc:sldMk cId="436700335" sldId="640"/>
            <ac:spMk id="3" creationId="{49FF9824-235A-9DF4-3AE4-8E5556F031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51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80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HK" altLang="zh-HK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2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HK" altLang="zh-HK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35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HK" altLang="zh-HK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41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37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07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5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52" name="Rectangle"/>
          <p:cNvSpPr/>
          <p:nvPr/>
        </p:nvSpPr>
        <p:spPr>
          <a:xfrm>
            <a:off x="0" y="6507659"/>
            <a:ext cx="12192000" cy="367110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568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3783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04784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1072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00079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4562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360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2670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8372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5070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14A3-DCCD-1F67-5A43-D409DDA7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C241-D7F8-3937-C18B-364EFE4B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11B77-9054-FFAD-AEB3-F44121FC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DD41-9B81-A544-8498-92133950A0E4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9CF-9400-12F2-90B6-21413E60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5769-C2E4-40A2-0D1B-A3522EC4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991F-E3FA-3A41-8A65-A6D6C0B5A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0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51" y="64881"/>
            <a:ext cx="11715749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619912" y="6592714"/>
            <a:ext cx="1428749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44951" y="6582996"/>
            <a:ext cx="4051300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4F5D7208-D985-81CE-505C-17BCB40CA8EA}"/>
              </a:ext>
            </a:extLst>
          </p:cNvPr>
          <p:cNvCxnSpPr/>
          <p:nvPr userDrawn="1"/>
        </p:nvCxnSpPr>
        <p:spPr>
          <a:xfrm>
            <a:off x="0" y="6500813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54483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12192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01251" y="6562726"/>
            <a:ext cx="1428749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44951" y="6559551"/>
            <a:ext cx="4051300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9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79080D6B-51FF-A0DF-25E8-FF0EAF67824A}"/>
              </a:ext>
            </a:extLst>
          </p:cNvPr>
          <p:cNvSpPr/>
          <p:nvPr userDrawn="1"/>
        </p:nvSpPr>
        <p:spPr>
          <a:xfrm>
            <a:off x="0" y="-611"/>
            <a:ext cx="12192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6BFFBB33-933A-D4D7-367B-A5210D9F6580}"/>
              </a:ext>
            </a:extLst>
          </p:cNvPr>
          <p:cNvSpPr/>
          <p:nvPr userDrawn="1"/>
        </p:nvSpPr>
        <p:spPr>
          <a:xfrm>
            <a:off x="0" y="706009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90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DENG 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</a:rPr>
              <a:t>Yangtao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Gill Sans MT" panose="020B0502020104020203" pitchFamily="34" charset="0"/>
            </a:endParaRPr>
          </a:p>
          <a:p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March</a:t>
            </a:r>
            <a:r>
              <a:rPr lang="nb-NO" altLang="zh-CN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26, 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Tutorial 10: Paging(Address Translation)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Spring 2026</a:t>
            </a: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5A2E-656D-EC5D-FDE7-23048852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0" indent="0">
              <a:spcBef>
                <a:spcPts val="1200"/>
              </a:spcBef>
              <a:buNone/>
              <a:defRPr/>
            </a:pPr>
            <a:endParaRPr kumimoji="0" lang="en-US" altLang="zh-CN" sz="2400" b="0" i="0" u="none" strike="noStrike" kern="0" cap="none" spc="0" normalizeH="0" baseline="3000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b="1" dirty="0">
                <a:cs typeface="Helvetica"/>
              </a:rPr>
              <a:t>Assignment 3</a:t>
            </a:r>
            <a:endParaRPr lang="en-US" altLang="zh-CN" sz="2400" dirty="0">
              <a:cs typeface="Helvetica"/>
            </a:endParaRP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>
                <a:cs typeface="Helvetica"/>
              </a:rPr>
              <a:t>Due at 23:59:59 p.m., Mar 29</a:t>
            </a:r>
            <a:endParaRPr lang="en-US" altLang="zh-CN" sz="2400" baseline="30000" dirty="0">
              <a:cs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b="1" dirty="0"/>
              <a:t>Assignment 4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/>
              <a:t>Release next</a:t>
            </a:r>
            <a:r>
              <a:rPr lang="zh-CN" altLang="en-US" sz="2400" dirty="0"/>
              <a:t> </a:t>
            </a:r>
            <a:r>
              <a:rPr lang="en-US" altLang="zh-CN" sz="2400" dirty="0"/>
              <a:t>week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endParaRPr lang="en-US" altLang="zh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961367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FE792-D227-2C4B-75F0-3CCF5135B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Paging</a:t>
            </a:r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67DFC4-C246-5814-1624-717AD3F3E5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89F8B969-9897-74E1-9827-58ABB8322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710" y="1319134"/>
            <a:ext cx="4581525" cy="396056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A3F21FC-D474-E938-BA27-73779492EA23}"/>
              </a:ext>
            </a:extLst>
          </p:cNvPr>
          <p:cNvSpPr txBox="1"/>
          <p:nvPr/>
        </p:nvSpPr>
        <p:spPr>
          <a:xfrm>
            <a:off x="479686" y="1775923"/>
            <a:ext cx="602927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Convenient for free space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Reduce the wasted fragmentation</a:t>
            </a:r>
          </a:p>
          <a:p>
            <a:pPr lvl="1"/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    (not larger than one page size)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Allowing the memory space of one process </a:t>
            </a:r>
          </a:p>
          <a:p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    discontinuous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Creating large virtual memory space within</a:t>
            </a:r>
          </a:p>
          <a:p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  <a:sym typeface="Helvetica"/>
              </a:rPr>
              <a:t>    small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32363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ECE244-2378-92CA-F528-74F50F1A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Page Table Mechanism</a:t>
            </a:r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CF9C8-C8E1-804C-33F8-22EFEA3200C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9882E49-9779-AC7E-D1E5-A849B6B5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263" y="1727635"/>
            <a:ext cx="6525587" cy="3493672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1396ED5-5A76-6807-6C69-FA0384BBF449}"/>
              </a:ext>
            </a:extLst>
          </p:cNvPr>
          <p:cNvSpPr txBox="1"/>
          <p:nvPr/>
        </p:nvSpPr>
        <p:spPr>
          <a:xfrm>
            <a:off x="137150" y="1989169"/>
            <a:ext cx="714618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Page Table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logical addresses -&gt; physical addresses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Each process has its own page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HK" altLang="zh-HK" sz="2400" dirty="0">
              <a:solidFill>
                <a:srgbClr val="202020"/>
              </a:solidFill>
              <a:latin typeface="Gill Sans MT" panose="020B0502020104020203" pitchFamily="34" charset="0"/>
            </a:endParaRPr>
          </a:p>
          <a:p>
            <a:r>
              <a:rPr lang="en-US" altLang="zh-CN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How the Translation works: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Logical Address Components: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• Page Number + Offset.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Translation Process: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• Page Number + page table + PTBR -&gt; Frame Number.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• Frame Number + Offset -&gt; Physical Address.</a:t>
            </a:r>
          </a:p>
          <a:p>
            <a:endParaRPr lang="zh-CN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22243FB-D57D-DCD8-B232-D4376910A258}"/>
              </a:ext>
            </a:extLst>
          </p:cNvPr>
          <p:cNvSpPr txBox="1"/>
          <p:nvPr/>
        </p:nvSpPr>
        <p:spPr>
          <a:xfrm>
            <a:off x="4819055" y="4195247"/>
            <a:ext cx="255389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HK" dirty="0">
                <a:solidFill>
                  <a:srgbClr val="0E0E0E"/>
                </a:solidFill>
                <a:effectLst/>
                <a:latin typeface=".SF NS"/>
              </a:rPr>
              <a:t>Page Table Base Register </a:t>
            </a:r>
          </a:p>
        </p:txBody>
      </p:sp>
    </p:spTree>
    <p:extLst>
      <p:ext uri="{BB962C8B-B14F-4D97-AF65-F5344CB8AC3E}">
        <p14:creationId xmlns:p14="http://schemas.microsoft.com/office/powerpoint/2010/main" val="37506979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C4CF0-7990-3126-5BB2-5D18B48D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HK" altLang="zh-HK" dirty="0"/>
              <a:t>Multi-level Page Tables</a:t>
            </a:r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9AED71-F465-30BD-41AC-D1E6B55606C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7AD382B-A40D-88E3-5877-9E978811D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24" y="1470938"/>
            <a:ext cx="7375507" cy="3916123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8B9AD6C-3F20-8D1D-7370-CFE06CC76FD0}"/>
              </a:ext>
            </a:extLst>
          </p:cNvPr>
          <p:cNvCxnSpPr>
            <a:cxnSpLocks/>
          </p:cNvCxnSpPr>
          <p:nvPr/>
        </p:nvCxnSpPr>
        <p:spPr>
          <a:xfrm>
            <a:off x="7190509" y="1052945"/>
            <a:ext cx="0" cy="5727446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81D7D4-960E-5303-C503-AB6301F6205B}"/>
              </a:ext>
            </a:extLst>
          </p:cNvPr>
          <p:cNvSpPr txBox="1"/>
          <p:nvPr/>
        </p:nvSpPr>
        <p:spPr>
          <a:xfrm>
            <a:off x="5100643" y="5620388"/>
            <a:ext cx="255389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HK" dirty="0">
                <a:solidFill>
                  <a:srgbClr val="0E0E0E"/>
                </a:solidFill>
                <a:effectLst/>
                <a:latin typeface=".SF NS"/>
              </a:rPr>
              <a:t>Linear Page Table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1683FCD-2936-287A-5D3A-80C8340F49EA}"/>
              </a:ext>
            </a:extLst>
          </p:cNvPr>
          <p:cNvSpPr txBox="1"/>
          <p:nvPr/>
        </p:nvSpPr>
        <p:spPr>
          <a:xfrm>
            <a:off x="8597341" y="5620388"/>
            <a:ext cx="255389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HK" dirty="0">
                <a:solidFill>
                  <a:srgbClr val="0E0E0E"/>
                </a:solidFill>
                <a:effectLst/>
                <a:latin typeface=".SF NS"/>
              </a:rPr>
              <a:t>Multi-level Page Table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44FC02F-141C-C7FC-2178-5583C4E56533}"/>
              </a:ext>
            </a:extLst>
          </p:cNvPr>
          <p:cNvSpPr txBox="1"/>
          <p:nvPr/>
        </p:nvSpPr>
        <p:spPr>
          <a:xfrm>
            <a:off x="5001492" y="3317966"/>
            <a:ext cx="1987138" cy="1511751"/>
          </a:xfrm>
          <a:prstGeom prst="rect">
            <a:avLst/>
          </a:prstGeom>
          <a:noFill/>
          <a:ln w="635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HK" altLang="en-US" sz="5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5413CE-E2BD-43E9-8AC5-F7E1BC485D53}"/>
              </a:ext>
            </a:extLst>
          </p:cNvPr>
          <p:cNvSpPr txBox="1"/>
          <p:nvPr/>
        </p:nvSpPr>
        <p:spPr>
          <a:xfrm>
            <a:off x="252054" y="2892397"/>
            <a:ext cx="6098058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Linear vs. Multi-level Page Tables:</a:t>
            </a:r>
          </a:p>
          <a:p>
            <a:endParaRPr lang="en-HK" altLang="zh-HK" sz="2400" dirty="0">
              <a:solidFill>
                <a:srgbClr val="202020"/>
              </a:solidFill>
              <a:latin typeface="Gill Sans MT" panose="020B0502020104020203" pitchFamily="34" charset="0"/>
            </a:endParaRP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Linear Page Table: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• large memory consumption.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Multi-level Page Table:</a:t>
            </a:r>
          </a:p>
          <a:p>
            <a:r>
              <a:rPr lang="en-HK" altLang="zh-HK" sz="2400" dirty="0">
                <a:solidFill>
                  <a:srgbClr val="202020"/>
                </a:solidFill>
                <a:latin typeface="Gill Sans MT" panose="020B0502020104020203" pitchFamily="34" charset="0"/>
              </a:rPr>
              <a:t>• Saving memory.</a:t>
            </a:r>
          </a:p>
        </p:txBody>
      </p:sp>
    </p:spTree>
    <p:extLst>
      <p:ext uri="{BB962C8B-B14F-4D97-AF65-F5344CB8AC3E}">
        <p14:creationId xmlns:p14="http://schemas.microsoft.com/office/powerpoint/2010/main" val="25222183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880F05-1427-32E7-80D1-D04A8090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HK" altLang="zh-HK" dirty="0"/>
              <a:t>Multi-level Page Tables </a:t>
            </a:r>
            <a:r>
              <a:rPr kumimoji="1" lang="en-US" altLang="zh-HK" dirty="0"/>
              <a:t>Example</a:t>
            </a:r>
            <a:endParaRPr kumimoji="1" lang="zh-HK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A80920-A551-2D0E-9B35-7B42C5D6E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two level page table in x86 (32-bit machine) </a:t>
            </a:r>
            <a:endParaRPr lang="zh-CN" altLang="en-US" dirty="0"/>
          </a:p>
          <a:p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ED4516-2013-0FC8-0AEC-41E44E3F50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9398530-C536-F1D8-E57C-1FE0289DE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633" y="2233044"/>
            <a:ext cx="6184600" cy="3994008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A43AFDF2-C80D-9502-6EC0-88DBB7C7CEA3}"/>
              </a:ext>
            </a:extLst>
          </p:cNvPr>
          <p:cNvSpPr txBox="1"/>
          <p:nvPr/>
        </p:nvSpPr>
        <p:spPr>
          <a:xfrm>
            <a:off x="4254909" y="195251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32A43F3-B6CA-75EB-3C74-BCF208E76189}"/>
              </a:ext>
            </a:extLst>
          </p:cNvPr>
          <p:cNvSpPr txBox="1"/>
          <p:nvPr/>
        </p:nvSpPr>
        <p:spPr>
          <a:xfrm>
            <a:off x="5268173" y="195251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F3E2E1F-9CAC-0AF7-DDE8-E3B1FB5287EC}"/>
              </a:ext>
            </a:extLst>
          </p:cNvPr>
          <p:cNvSpPr txBox="1"/>
          <p:nvPr/>
        </p:nvSpPr>
        <p:spPr>
          <a:xfrm>
            <a:off x="6358934" y="195251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12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5643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3B57B-860C-FD23-4237-9698D0F7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Practice</a:t>
            </a:r>
            <a:endParaRPr kumimoji="1" lang="zh-HK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6FD6DC-15A4-4D2F-CB5B-E76BF64B9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1551300"/>
            <a:ext cx="10502900" cy="46482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2400" dirty="0"/>
              <a:t>Suppose a machine uses the </a:t>
            </a:r>
            <a:r>
              <a:rPr lang="en-US" altLang="zh-CN" sz="2400" b="1" dirty="0"/>
              <a:t>word addressing (A physical address uniquely identify one word in the memory) </a:t>
            </a:r>
            <a:r>
              <a:rPr lang="en-US" altLang="zh-CN" sz="2400" dirty="0"/>
              <a:t>and </a:t>
            </a:r>
            <a:r>
              <a:rPr lang="en-US" altLang="zh-CN" sz="2400" b="1" dirty="0"/>
              <a:t>two-level paging</a:t>
            </a:r>
            <a:r>
              <a:rPr lang="en-US" altLang="zh-CN" sz="2400" dirty="0"/>
              <a:t>. The word length of the machine is 32 bits. The page size is 32 bytes, the page directory has 4 entries, and the page table (PT) has 8 entries. You need to answer the following questions.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400" dirty="0"/>
              <a:t>a) </a:t>
            </a:r>
          </a:p>
          <a:p>
            <a:pPr marL="0" indent="0">
              <a:buNone/>
            </a:pPr>
            <a:r>
              <a:rPr lang="en-US" altLang="zh-CN" sz="2400" dirty="0"/>
              <a:t>What is the size of the virtual address space? </a:t>
            </a:r>
          </a:p>
          <a:p>
            <a:pPr marL="0" indent="0">
              <a:buNone/>
            </a:pPr>
            <a:r>
              <a:rPr lang="en-US" altLang="zh-CN" sz="2400" dirty="0"/>
              <a:t>How many bits does a virtual address have? </a:t>
            </a:r>
          </a:p>
          <a:p>
            <a:pPr marL="0" indent="0">
              <a:buNone/>
            </a:pPr>
            <a:r>
              <a:rPr lang="en-US" altLang="zh-CN" sz="2400" dirty="0"/>
              <a:t>How many bits should be reserved for the page directory index, page table index and the offset respectively?</a:t>
            </a:r>
          </a:p>
          <a:p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EDB363-5399-895E-F24F-05A350E677D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695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8523B-292C-BA41-8E6A-B6F9424C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Practice</a:t>
            </a:r>
            <a:endParaRPr kumimoji="1"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49FF9824-235A-9DF4-3AE4-8E5556F031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endParaRPr lang="en-US" altLang="zh-CN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The bits for page directory index: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4=2</m:t>
                        </m:r>
                      </m:e>
                    </m:func>
                  </m:oMath>
                </a14:m>
                <a:endParaRPr lang="en-US" altLang="zh-CN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The bits for page table index: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8=3</m:t>
                        </m:r>
                      </m:e>
                    </m:func>
                  </m:oMath>
                </a14:m>
                <a:endParaRPr lang="en-US" altLang="zh-CN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32 bytes/4 bytes = 8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The bits of offset: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8=3</m:t>
                        </m:r>
                      </m:e>
                    </m:func>
                  </m:oMath>
                </a14:m>
                <a:endParaRPr lang="en-US" altLang="zh-CN" sz="2400" b="0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The bits for virtual address: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2+3+3=8</m:t>
                    </m:r>
                  </m:oMath>
                </a14:m>
                <a:endParaRPr lang="en-US" altLang="zh-CN" sz="2400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altLang="zh-CN" sz="2400" dirty="0"/>
                  <a:t>Virtual address space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kumimoji="1" lang="zh-HK" altLang="en-US" dirty="0"/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49FF9824-235A-9DF4-3AE4-8E5556F031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646C50-5098-5721-FB5C-B103730AB64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9C109A-D943-9AF9-AF75-DE2E526E4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08176"/>
              </p:ext>
            </p:extLst>
          </p:nvPr>
        </p:nvGraphicFramePr>
        <p:xfrm>
          <a:off x="6873578" y="1229567"/>
          <a:ext cx="429527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2361336966"/>
                    </a:ext>
                  </a:extLst>
                </a:gridCol>
                <a:gridCol w="2110870">
                  <a:extLst>
                    <a:ext uri="{9D8B030D-6E8A-4147-A177-3AD203B41FA5}">
                      <a16:colId xmlns:a16="http://schemas.microsoft.com/office/drawing/2014/main" val="1639145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Word Length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32 bits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631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Page Size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32 bytes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699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Page Directory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4 entries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85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Page Table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8 entries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50533"/>
                  </a:ext>
                </a:extLst>
              </a:tr>
            </a:tbl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DDB887-1211-4CFD-BCE7-8843371FA7F4}"/>
              </a:ext>
            </a:extLst>
          </p:cNvPr>
          <p:cNvGrpSpPr/>
          <p:nvPr/>
        </p:nvGrpSpPr>
        <p:grpSpPr>
          <a:xfrm>
            <a:off x="6451002" y="3164542"/>
            <a:ext cx="5140422" cy="3135406"/>
            <a:chOff x="6451002" y="3164542"/>
            <a:chExt cx="5140422" cy="313540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AC2D990-55FD-B58C-5B44-EAE5A973E9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513" b="3038"/>
            <a:stretch/>
          </p:blipFill>
          <p:spPr>
            <a:xfrm>
              <a:off x="6451002" y="3164542"/>
              <a:ext cx="5140422" cy="3135406"/>
            </a:xfrm>
            <a:prstGeom prst="rect">
              <a:avLst/>
            </a:prstGeom>
          </p:spPr>
        </p:pic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A5AAF037-613A-AE48-1990-E80A8473D989}"/>
                </a:ext>
              </a:extLst>
            </p:cNvPr>
            <p:cNvSpPr/>
            <p:nvPr/>
          </p:nvSpPr>
          <p:spPr>
            <a:xfrm>
              <a:off x="7897906" y="3429000"/>
              <a:ext cx="2761129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725D695C-4C6C-4058-F0C7-E950348AD9E4}"/>
                </a:ext>
              </a:extLst>
            </p:cNvPr>
            <p:cNvSpPr/>
            <p:nvPr/>
          </p:nvSpPr>
          <p:spPr>
            <a:xfrm>
              <a:off x="6714829" y="4526877"/>
              <a:ext cx="428922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FEEC852C-A664-4F61-325D-701432A53277}"/>
                </a:ext>
              </a:extLst>
            </p:cNvPr>
            <p:cNvSpPr/>
            <p:nvPr/>
          </p:nvSpPr>
          <p:spPr>
            <a:xfrm>
              <a:off x="8470151" y="4491952"/>
              <a:ext cx="275614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F20079E0-5E9D-0B3B-4BC6-0D5875935535}"/>
                </a:ext>
              </a:extLst>
            </p:cNvPr>
            <p:cNvSpPr/>
            <p:nvPr/>
          </p:nvSpPr>
          <p:spPr>
            <a:xfrm>
              <a:off x="10166350" y="3997325"/>
              <a:ext cx="831850" cy="184150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8860F4EA-E218-9BB9-CA1A-24ABBBFB49A2}"/>
                </a:ext>
              </a:extLst>
            </p:cNvPr>
            <p:cNvSpPr/>
            <p:nvPr/>
          </p:nvSpPr>
          <p:spPr>
            <a:xfrm>
              <a:off x="8292351" y="5669877"/>
              <a:ext cx="275614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C5DEABEB-7DBB-F508-1C93-4018B9310B9F}"/>
                </a:ext>
              </a:extLst>
            </p:cNvPr>
            <p:cNvSpPr/>
            <p:nvPr/>
          </p:nvSpPr>
          <p:spPr>
            <a:xfrm>
              <a:off x="6714829" y="5949725"/>
              <a:ext cx="275614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87049FF3-A464-5C3E-8A22-B29AD7E9B2F4}"/>
                </a:ext>
              </a:extLst>
            </p:cNvPr>
            <p:cNvSpPr/>
            <p:nvPr/>
          </p:nvSpPr>
          <p:spPr>
            <a:xfrm>
              <a:off x="9946526" y="5363974"/>
              <a:ext cx="275614" cy="121024"/>
            </a:xfrm>
            <a:prstGeom prst="roundRect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5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670033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9E42B7-10ED-48AB-EACA-E3C711D9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/>
              <a:t>Practice</a:t>
            </a:r>
            <a:endParaRPr kumimoji="1"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9A2991-A85E-0CBD-B2BA-C5B4869AD5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8FE84EB-640A-AFFF-65C4-FBDC5C31E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084" y="1021401"/>
            <a:ext cx="10502900" cy="182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b) For virtual address space defined by the two level page table as shown in Figure1, given the following virtual addresses: 22, 68, 150, 245. Which of the above addresses would be mapped? If the virtual address is mapped, what is its corresponding physical address?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4B6D966-F589-1CF9-E6A8-767BA1AA2CA3}"/>
                  </a:ext>
                </a:extLst>
              </p:cNvPr>
              <p:cNvSpPr txBox="1"/>
              <p:nvPr/>
            </p:nvSpPr>
            <p:spPr>
              <a:xfrm>
                <a:off x="2310834" y="285981"/>
                <a:ext cx="87556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𝑃h𝑦𝑠𝑖𝑐𝑎𝑙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𝐴𝑑𝑑𝑟𝑒𝑠𝑠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𝑃𝑎𝑔𝑒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𝐹𝑟𝑎𝑚𝑒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𝑃𝑎𝑔𝑒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𝑆𝑖𝑧𝑒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𝑂𝑓𝑓𝑠𝑒𝑡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4B6D966-F589-1CF9-E6A8-767BA1AA2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34" y="285981"/>
                <a:ext cx="8755667" cy="369332"/>
              </a:xfrm>
              <a:prstGeom prst="rect">
                <a:avLst/>
              </a:prstGeom>
              <a:blipFill>
                <a:blip r:embed="rId3"/>
                <a:stretch>
                  <a:fillRect l="-579" t="-10000" r="-579" b="-3333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DEA2D201-D1FF-B625-2133-413617C03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30" y="2832644"/>
            <a:ext cx="6097870" cy="40253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F96B291E-709A-E2E2-A28E-2E53AB30FF29}"/>
                  </a:ext>
                </a:extLst>
              </p:cNvPr>
              <p:cNvSpPr txBox="1"/>
              <p:nvPr/>
            </p:nvSpPr>
            <p:spPr>
              <a:xfrm>
                <a:off x="6356423" y="2897276"/>
                <a:ext cx="5405647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=00010110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Page directory index: 0, Page table index: 2, offset:6</a:t>
                </a:r>
              </a:p>
              <a:p>
                <a:r>
                  <a:rPr lang="en-US" altLang="zh-CN" dirty="0"/>
                  <a:t>Physical address: 6*8+6=54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68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=01000100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Page directory index: 1, Page  table index: 0, offset:4</a:t>
                </a:r>
              </a:p>
              <a:p>
                <a:r>
                  <a:rPr lang="en-US" altLang="zh-CN" dirty="0"/>
                  <a:t>Not mapped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=10010110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Page directory index: 2, Page table index: 2, offset:6</a:t>
                </a:r>
              </a:p>
              <a:p>
                <a:r>
                  <a:rPr lang="en-US" altLang="zh-CN" dirty="0"/>
                  <a:t>Physical address: 4*8+6=38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=11110101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Page directory index: 3, Page table index: 6, offset:5</a:t>
                </a:r>
              </a:p>
              <a:p>
                <a:r>
                  <a:rPr lang="en-US" altLang="zh-CN" dirty="0"/>
                  <a:t>Not mapped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F96B291E-709A-E2E2-A28E-2E53AB30F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423" y="2897276"/>
                <a:ext cx="5405647" cy="3693319"/>
              </a:xfrm>
              <a:prstGeom prst="rect">
                <a:avLst/>
              </a:prstGeom>
              <a:blipFill>
                <a:blip r:embed="rId5"/>
                <a:stretch>
                  <a:fillRect l="-939" r="-3521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60428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Q &amp; A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5808</TotalTime>
  <Words>527</Words>
  <Application>Microsoft Macintosh PowerPoint</Application>
  <PresentationFormat>宽屏</PresentationFormat>
  <Paragraphs>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.SF NS</vt:lpstr>
      <vt:lpstr>굴림</vt:lpstr>
      <vt:lpstr>HY견고딕</vt:lpstr>
      <vt:lpstr>맑은 고딕</vt:lpstr>
      <vt:lpstr>맑은 고딕</vt:lpstr>
      <vt:lpstr>Arial</vt:lpstr>
      <vt:lpstr>Calibri</vt:lpstr>
      <vt:lpstr>Cambria Math</vt:lpstr>
      <vt:lpstr>Courier New</vt:lpstr>
      <vt:lpstr>Gill Sans MT</vt:lpstr>
      <vt:lpstr>Helvetica</vt:lpstr>
      <vt:lpstr>Helvetica Light</vt:lpstr>
      <vt:lpstr>Helvetica Neue</vt:lpstr>
      <vt:lpstr>Helvetica Neue Light</vt:lpstr>
      <vt:lpstr>Wingdings</vt:lpstr>
      <vt:lpstr>White</vt:lpstr>
      <vt:lpstr>2_3150-revised</vt:lpstr>
      <vt:lpstr>PowerPoint 演示文稿</vt:lpstr>
      <vt:lpstr>Reminder</vt:lpstr>
      <vt:lpstr>Paging</vt:lpstr>
      <vt:lpstr>Page Table Mechanism</vt:lpstr>
      <vt:lpstr>Multi-level Page Tables</vt:lpstr>
      <vt:lpstr>Multi-level Page Tables Example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Jianqiang</dc:creator>
  <cp:lastModifiedBy>Yangtao Deng</cp:lastModifiedBy>
  <cp:revision>65</cp:revision>
  <dcterms:created xsi:type="dcterms:W3CDTF">2023-01-06T06:17:44Z</dcterms:created>
  <dcterms:modified xsi:type="dcterms:W3CDTF">2026-03-26T03:50:33Z</dcterms:modified>
</cp:coreProperties>
</file>