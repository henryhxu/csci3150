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4" r:id="rId1"/>
    <p:sldMasterId id="2147483677" r:id="rId2"/>
  </p:sldMasterIdLst>
  <p:notesMasterIdLst>
    <p:notesMasterId r:id="rId51"/>
  </p:notesMasterIdLst>
  <p:sldIdLst>
    <p:sldId id="2991" r:id="rId3"/>
    <p:sldId id="2405" r:id="rId4"/>
    <p:sldId id="2406" r:id="rId5"/>
    <p:sldId id="2407" r:id="rId6"/>
    <p:sldId id="2408" r:id="rId7"/>
    <p:sldId id="2992" r:id="rId8"/>
    <p:sldId id="2409" r:id="rId9"/>
    <p:sldId id="2410" r:id="rId10"/>
    <p:sldId id="2411" r:id="rId11"/>
    <p:sldId id="2412" r:id="rId12"/>
    <p:sldId id="2413" r:id="rId13"/>
    <p:sldId id="2414" r:id="rId14"/>
    <p:sldId id="2415" r:id="rId15"/>
    <p:sldId id="2416" r:id="rId16"/>
    <p:sldId id="2417" r:id="rId17"/>
    <p:sldId id="2418" r:id="rId18"/>
    <p:sldId id="2419" r:id="rId19"/>
    <p:sldId id="2420" r:id="rId20"/>
    <p:sldId id="2960" r:id="rId21"/>
    <p:sldId id="2961" r:id="rId22"/>
    <p:sldId id="2962" r:id="rId23"/>
    <p:sldId id="2963" r:id="rId24"/>
    <p:sldId id="2964" r:id="rId25"/>
    <p:sldId id="2965" r:id="rId26"/>
    <p:sldId id="2966" r:id="rId27"/>
    <p:sldId id="2967" r:id="rId28"/>
    <p:sldId id="2968" r:id="rId29"/>
    <p:sldId id="2421" r:id="rId30"/>
    <p:sldId id="2422" r:id="rId31"/>
    <p:sldId id="2423" r:id="rId32"/>
    <p:sldId id="2424" r:id="rId33"/>
    <p:sldId id="2978" r:id="rId34"/>
    <p:sldId id="2969" r:id="rId35"/>
    <p:sldId id="2970" r:id="rId36"/>
    <p:sldId id="2971" r:id="rId37"/>
    <p:sldId id="2972" r:id="rId38"/>
    <p:sldId id="2973" r:id="rId39"/>
    <p:sldId id="2974" r:id="rId40"/>
    <p:sldId id="2975" r:id="rId41"/>
    <p:sldId id="2976" r:id="rId42"/>
    <p:sldId id="2977" r:id="rId43"/>
    <p:sldId id="2425" r:id="rId44"/>
    <p:sldId id="2426" r:id="rId45"/>
    <p:sldId id="2427" r:id="rId46"/>
    <p:sldId id="2428" r:id="rId47"/>
    <p:sldId id="2429" r:id="rId48"/>
    <p:sldId id="2430" r:id="rId49"/>
    <p:sldId id="2431" r:id="rId50"/>
  </p:sldIdLst>
  <p:sldSz cx="9144000" cy="6858000" type="screen4x3"/>
  <p:notesSz cx="9928225" cy="679767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972" userDrawn="1">
          <p15:clr>
            <a:srgbClr val="A4A3A4"/>
          </p15:clr>
        </p15:guide>
        <p15:guide id="2" pos="3155" userDrawn="1">
          <p15:clr>
            <a:srgbClr val="A4A3A4"/>
          </p15:clr>
        </p15:guide>
        <p15:guide id="3" orient="horz" pos="2141" userDrawn="1">
          <p15:clr>
            <a:srgbClr val="A4A3A4"/>
          </p15:clr>
        </p15:guide>
        <p15:guide id="4" pos="3128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KYLim" initials="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FF"/>
    <a:srgbClr val="6699FF"/>
    <a:srgbClr val="FF66CC"/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43" autoAdjust="0"/>
    <p:restoredTop sz="92055" autoAdjust="0"/>
  </p:normalViewPr>
  <p:slideViewPr>
    <p:cSldViewPr>
      <p:cViewPr varScale="1">
        <p:scale>
          <a:sx n="117" d="100"/>
          <a:sy n="117" d="100"/>
        </p:scale>
        <p:origin x="1888" y="16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>
      <p:cViewPr varScale="1">
        <p:scale>
          <a:sx n="115" d="100"/>
          <a:sy n="115" d="100"/>
        </p:scale>
        <p:origin x="5178" y="120"/>
      </p:cViewPr>
      <p:guideLst>
        <p:guide orient="horz" pos="1972"/>
        <p:guide pos="3155"/>
        <p:guide orient="horz" pos="2141"/>
        <p:guide pos="312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commentAuthors" Target="commentAuthor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4302231" cy="339884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3699" y="1"/>
            <a:ext cx="4302231" cy="339884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r">
              <a:defRPr sz="1200"/>
            </a:lvl1pPr>
          </a:lstStyle>
          <a:p>
            <a:fld id="{050F0499-AE52-4672-879B-3107B2FC2A9F}" type="datetimeFigureOut">
              <a:rPr lang="ko-KR" altLang="en-US" smtClean="0"/>
              <a:t>2024. 9. 30.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263900" y="509588"/>
            <a:ext cx="3400425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3" tIns="45717" rIns="91433" bIns="45717" rtlCol="0" anchor="ctr"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6456612"/>
            <a:ext cx="4302231" cy="33988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3699" y="6456612"/>
            <a:ext cx="4302231" cy="33988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r">
              <a:defRPr sz="1200"/>
            </a:lvl1pPr>
          </a:lstStyle>
          <a:p>
            <a:fld id="{E9CED1A8-8C93-4BD0-9402-1D92621696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5232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50024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01653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71488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22670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98329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7EE2-8E95-3456-375F-84F5BACCE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102925-72EF-AADA-EEDE-BCE853969B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2E2E10-F604-580A-C419-6DC5F5A33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373247-8579-A879-96FA-81FDBD46AC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61014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66466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12237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3064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81887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90200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90388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89390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3423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92844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8528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07856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76059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81927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4138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253287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420268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47120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1519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24802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09439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26428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98286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326676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394573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547319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32765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553219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084997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00810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732240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78923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161281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576066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673397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84505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956923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98821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762911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482525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479928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92083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2734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14313" y="64880"/>
            <a:ext cx="8786812" cy="585787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/>
          <a:lstStyle>
            <a:lvl1pPr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cxnSp>
        <p:nvCxnSpPr>
          <p:cNvPr id="5" name="직선 연결선 3">
            <a:extLst>
              <a:ext uri="{FF2B5EF4-FFF2-40B4-BE49-F238E27FC236}">
                <a16:creationId xmlns:a16="http://schemas.microsoft.com/office/drawing/2014/main" id="{415990F0-0AF7-0001-7736-30B1711C7D32}"/>
              </a:ext>
            </a:extLst>
          </p:cNvPr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1144464"/>
      </p:ext>
    </p:extLst>
  </p:cSld>
  <p:clrMapOvr>
    <a:masterClrMapping/>
  </p:clrMapOvr>
  <p:transition>
    <p:zoom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305002"/>
      </p:ext>
    </p:extLst>
  </p:cSld>
  <p:clrMapOvr>
    <a:masterClrMapping/>
  </p:clrMapOvr>
  <p:transition>
    <p:zoom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/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lang="ko-KR" altLang="en-US" sz="4000" b="1" dirty="0">
                <a:solidFill>
                  <a:schemeClr val="accent1">
                    <a:lumMod val="75000"/>
                  </a:schemeClr>
                </a:solidFill>
                <a:latin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algun Gothic" panose="020B0503020000020004" pitchFamily="34" charset="-127"/>
                <a:ea typeface="Malgun Gothic" panose="020B0503020000020004" pitchFamily="34" charset="-127"/>
                <a:hlinkClick r:id="rId2"/>
              </a:rPr>
              <a:t>https://github.com/henryhxu/CSCI3150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0895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 lIns="90000"/>
          <a:lstStyle>
            <a:lvl1pPr latinLnBrk="0"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08129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5155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5A0C360-F875-469D-A977-82806D0D3C5E}" type="slidenum">
              <a:rPr kumimoji="1" lang="en-US" altLang="ko-KR" smtClean="0">
                <a:solidFill>
                  <a:srgbClr val="1F497D">
                    <a:lumMod val="50000"/>
                  </a:srgbClr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ko-KR">
              <a:solidFill>
                <a:srgbClr val="1F497D">
                  <a:lumMod val="50000"/>
                </a:srgbClr>
              </a:solidFill>
            </a:endParaRP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" name="직사각형 4">
            <a:extLst>
              <a:ext uri="{FF2B5EF4-FFF2-40B4-BE49-F238E27FC236}">
                <a16:creationId xmlns:a16="http://schemas.microsoft.com/office/drawing/2014/main" id="{8436F943-8765-7018-8F61-D466AB0ACD20}"/>
              </a:ext>
            </a:extLst>
          </p:cNvPr>
          <p:cNvSpPr/>
          <p:nvPr userDrawn="1"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" name="직사각형 9">
            <a:extLst>
              <a:ext uri="{FF2B5EF4-FFF2-40B4-BE49-F238E27FC236}">
                <a16:creationId xmlns:a16="http://schemas.microsoft.com/office/drawing/2014/main" id="{8F349F52-6F96-45E8-AD35-1C2898E8CE8E}"/>
              </a:ext>
            </a:extLst>
          </p:cNvPr>
          <p:cNvSpPr/>
          <p:nvPr userDrawn="1"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5890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3" r:id="rId2"/>
  </p:sldLayoutIdLst>
  <p:transition>
    <p:zoom/>
  </p:transition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맑은 고딕" pitchFamily="50" charset="-127"/>
          <a:ea typeface="맑은 고딕" pitchFamily="50" charset="-127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맑은 고딕" pitchFamily="50" charset="-127"/>
          <a:ea typeface="맑은 고딕" pitchFamily="50" charset="-127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ko-KR" altLang="en-US" dirty="0"/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fld id="{5BCC3F0E-9362-6D47-9781-DB401EE9B6B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en-US"/>
              <a:t>CSCI3150 Intro to Operating Systems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89417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0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>
          <a:xfrm>
            <a:off x="683568" y="1484786"/>
            <a:ext cx="7772400" cy="1326009"/>
          </a:xfrm>
        </p:spPr>
        <p:txBody>
          <a:bodyPr/>
          <a:lstStyle/>
          <a:p>
            <a:pPr latinLnBrk="0"/>
            <a:r>
              <a:rPr lang="en-US" altLang="zh-CN" sz="3600" dirty="0"/>
              <a:t>CSCI3150</a:t>
            </a:r>
            <a:r>
              <a:rPr lang="zh-CN" altLang="en-US" sz="3600" dirty="0"/>
              <a:t> </a:t>
            </a:r>
            <a:r>
              <a:rPr lang="en-US" altLang="zh-CN" sz="3600" dirty="0"/>
              <a:t>Introduction</a:t>
            </a:r>
            <a:r>
              <a:rPr lang="zh-CN" altLang="en-US" sz="3600" dirty="0"/>
              <a:t> </a:t>
            </a:r>
            <a:r>
              <a:rPr lang="en-US" altLang="zh-CN" sz="3600" dirty="0"/>
              <a:t>to</a:t>
            </a:r>
            <a:r>
              <a:rPr lang="zh-CN" altLang="en-US" sz="3600" dirty="0"/>
              <a:t> </a:t>
            </a:r>
            <a:r>
              <a:rPr lang="en-US" sz="3600" dirty="0"/>
              <a:t>Operating Systems</a:t>
            </a:r>
            <a:endParaRPr lang="en-US" sz="1600" b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BF8FA8-3607-FC4B-303A-4C5A91BC53F8}"/>
              </a:ext>
            </a:extLst>
          </p:cNvPr>
          <p:cNvSpPr txBox="1"/>
          <p:nvPr/>
        </p:nvSpPr>
        <p:spPr>
          <a:xfrm>
            <a:off x="683568" y="3933058"/>
            <a:ext cx="7772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Lecture </a:t>
            </a:r>
            <a:r>
              <a:rPr lang="en-US" sz="3600" dirty="0">
                <a:solidFill>
                  <a:prstClr val="black"/>
                </a:solidFill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6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: </a:t>
            </a:r>
            <a:r>
              <a:rPr kumimoji="0" lang="en-HK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Synch</a:t>
            </a:r>
            <a:r>
              <a:rPr kumimoji="0" lang="en-US" altLang="zh-CN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ronization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lang="en-US" altLang="zh-CN" sz="3600" dirty="0">
                <a:solidFill>
                  <a:prstClr val="black"/>
                </a:solidFill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2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: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Condition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Variables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굴림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4308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Condition Variables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There are many cases where a thread wishes to </a:t>
            </a:r>
            <a:r>
              <a:rPr lang="en-US" altLang="ko-KR" u="sng" dirty="0"/>
              <a:t>check</a:t>
            </a:r>
            <a:r>
              <a:rPr lang="en-US" altLang="ko-KR" dirty="0"/>
              <a:t> whether a </a:t>
            </a:r>
            <a:r>
              <a:rPr lang="en-US" altLang="ko-KR" b="1" dirty="0"/>
              <a:t>condition</a:t>
            </a:r>
            <a:r>
              <a:rPr lang="en-US" altLang="ko-KR" dirty="0"/>
              <a:t> is true before continuing its execution.</a:t>
            </a:r>
          </a:p>
          <a:p>
            <a:r>
              <a:rPr lang="en-US" altLang="ko-KR" dirty="0"/>
              <a:t>Example:</a:t>
            </a:r>
          </a:p>
          <a:p>
            <a:pPr lvl="1"/>
            <a:r>
              <a:rPr lang="en-US" altLang="ko-KR" dirty="0"/>
              <a:t>A parent thread might wish to check whether a child thread has </a:t>
            </a:r>
            <a:r>
              <a:rPr lang="en-US" altLang="ko-KR" i="1" dirty="0"/>
              <a:t>completed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This is often called a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join()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5786342"/>
      </p:ext>
    </p:extLst>
  </p:cSld>
  <p:clrMapOvr>
    <a:masterClrMapping/>
  </p:clrMapOvr>
  <p:transition>
    <p:zoom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Condition Variables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755576" y="1256561"/>
            <a:ext cx="7632848" cy="310854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 	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*child(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 	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("child\n");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3 	    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XXX how to indicate we are done?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4 	    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return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NULL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5 	}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6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7 	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main(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argc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, 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char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argv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[])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8 	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("parent: begin\n");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9 	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c;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10 	    </a:t>
            </a:r>
            <a:r>
              <a:rPr lang="en-US" altLang="zh-CN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thread_create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(&amp;c,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NULL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, child,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NULL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); 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create child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11 	    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XXX how to wait for child?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12 	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("parent: end\n");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13 	    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return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14 	}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755576" y="5045114"/>
            <a:ext cx="7632848" cy="73866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parent: begin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child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parent: 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576" y="908720"/>
            <a:ext cx="33843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 Parent Waiting For Its Child</a:t>
            </a:r>
            <a:endParaRPr lang="ko-KR" altLang="en-US" sz="16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55576" y="4674622"/>
            <a:ext cx="47525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What we would like to see here is:</a:t>
            </a:r>
            <a:endParaRPr lang="ko-KR" altLang="en-US" sz="16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52598764"/>
      </p:ext>
    </p:extLst>
  </p:cSld>
  <p:clrMapOvr>
    <a:masterClrMapping/>
  </p:clrMapOvr>
  <p:transition>
    <p:zoom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Parent waiting for child: Spin-based Approach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dirty="0"/>
              <a:t>This is hugely </a:t>
            </a:r>
            <a:r>
              <a:rPr lang="en-US" altLang="ko-KR" u="sng" dirty="0"/>
              <a:t>inefficient</a:t>
            </a:r>
            <a:r>
              <a:rPr lang="en-US" altLang="ko-KR" dirty="0"/>
              <a:t> as the parent spins and </a:t>
            </a:r>
            <a:r>
              <a:rPr lang="en-US" altLang="ko-KR" b="1" dirty="0"/>
              <a:t>wastes CPU time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755576" y="1124744"/>
            <a:ext cx="7632848" cy="375487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 	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volatile 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done 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3 	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*child(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4 	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("child\n");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5 	    done 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6 	    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return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NULL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7 	}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8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9 	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main(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argc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, 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char 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*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argv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[])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10 	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("parent: begin\n");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11 	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c;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12 	    </a:t>
            </a:r>
            <a:r>
              <a:rPr lang="en-US" altLang="zh-CN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thread_create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(&amp;c,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NULL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, child,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NULL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); 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create child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13 	    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while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(done ==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14 	        ; 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spin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15 	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("parent: end\n");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16 	    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return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17 	}</a:t>
            </a:r>
          </a:p>
        </p:txBody>
      </p:sp>
    </p:spTree>
    <p:extLst>
      <p:ext uri="{BB962C8B-B14F-4D97-AF65-F5344CB8AC3E}">
        <p14:creationId xmlns:p14="http://schemas.microsoft.com/office/powerpoint/2010/main" val="986698725"/>
      </p:ext>
    </p:extLst>
  </p:cSld>
  <p:clrMapOvr>
    <a:masterClrMapping/>
  </p:clrMapOvr>
  <p:transition>
    <p:zoom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How to wait for a condition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Condition variable</a:t>
            </a:r>
          </a:p>
          <a:p>
            <a:pPr lvl="1"/>
            <a:r>
              <a:rPr lang="en-US" altLang="ko-KR" dirty="0"/>
              <a:t>Queue of threads</a:t>
            </a:r>
          </a:p>
          <a:p>
            <a:pPr lvl="1"/>
            <a:r>
              <a:rPr lang="en-US" altLang="ko-KR" b="1" dirty="0"/>
              <a:t>Waiting</a:t>
            </a:r>
            <a:r>
              <a:rPr lang="en-US" altLang="ko-KR" dirty="0"/>
              <a:t> on the condition</a:t>
            </a:r>
          </a:p>
          <a:p>
            <a:pPr lvl="2"/>
            <a:r>
              <a:rPr lang="en-US" altLang="ko-KR" u="sng" dirty="0"/>
              <a:t>An explicit queue</a:t>
            </a:r>
            <a:r>
              <a:rPr lang="en-US" altLang="ko-KR" dirty="0"/>
              <a:t> that threads can put themselves on when some state of execution is not as desired.</a:t>
            </a:r>
          </a:p>
          <a:p>
            <a:pPr lvl="1"/>
            <a:r>
              <a:rPr lang="en-US" altLang="ko-KR" b="1" dirty="0"/>
              <a:t>Signaling</a:t>
            </a:r>
            <a:r>
              <a:rPr lang="en-US" altLang="ko-KR" dirty="0"/>
              <a:t> on the condition</a:t>
            </a:r>
          </a:p>
          <a:p>
            <a:pPr lvl="2"/>
            <a:r>
              <a:rPr lang="en-US" altLang="ko-KR" dirty="0"/>
              <a:t>Some other thread, </a:t>
            </a:r>
            <a:r>
              <a:rPr lang="en-US" altLang="ko-KR" i="1" dirty="0"/>
              <a:t>when it changes it state</a:t>
            </a:r>
            <a:r>
              <a:rPr lang="en-US" altLang="ko-KR" dirty="0"/>
              <a:t>, can wake </a:t>
            </a:r>
            <a:r>
              <a:rPr lang="en-US" altLang="zh-CN" dirty="0">
                <a:solidFill>
                  <a:srgbClr val="FF0000"/>
                </a:solidFill>
              </a:rPr>
              <a:t>AT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LEAST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ko-KR" dirty="0"/>
              <a:t>one of those waiting threads and allow them to continue.</a:t>
            </a:r>
          </a:p>
          <a:p>
            <a:pPr lvl="2"/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wakeup</a:t>
            </a:r>
            <a:r>
              <a:rPr lang="zh-CN" altLang="en-US" dirty="0"/>
              <a:t> </a:t>
            </a:r>
            <a:r>
              <a:rPr lang="en-US" altLang="zh-CN" dirty="0"/>
              <a:t>order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unspecified,</a:t>
            </a:r>
            <a:r>
              <a:rPr lang="zh-CN" altLang="en-US" dirty="0"/>
              <a:t> </a:t>
            </a:r>
            <a:r>
              <a:rPr lang="en-US" altLang="zh-CN" dirty="0"/>
              <a:t>though</a:t>
            </a:r>
            <a:r>
              <a:rPr lang="zh-CN" altLang="en-US" dirty="0"/>
              <a:t> </a:t>
            </a:r>
            <a:r>
              <a:rPr lang="en-US" altLang="zh-CN" dirty="0"/>
              <a:t>FIFO</a:t>
            </a:r>
            <a:r>
              <a:rPr lang="zh-CN" altLang="en-US" dirty="0"/>
              <a:t> </a:t>
            </a:r>
            <a:r>
              <a:rPr lang="en-US" altLang="zh-CN" dirty="0"/>
              <a:t>may</a:t>
            </a:r>
            <a:r>
              <a:rPr lang="zh-CN" altLang="en-US" dirty="0"/>
              <a:t> </a:t>
            </a:r>
            <a:r>
              <a:rPr lang="en-US" altLang="zh-CN" dirty="0"/>
              <a:t>be</a:t>
            </a:r>
            <a:r>
              <a:rPr lang="zh-CN" altLang="en-US" dirty="0"/>
              <a:t> </a:t>
            </a:r>
            <a:r>
              <a:rPr lang="en-US" altLang="zh-CN" dirty="0"/>
              <a:t>more</a:t>
            </a:r>
            <a:r>
              <a:rPr lang="zh-CN" altLang="en-US" dirty="0"/>
              <a:t> </a:t>
            </a:r>
            <a:r>
              <a:rPr lang="en-US" altLang="zh-CN" dirty="0"/>
              <a:t>commonly</a:t>
            </a:r>
            <a:r>
              <a:rPr lang="zh-CN" altLang="en-US" dirty="0"/>
              <a:t> </a:t>
            </a:r>
            <a:r>
              <a:rPr lang="en-US" altLang="zh-CN" dirty="0"/>
              <a:t>used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7676883"/>
      </p:ext>
    </p:extLst>
  </p:cSld>
  <p:clrMapOvr>
    <a:masterClrMapping/>
  </p:clrMapOvr>
  <p:transition>
    <p:zoom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8B8A3-A408-D183-C514-BF76DFE10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91EFE-AC22-3416-7203-DC516DA13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How to wait for a condition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2980FC-E360-4545-4572-8661D329F2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HK" altLang="ko-KR" dirty="0"/>
              <a:t>T</a:t>
            </a:r>
            <a:r>
              <a:rPr lang="en-US" altLang="zh-CN" dirty="0" err="1"/>
              <a:t>hree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package</a:t>
            </a:r>
          </a:p>
          <a:p>
            <a:pPr lvl="1"/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condition</a:t>
            </a:r>
            <a:r>
              <a:rPr lang="zh-CN" altLang="en-US" dirty="0"/>
              <a:t> </a:t>
            </a:r>
            <a:r>
              <a:rPr lang="en-US" altLang="zh-CN" dirty="0"/>
              <a:t>variable</a:t>
            </a:r>
          </a:p>
          <a:p>
            <a:pPr lvl="1"/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state</a:t>
            </a:r>
            <a:r>
              <a:rPr lang="zh-CN" altLang="en-US" dirty="0"/>
              <a:t> </a:t>
            </a:r>
            <a:r>
              <a:rPr lang="en-US" altLang="zh-CN" dirty="0"/>
              <a:t>variable</a:t>
            </a:r>
          </a:p>
          <a:p>
            <a:pPr lvl="1"/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lock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protect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shared</a:t>
            </a:r>
            <a:r>
              <a:rPr lang="zh-CN" altLang="en-US" dirty="0"/>
              <a:t> </a:t>
            </a:r>
            <a:r>
              <a:rPr lang="en-US" altLang="zh-CN" dirty="0"/>
              <a:t>state</a:t>
            </a:r>
            <a:r>
              <a:rPr lang="zh-CN" altLang="en-US" dirty="0"/>
              <a:t> </a:t>
            </a:r>
            <a:r>
              <a:rPr lang="en-US" altLang="zh-CN" dirty="0"/>
              <a:t>variable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E769AF-CFF8-37ED-C511-7B409A35FB3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E36823-E8EE-2876-6B58-92C86D2EF7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540036"/>
      </p:ext>
    </p:extLst>
  </p:cSld>
  <p:clrMapOvr>
    <a:masterClrMapping/>
  </p:clrMapOvr>
  <p:transition>
    <p:zoom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Definition and Routines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Declare condition variable</a:t>
            </a:r>
          </a:p>
          <a:p>
            <a:endParaRPr lang="en-US" altLang="ko-KR" dirty="0"/>
          </a:p>
          <a:p>
            <a:pPr lvl="1"/>
            <a:r>
              <a:rPr lang="en-US" altLang="ko-KR" dirty="0"/>
              <a:t>Proper initialization is required.</a:t>
            </a:r>
          </a:p>
          <a:p>
            <a:pPr lvl="1"/>
            <a:endParaRPr lang="en-US" altLang="ko-KR" dirty="0"/>
          </a:p>
          <a:p>
            <a:r>
              <a:rPr lang="en-US" altLang="ko-KR" dirty="0"/>
              <a:t>Operation (the POSIX calls)</a:t>
            </a:r>
          </a:p>
          <a:p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The wait() call takes a </a:t>
            </a:r>
            <a:r>
              <a:rPr lang="en-US" altLang="ko-KR" u="sng" dirty="0" err="1"/>
              <a:t>mutex</a:t>
            </a:r>
            <a:r>
              <a:rPr lang="en-US" altLang="ko-KR" dirty="0"/>
              <a:t> as a parameter.</a:t>
            </a:r>
          </a:p>
          <a:p>
            <a:pPr lvl="2"/>
            <a:r>
              <a:rPr lang="en-US" altLang="ko-KR" dirty="0"/>
              <a:t>The wait() call releases the lock and puts the calling thread to sleep.</a:t>
            </a:r>
          </a:p>
          <a:p>
            <a:pPr lvl="2"/>
            <a:r>
              <a:rPr lang="en-US" altLang="ko-KR" dirty="0"/>
              <a:t>When the thread wakes up, it </a:t>
            </a:r>
            <a:r>
              <a:rPr lang="en-US" altLang="ko-KR" dirty="0">
                <a:solidFill>
                  <a:srgbClr val="FF0000"/>
                </a:solidFill>
              </a:rPr>
              <a:t>must re-acquire the lock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before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returning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caller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755576" y="1537047"/>
            <a:ext cx="2448272" cy="30777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pthread_cond_t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c;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755576" y="3625860"/>
            <a:ext cx="7920880" cy="5232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pthread_cond_wait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pthread_cond_t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*c,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pthread_mutex_t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*m); 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wait()</a:t>
            </a:r>
          </a:p>
          <a:p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pthread_cond_signal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pthread_cond_t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*c);	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signal()</a:t>
            </a:r>
          </a:p>
        </p:txBody>
      </p:sp>
    </p:spTree>
    <p:extLst>
      <p:ext uri="{BB962C8B-B14F-4D97-AF65-F5344CB8AC3E}">
        <p14:creationId xmlns:p14="http://schemas.microsoft.com/office/powerpoint/2010/main" val="2051166612"/>
      </p:ext>
    </p:extLst>
  </p:cSld>
  <p:clrMapOvr>
    <a:masterClrMapping/>
  </p:clrMapOvr>
  <p:transition>
    <p:zoom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Parent waiting for child: Use a condition variable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755576" y="974333"/>
            <a:ext cx="7632848" cy="526297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 	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done 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 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pthread_mutex_t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m = PTHREAD_MUTEX_INITIALIZER;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3 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pthread_cond_t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c = PTHREAD_COND_INITIALIZER;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4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5 	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thr_exit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6 	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pthread_mutex_lock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(&amp;m);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7 		done 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8 	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pthread_cond_signal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(&amp;c);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9 	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pthread_mutex_unlock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(&amp;m);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10 	}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11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12 	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*child(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13 	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("child\n");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14 	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thr_exit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15 	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return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NULL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16 	}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17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18 	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thr_join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19 	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pthread_mutex_lock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(&amp;m);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20 	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while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(done ==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21 		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pthread_cond_wait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(&amp;c, &amp;m);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22 	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pthread_mutex_unlock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(&amp;m);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23 	}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4030916034"/>
      </p:ext>
    </p:extLst>
  </p:cSld>
  <p:clrMapOvr>
    <a:masterClrMapping/>
  </p:clrMapOvr>
  <p:transition>
    <p:zoom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Parent waiting for Child: Use a condition variable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785918" y="908720"/>
            <a:ext cx="7632848" cy="203132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i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(cont.)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25 	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main(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argc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, 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char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argv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[])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26 	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("parent: begin\n");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27 	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p;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28 	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pthread_create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(&amp;p,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NULL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, child,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NULL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29 	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thr_join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30 	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("parent: end\n");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31 	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return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32 	}</a:t>
            </a:r>
          </a:p>
        </p:txBody>
      </p:sp>
    </p:spTree>
    <p:extLst>
      <p:ext uri="{BB962C8B-B14F-4D97-AF65-F5344CB8AC3E}">
        <p14:creationId xmlns:p14="http://schemas.microsoft.com/office/powerpoint/2010/main" val="2108237799"/>
      </p:ext>
    </p:extLst>
  </p:cSld>
  <p:clrMapOvr>
    <a:masterClrMapping/>
  </p:clrMapOvr>
  <p:transition>
    <p:zoom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Parent waiting for Child: Use a condition variable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1800" b="1" dirty="0"/>
              <a:t>Parent:</a:t>
            </a:r>
          </a:p>
          <a:p>
            <a:pPr lvl="1"/>
            <a:r>
              <a:rPr lang="en-US" altLang="ko-KR" sz="1600" dirty="0"/>
              <a:t>Creates the child thread and continues running itself.</a:t>
            </a:r>
          </a:p>
          <a:p>
            <a:pPr lvl="1"/>
            <a:r>
              <a:rPr lang="en-US" altLang="ko-KR" sz="1600" dirty="0"/>
              <a:t>Calls into </a:t>
            </a:r>
            <a:r>
              <a:rPr lang="en-US" altLang="ko-KR" sz="1600" dirty="0" err="1">
                <a:latin typeface="Courier New" pitchFamily="49" charset="0"/>
                <a:cs typeface="Courier New" pitchFamily="49" charset="0"/>
              </a:rPr>
              <a:t>thr_join</a:t>
            </a:r>
            <a:r>
              <a:rPr lang="en-US" altLang="ko-KR" sz="1600" dirty="0">
                <a:latin typeface="Courier New" pitchFamily="49" charset="0"/>
                <a:cs typeface="Courier New" pitchFamily="49" charset="0"/>
              </a:rPr>
              <a:t>() </a:t>
            </a:r>
            <a:r>
              <a:rPr lang="en-US" altLang="ko-KR" sz="1600" dirty="0"/>
              <a:t>to wait for the child thread to complete.</a:t>
            </a:r>
          </a:p>
          <a:p>
            <a:pPr lvl="2"/>
            <a:r>
              <a:rPr lang="en-US" altLang="ko-KR" sz="1400" dirty="0"/>
              <a:t>Acquires the lock.</a:t>
            </a:r>
          </a:p>
          <a:p>
            <a:pPr lvl="2"/>
            <a:r>
              <a:rPr lang="en-US" altLang="ko-KR" sz="1400" dirty="0"/>
              <a:t>Checks if the child is done.</a:t>
            </a:r>
          </a:p>
          <a:p>
            <a:pPr lvl="2"/>
            <a:r>
              <a:rPr lang="en-US" altLang="ko-KR" sz="1400" dirty="0"/>
              <a:t>Puts itself to sleep by calling </a:t>
            </a:r>
            <a:r>
              <a:rPr lang="en-US" altLang="ko-KR" sz="1400" dirty="0">
                <a:latin typeface="Courier New" pitchFamily="49" charset="0"/>
                <a:cs typeface="Courier New" pitchFamily="49" charset="0"/>
              </a:rPr>
              <a:t>wait().</a:t>
            </a:r>
          </a:p>
          <a:p>
            <a:pPr lvl="2"/>
            <a:r>
              <a:rPr lang="en-US" altLang="ko-KR" sz="1400" dirty="0"/>
              <a:t>Releases the lock.</a:t>
            </a:r>
          </a:p>
          <a:p>
            <a:r>
              <a:rPr lang="en-US" altLang="ko-KR" sz="1800" b="1" dirty="0"/>
              <a:t>Child:</a:t>
            </a:r>
          </a:p>
          <a:p>
            <a:pPr lvl="1"/>
            <a:r>
              <a:rPr lang="en-US" altLang="ko-KR" sz="1600" dirty="0"/>
              <a:t>Prints the message “child”.</a:t>
            </a:r>
          </a:p>
          <a:p>
            <a:pPr lvl="1"/>
            <a:r>
              <a:rPr lang="en-US" altLang="ko-KR" sz="1600" dirty="0"/>
              <a:t>Calls </a:t>
            </a:r>
            <a:r>
              <a:rPr lang="en-US" altLang="ko-KR" sz="1600" dirty="0" err="1">
                <a:latin typeface="Courier New" pitchFamily="49" charset="0"/>
                <a:cs typeface="Courier New" pitchFamily="49" charset="0"/>
              </a:rPr>
              <a:t>thr_exit</a:t>
            </a:r>
            <a:r>
              <a:rPr lang="en-US" altLang="ko-KR" sz="1600" dirty="0">
                <a:latin typeface="Courier New" pitchFamily="49" charset="0"/>
                <a:cs typeface="Courier New" pitchFamily="49" charset="0"/>
              </a:rPr>
              <a:t>()</a:t>
            </a:r>
            <a:r>
              <a:rPr lang="en-US" altLang="ko-KR" sz="1600" dirty="0"/>
              <a:t> to wake up the parent thread.</a:t>
            </a:r>
          </a:p>
          <a:p>
            <a:pPr lvl="2"/>
            <a:r>
              <a:rPr lang="en-US" altLang="ko-KR" sz="1400" dirty="0"/>
              <a:t>Grabs the lock;</a:t>
            </a:r>
          </a:p>
          <a:p>
            <a:pPr lvl="2"/>
            <a:r>
              <a:rPr lang="en-US" altLang="ko-KR" sz="1400" dirty="0"/>
              <a:t>Sets the state variable </a:t>
            </a:r>
            <a:r>
              <a:rPr lang="en-US" altLang="ko-KR" sz="1400" dirty="0">
                <a:latin typeface="Courier New" pitchFamily="49" charset="0"/>
                <a:cs typeface="Courier New" pitchFamily="49" charset="0"/>
              </a:rPr>
              <a:t>done;</a:t>
            </a:r>
          </a:p>
          <a:p>
            <a:pPr lvl="2"/>
            <a:r>
              <a:rPr lang="en-US" altLang="ko-KR" sz="1400" dirty="0"/>
              <a:t>Signals the parent thus waking it.</a:t>
            </a:r>
          </a:p>
          <a:p>
            <a:pPr lvl="1"/>
            <a:endParaRPr lang="ko-KR" altLang="en-US" sz="16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5298019"/>
      </p:ext>
    </p:extLst>
  </p:cSld>
  <p:clrMapOvr>
    <a:masterClrMapping/>
  </p:clrMapOvr>
  <p:transition>
    <p:zoom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Why do we need the state variable?</a:t>
            </a:r>
            <a:endParaRPr lang="ko-KR" alt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Imagine the case where the </a:t>
            </a:r>
            <a:r>
              <a:rPr lang="en-US" altLang="ko-KR" i="1" dirty="0">
                <a:solidFill>
                  <a:srgbClr val="FF0000"/>
                </a:solidFill>
              </a:rPr>
              <a:t>child runs immediately</a:t>
            </a:r>
            <a:r>
              <a:rPr lang="zh-CN" altLang="en-US" i="1" dirty="0">
                <a:solidFill>
                  <a:srgbClr val="FF0000"/>
                </a:solidFill>
              </a:rPr>
              <a:t> </a:t>
            </a:r>
            <a:r>
              <a:rPr lang="en-US" altLang="zh-CN" i="1" dirty="0">
                <a:solidFill>
                  <a:srgbClr val="FF0000"/>
                </a:solidFill>
              </a:rPr>
              <a:t>before</a:t>
            </a:r>
            <a:r>
              <a:rPr lang="zh-CN" altLang="en-US" i="1" dirty="0">
                <a:solidFill>
                  <a:srgbClr val="FF0000"/>
                </a:solidFill>
              </a:rPr>
              <a:t> </a:t>
            </a:r>
            <a:r>
              <a:rPr lang="en-US" altLang="zh-CN" i="1" dirty="0">
                <a:solidFill>
                  <a:srgbClr val="FF0000"/>
                </a:solidFill>
              </a:rPr>
              <a:t>parent</a:t>
            </a:r>
            <a:r>
              <a:rPr lang="zh-CN" altLang="en-US" i="1" dirty="0">
                <a:solidFill>
                  <a:srgbClr val="FF0000"/>
                </a:solidFill>
              </a:rPr>
              <a:t> </a:t>
            </a:r>
            <a:r>
              <a:rPr lang="en-US" altLang="zh-CN" i="1" dirty="0">
                <a:solidFill>
                  <a:srgbClr val="FF0000"/>
                </a:solidFill>
              </a:rPr>
              <a:t>waits</a:t>
            </a:r>
            <a:endParaRPr lang="en-US" altLang="ko-KR" dirty="0"/>
          </a:p>
          <a:p>
            <a:pPr lvl="2"/>
            <a:r>
              <a:rPr lang="en-US" altLang="ko-KR" dirty="0"/>
              <a:t>The child will signal, but there is </a:t>
            </a:r>
            <a:r>
              <a:rPr lang="en-US" altLang="ko-KR" u="sng" dirty="0"/>
              <a:t>no thread asleep</a:t>
            </a:r>
            <a:r>
              <a:rPr lang="en-US" altLang="ko-KR" dirty="0"/>
              <a:t> on the condition.</a:t>
            </a:r>
          </a:p>
          <a:p>
            <a:pPr lvl="2"/>
            <a:r>
              <a:rPr lang="en-US" altLang="ko-KR" dirty="0"/>
              <a:t>When the parent runs, it will call wait and be stuck.</a:t>
            </a:r>
          </a:p>
          <a:p>
            <a:pPr lvl="2"/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No thread will ever wake it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785918" y="1019050"/>
            <a:ext cx="7632848" cy="246221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i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 	</a:t>
            </a:r>
            <a:r>
              <a:rPr lang="en-US" altLang="ko-KR" sz="1400" i="1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 </a:t>
            </a:r>
            <a:r>
              <a:rPr lang="en-US" altLang="ko-KR" sz="1400" i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thr_exit</a:t>
            </a:r>
            <a:r>
              <a:rPr lang="en-US" altLang="ko-KR" sz="1400" i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() {</a:t>
            </a:r>
          </a:p>
          <a:p>
            <a:r>
              <a:rPr lang="en-US" altLang="ko-KR" sz="1400" i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 		</a:t>
            </a:r>
            <a:r>
              <a:rPr lang="en-US" altLang="ko-KR" sz="1400" i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pthread_mutex_lock</a:t>
            </a:r>
            <a:r>
              <a:rPr lang="en-US" altLang="ko-KR" sz="1400" i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(&amp;m);</a:t>
            </a:r>
          </a:p>
          <a:p>
            <a:r>
              <a:rPr lang="en-US" altLang="ko-KR" sz="1400" i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3 		</a:t>
            </a:r>
            <a:r>
              <a:rPr lang="en-US" altLang="ko-KR" sz="1400" i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pthread_cond_signal</a:t>
            </a:r>
            <a:r>
              <a:rPr lang="en-US" altLang="ko-KR" sz="1400" i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(&amp;c);</a:t>
            </a:r>
          </a:p>
          <a:p>
            <a:r>
              <a:rPr lang="en-US" altLang="ko-KR" sz="1400" i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4 		</a:t>
            </a:r>
            <a:r>
              <a:rPr lang="en-US" altLang="ko-KR" sz="1400" i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pthread_mutex_unlock</a:t>
            </a:r>
            <a:r>
              <a:rPr lang="en-US" altLang="ko-KR" sz="1400" i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(&amp;m);</a:t>
            </a:r>
          </a:p>
          <a:p>
            <a:r>
              <a:rPr lang="en-US" altLang="ko-KR" sz="1400" i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5 	}</a:t>
            </a:r>
          </a:p>
          <a:p>
            <a:r>
              <a:rPr lang="en-US" altLang="ko-KR" sz="1400" i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6</a:t>
            </a:r>
          </a:p>
          <a:p>
            <a:r>
              <a:rPr lang="en-US" altLang="ko-KR" sz="1400" i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7 	</a:t>
            </a:r>
            <a:r>
              <a:rPr lang="en-US" altLang="ko-KR" sz="1400" i="1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i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i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thr_join</a:t>
            </a:r>
            <a:r>
              <a:rPr lang="en-US" altLang="ko-KR" sz="1400" i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() {</a:t>
            </a:r>
          </a:p>
          <a:p>
            <a:r>
              <a:rPr lang="en-US" altLang="ko-KR" sz="1400" i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8 		</a:t>
            </a:r>
            <a:r>
              <a:rPr lang="en-US" altLang="ko-KR" sz="1400" i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pthread_mutex_lock</a:t>
            </a:r>
            <a:r>
              <a:rPr lang="en-US" altLang="ko-KR" sz="1400" i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(&amp;m);</a:t>
            </a:r>
          </a:p>
          <a:p>
            <a:r>
              <a:rPr lang="en-US" altLang="ko-KR" sz="1400" i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9 		</a:t>
            </a:r>
            <a:r>
              <a:rPr lang="en-US" altLang="ko-KR" sz="1400" i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pthread_cond_wait</a:t>
            </a:r>
            <a:r>
              <a:rPr lang="en-US" altLang="ko-KR" sz="1400" i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(&amp;c, &amp;m);</a:t>
            </a:r>
          </a:p>
          <a:p>
            <a:r>
              <a:rPr lang="en-US" altLang="ko-KR" sz="1400" i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10 		</a:t>
            </a:r>
            <a:r>
              <a:rPr lang="en-US" altLang="ko-KR" sz="1400" i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pthread_mutex_unlock</a:t>
            </a:r>
            <a:r>
              <a:rPr lang="en-US" altLang="ko-KR" sz="1400" i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(&amp;m);</a:t>
            </a:r>
          </a:p>
          <a:p>
            <a:r>
              <a:rPr lang="en-US" altLang="ko-KR" sz="1400" i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11 	}</a:t>
            </a:r>
            <a:endParaRPr lang="en-US" altLang="ko-KR" sz="14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43608" y="3481263"/>
            <a:ext cx="69127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thr_exit</a:t>
            </a:r>
            <a:r>
              <a:rPr lang="en-US" altLang="ko-KR" sz="14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() </a:t>
            </a:r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and </a:t>
            </a:r>
            <a:r>
              <a:rPr lang="en-US" altLang="ko-KR" sz="1400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thr_join</a:t>
            </a:r>
            <a:r>
              <a:rPr lang="en-US" altLang="ko-KR" sz="14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() </a:t>
            </a:r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without variable </a:t>
            </a:r>
            <a:r>
              <a:rPr lang="en-US" altLang="ko-KR" sz="14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done</a:t>
            </a:r>
            <a:endParaRPr lang="ko-KR" altLang="en-US" sz="1400" b="1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8266150"/>
      </p:ext>
    </p:extLst>
  </p:cSld>
  <p:clrMapOvr>
    <a:masterClrMapping/>
  </p:clrMapOvr>
  <p:transition>
    <p:zoom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Another poor implementation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3068960"/>
            <a:ext cx="8786812" cy="3312368"/>
          </a:xfrm>
        </p:spPr>
        <p:txBody>
          <a:bodyPr/>
          <a:lstStyle/>
          <a:p>
            <a:pPr lvl="1"/>
            <a:r>
              <a:rPr lang="en-US" altLang="ko-KR" dirty="0"/>
              <a:t>The issue here is a subtle </a:t>
            </a:r>
            <a:r>
              <a:rPr lang="en-US" altLang="ko-KR" b="1" dirty="0"/>
              <a:t>race condition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dirty="0"/>
              <a:t>The parent calls </a:t>
            </a:r>
            <a:r>
              <a:rPr lang="en-US" altLang="ko-KR" dirty="0" err="1">
                <a:latin typeface="Courier New" pitchFamily="49" charset="0"/>
                <a:cs typeface="Courier New" pitchFamily="49" charset="0"/>
              </a:rPr>
              <a:t>thr_join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().</a:t>
            </a:r>
            <a:endParaRPr lang="en-US" altLang="ko-KR" dirty="0"/>
          </a:p>
          <a:p>
            <a:pPr lvl="3"/>
            <a:r>
              <a:rPr lang="en-US" altLang="ko-KR" dirty="0"/>
              <a:t>The parent checks the value of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done</a:t>
            </a:r>
            <a:r>
              <a:rPr lang="en-US" altLang="ko-KR" dirty="0"/>
              <a:t>.</a:t>
            </a:r>
          </a:p>
          <a:p>
            <a:pPr lvl="3"/>
            <a:r>
              <a:rPr lang="en-US" altLang="ko-KR" dirty="0"/>
              <a:t>It will see that it is 0 and try to go to sleep.</a:t>
            </a:r>
          </a:p>
          <a:p>
            <a:pPr lvl="3"/>
            <a:r>
              <a:rPr lang="en-US" altLang="ko-KR" i="1" dirty="0"/>
              <a:t>Just before </a:t>
            </a:r>
            <a:r>
              <a:rPr lang="en-US" altLang="ko-KR" dirty="0"/>
              <a:t>it calls wait to go to sleep, the parent is </a:t>
            </a:r>
            <a:r>
              <a:rPr lang="en-US" altLang="ko-KR" u="sng" dirty="0"/>
              <a:t>interrupted</a:t>
            </a:r>
            <a:r>
              <a:rPr lang="en-US" altLang="ko-KR" dirty="0"/>
              <a:t> and the child runs.</a:t>
            </a:r>
          </a:p>
          <a:p>
            <a:pPr lvl="2"/>
            <a:r>
              <a:rPr lang="en-US" altLang="ko-KR" dirty="0"/>
              <a:t>The child changes the state variable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done</a:t>
            </a:r>
            <a:r>
              <a:rPr lang="en-US" altLang="ko-KR" dirty="0"/>
              <a:t> to 1 and signals.</a:t>
            </a:r>
          </a:p>
          <a:p>
            <a:pPr lvl="3"/>
            <a:r>
              <a:rPr lang="en-US" altLang="ko-KR" dirty="0"/>
              <a:t>But no thread is waiting and thus no thread is woken.</a:t>
            </a:r>
          </a:p>
          <a:p>
            <a:pPr lvl="3"/>
            <a:r>
              <a:rPr lang="en-US" altLang="ko-KR" dirty="0"/>
              <a:t>When the parent runs again, it sleeps forever.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785918" y="965627"/>
            <a:ext cx="7632848" cy="203132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 	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thr_exit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 	    done 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3 	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pthread_cond_signal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(&amp;c);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4 	}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5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6 	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thr_join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7 	    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if 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(done ==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8 	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pthread_cond_wait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(&amp;c);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9 	}</a:t>
            </a:r>
          </a:p>
        </p:txBody>
      </p:sp>
    </p:spTree>
    <p:extLst>
      <p:ext uri="{BB962C8B-B14F-4D97-AF65-F5344CB8AC3E}">
        <p14:creationId xmlns:p14="http://schemas.microsoft.com/office/powerpoint/2010/main" val="2912822956"/>
      </p:ext>
    </p:extLst>
  </p:cSld>
  <p:clrMapOvr>
    <a:masterClrMapping/>
  </p:clrMapOvr>
  <p:transition>
    <p:zoom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producer / consumer (bound</a:t>
            </a:r>
            <a:r>
              <a:rPr lang="en-US" altLang="zh-CN" dirty="0"/>
              <a:t>ed</a:t>
            </a:r>
            <a:r>
              <a:rPr lang="en-US" altLang="ko-KR" dirty="0"/>
              <a:t> buffer) problem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Producer</a:t>
            </a:r>
          </a:p>
          <a:p>
            <a:pPr lvl="1"/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Produce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</a:rPr>
              <a:t>s</a:t>
            </a:r>
            <a:r>
              <a:rPr lang="en-US" altLang="ko-KR" dirty="0"/>
              <a:t> data items</a:t>
            </a:r>
          </a:p>
          <a:p>
            <a:pPr lvl="1"/>
            <a:r>
              <a:rPr lang="en-US" altLang="ko-KR" dirty="0"/>
              <a:t>Wish</a:t>
            </a:r>
            <a:r>
              <a:rPr lang="en-US" altLang="zh-CN" dirty="0"/>
              <a:t>es</a:t>
            </a:r>
            <a:r>
              <a:rPr lang="en-US" altLang="ko-KR" dirty="0"/>
              <a:t> to place data items in a buffer</a:t>
            </a:r>
          </a:p>
          <a:p>
            <a:r>
              <a:rPr lang="en-US" altLang="ko-KR" b="1" dirty="0"/>
              <a:t>Consumer</a:t>
            </a:r>
          </a:p>
          <a:p>
            <a:pPr lvl="1"/>
            <a:r>
              <a:rPr lang="en-US" altLang="zh-CN" dirty="0"/>
              <a:t>Takes</a:t>
            </a:r>
            <a:r>
              <a:rPr lang="en-US" altLang="ko-KR" dirty="0"/>
              <a:t> data items out of the buffer</a:t>
            </a:r>
            <a:r>
              <a:rPr lang="en-US" altLang="zh-CN" dirty="0"/>
              <a:t>;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consume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</a:rPr>
              <a:t>s</a:t>
            </a:r>
            <a:r>
              <a:rPr lang="en-US" altLang="ko-KR" dirty="0"/>
              <a:t> them</a:t>
            </a:r>
          </a:p>
          <a:p>
            <a:r>
              <a:rPr lang="en-US" altLang="ko-KR" dirty="0"/>
              <a:t>Example:</a:t>
            </a:r>
            <a:r>
              <a:rPr lang="en-US" altLang="ko-KR" b="1" dirty="0"/>
              <a:t> </a:t>
            </a:r>
            <a:r>
              <a:rPr lang="en-US" altLang="ko-KR" dirty="0"/>
              <a:t>Multi-threaded web server</a:t>
            </a:r>
          </a:p>
          <a:p>
            <a:pPr lvl="1"/>
            <a:r>
              <a:rPr lang="en-US" altLang="ko-KR" dirty="0"/>
              <a:t>A producer puts HTTP requests into a work queue</a:t>
            </a:r>
          </a:p>
          <a:p>
            <a:pPr lvl="1"/>
            <a:r>
              <a:rPr lang="en-US" altLang="ko-KR" dirty="0"/>
              <a:t>Consumer threads take requests out of this queue and process them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5384545"/>
      </p:ext>
    </p:extLst>
  </p:cSld>
  <p:clrMapOvr>
    <a:masterClrMapping/>
  </p:clrMapOvr>
  <p:transition>
    <p:zoom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Bounded buffer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 bounded buffer is used when you </a:t>
            </a:r>
            <a:r>
              <a:rPr lang="en-US" altLang="ko-KR" u="sng" dirty="0"/>
              <a:t>pipe the output</a:t>
            </a:r>
            <a:r>
              <a:rPr lang="en-US" altLang="ko-KR" dirty="0"/>
              <a:t> of one program into another.</a:t>
            </a:r>
          </a:p>
          <a:p>
            <a:pPr lvl="1"/>
            <a:r>
              <a:rPr lang="en-US" altLang="ko-KR" dirty="0"/>
              <a:t>Example: </a:t>
            </a:r>
            <a:r>
              <a:rPr lang="en-US" altLang="ko-KR" dirty="0" err="1">
                <a:latin typeface="Courier New" pitchFamily="49" charset="0"/>
                <a:cs typeface="Courier New" pitchFamily="49" charset="0"/>
              </a:rPr>
              <a:t>grep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 foo file.txt | </a:t>
            </a:r>
            <a:r>
              <a:rPr lang="en-US" altLang="ko-KR" dirty="0" err="1">
                <a:latin typeface="Courier New" pitchFamily="49" charset="0"/>
                <a:cs typeface="Courier New" pitchFamily="49" charset="0"/>
              </a:rPr>
              <a:t>wc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 –l</a:t>
            </a:r>
          </a:p>
          <a:p>
            <a:pPr lvl="2"/>
            <a:r>
              <a:rPr lang="en-US" altLang="ko-KR" dirty="0">
                <a:cs typeface="Courier New" pitchFamily="49" charset="0"/>
              </a:rPr>
              <a:t>The </a:t>
            </a:r>
            <a:r>
              <a:rPr lang="en-US" altLang="ko-KR" dirty="0" err="1">
                <a:latin typeface="Courier New" pitchFamily="49" charset="0"/>
                <a:cs typeface="Courier New" pitchFamily="49" charset="0"/>
              </a:rPr>
              <a:t>grep</a:t>
            </a:r>
            <a:r>
              <a:rPr lang="en-US" altLang="ko-KR" dirty="0"/>
              <a:t> process is the producer.</a:t>
            </a:r>
          </a:p>
          <a:p>
            <a:pPr lvl="2"/>
            <a:r>
              <a:rPr lang="en-US" altLang="ko-KR" dirty="0"/>
              <a:t>The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wc</a:t>
            </a:r>
            <a:r>
              <a:rPr lang="en-US" altLang="ko-KR" dirty="0"/>
              <a:t> process is the consumer</a:t>
            </a:r>
            <a:r>
              <a:rPr lang="zh-CN" altLang="en-US" dirty="0"/>
              <a:t> </a:t>
            </a:r>
            <a:r>
              <a:rPr lang="en-US" altLang="zh-CN" dirty="0"/>
              <a:t>(word</a:t>
            </a:r>
            <a:r>
              <a:rPr lang="zh-CN" altLang="en-US" dirty="0"/>
              <a:t> </a:t>
            </a:r>
            <a:r>
              <a:rPr lang="en-US" altLang="zh-CN" dirty="0"/>
              <a:t>count)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dirty="0"/>
              <a:t>Between them is an in-kernel </a:t>
            </a:r>
            <a:r>
              <a:rPr lang="en-US" altLang="ko-KR" u="sng" dirty="0"/>
              <a:t>bounded buffer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Bounded buffer is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s</a:t>
            </a:r>
            <a:r>
              <a:rPr lang="en-US" altLang="ko-KR" dirty="0"/>
              <a:t>hared resource </a:t>
            </a:r>
            <a:r>
              <a:rPr lang="en-US" altLang="ko-KR" dirty="0">
                <a:sym typeface="Wingdings" pitchFamily="2" charset="2"/>
              </a:rPr>
              <a:t> </a:t>
            </a:r>
            <a:r>
              <a:rPr lang="en-US" altLang="ko-KR" b="1" dirty="0"/>
              <a:t>Synchronized access </a:t>
            </a:r>
            <a:r>
              <a:rPr lang="en-US" altLang="ko-KR" dirty="0"/>
              <a:t>is required.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2697727"/>
      </p:ext>
    </p:extLst>
  </p:cSld>
  <p:clrMapOvr>
    <a:masterClrMapping/>
  </p:clrMapOvr>
  <p:transition>
    <p:zoom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Put and Get </a:t>
            </a:r>
            <a:r>
              <a:rPr lang="en-US" altLang="zh-CN" dirty="0"/>
              <a:t>r</a:t>
            </a:r>
            <a:r>
              <a:rPr lang="en-US" altLang="ko-KR" dirty="0"/>
              <a:t>outines (Version 1)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dirty="0"/>
              <a:t>Only put data into the buffer when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count</a:t>
            </a:r>
            <a:r>
              <a:rPr lang="en-US" altLang="ko-KR" dirty="0"/>
              <a:t> is zero.</a:t>
            </a:r>
          </a:p>
          <a:p>
            <a:pPr lvl="2"/>
            <a:r>
              <a:rPr lang="en-US" altLang="ko-KR" dirty="0"/>
              <a:t>i.e., when the buffer is </a:t>
            </a:r>
            <a:r>
              <a:rPr lang="en-US" altLang="ko-KR" i="1" dirty="0"/>
              <a:t>empty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Only get data from the buffer when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count</a:t>
            </a:r>
            <a:r>
              <a:rPr lang="en-US" altLang="ko-KR" dirty="0"/>
              <a:t> is one.</a:t>
            </a:r>
          </a:p>
          <a:p>
            <a:pPr lvl="2"/>
            <a:r>
              <a:rPr lang="en-US" altLang="ko-KR" dirty="0"/>
              <a:t>i.e., when the buffer is </a:t>
            </a:r>
            <a:r>
              <a:rPr lang="en-US" altLang="ko-KR" i="1" dirty="0"/>
              <a:t>full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785918" y="1040537"/>
            <a:ext cx="7632848" cy="310854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 	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buffer;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 	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count 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 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initially, empty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3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4 	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put(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value)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5 		assert(count ==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);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// ass</a:t>
            </a:r>
            <a:r>
              <a:rPr lang="en-US" altLang="zh-CN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umes</a:t>
            </a:r>
            <a:r>
              <a:rPr lang="zh-CN" altLang="en-US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buffer</a:t>
            </a:r>
            <a:r>
              <a:rPr lang="zh-CN" altLang="en-US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is</a:t>
            </a:r>
            <a:r>
              <a:rPr lang="zh-CN" altLang="en-US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empty</a:t>
            </a:r>
            <a:endParaRPr lang="en-US" altLang="ko-KR" sz="14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6 		count 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7 		buffer = value;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8 	}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9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10 	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get()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11 		assert(count ==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12 		count 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13 	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return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buffer;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14 	}</a:t>
            </a:r>
          </a:p>
        </p:txBody>
      </p:sp>
    </p:spTree>
    <p:extLst>
      <p:ext uri="{BB962C8B-B14F-4D97-AF65-F5344CB8AC3E}">
        <p14:creationId xmlns:p14="http://schemas.microsoft.com/office/powerpoint/2010/main" val="2900428100"/>
      </p:ext>
    </p:extLst>
  </p:cSld>
  <p:clrMapOvr>
    <a:masterClrMapping/>
  </p:clrMapOvr>
  <p:transition>
    <p:zoom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Producer/Consumer Threads (Version 1)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b="1" dirty="0"/>
              <a:t>Producer</a:t>
            </a:r>
            <a:r>
              <a:rPr lang="en-US" altLang="ko-KR" dirty="0"/>
              <a:t> puts an integer into the shared </a:t>
            </a:r>
            <a:r>
              <a:rPr lang="en-US" altLang="ko-KR"/>
              <a:t>buffer a </a:t>
            </a:r>
            <a:r>
              <a:rPr lang="en-US" altLang="ko-KR" dirty="0"/>
              <a:t>number of times.</a:t>
            </a:r>
          </a:p>
          <a:p>
            <a:pPr lvl="1"/>
            <a:r>
              <a:rPr lang="en-US" altLang="ko-KR" b="1" dirty="0"/>
              <a:t>Consumer</a:t>
            </a:r>
            <a:r>
              <a:rPr lang="en-US" altLang="ko-KR" dirty="0"/>
              <a:t> gets the data out of that shared buffer.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785918" y="932815"/>
            <a:ext cx="7632848" cy="332398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 	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*producer(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 		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3 		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loops = (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4 	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for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&lt; loops;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++)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5 			put(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6 		}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7 	}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8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9 	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*consumer(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10 		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11 	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while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(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12 			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get();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13 		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("%d\n",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14 		}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15 	}</a:t>
            </a:r>
          </a:p>
        </p:txBody>
      </p:sp>
    </p:spTree>
    <p:extLst>
      <p:ext uri="{BB962C8B-B14F-4D97-AF65-F5344CB8AC3E}">
        <p14:creationId xmlns:p14="http://schemas.microsoft.com/office/powerpoint/2010/main" val="4148077501"/>
      </p:ext>
    </p:extLst>
  </p:cSld>
  <p:clrMapOvr>
    <a:masterClrMapping/>
  </p:clrMapOvr>
  <p:transition>
    <p:zoom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Producer/Consumer: Single CV and If Statement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 single condition variable </a:t>
            </a:r>
            <a:r>
              <a:rPr lang="en-US" altLang="ko-KR" dirty="0" err="1">
                <a:latin typeface="Courier New" pitchFamily="49" charset="0"/>
                <a:cs typeface="Courier New" pitchFamily="49" charset="0"/>
              </a:rPr>
              <a:t>cond</a:t>
            </a:r>
            <a:r>
              <a:rPr lang="en-US" altLang="ko-KR" dirty="0"/>
              <a:t> and associated lock </a:t>
            </a:r>
            <a:r>
              <a:rPr lang="en-US" altLang="ko-KR" dirty="0" err="1">
                <a:latin typeface="Courier New" pitchFamily="49" charset="0"/>
                <a:cs typeface="Courier New" pitchFamily="49" charset="0"/>
              </a:rPr>
              <a:t>mutex</a:t>
            </a:r>
            <a:endParaRPr lang="en-US" altLang="ko-KR" dirty="0">
              <a:latin typeface="Courier New" pitchFamily="49" charset="0"/>
              <a:cs typeface="Courier New" pitchFamily="49" charset="0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755576" y="2050390"/>
            <a:ext cx="7632848" cy="332398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 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cond_t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cond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 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mutex_t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3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4 	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*producer(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5 	    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6 	    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for 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&lt; loops;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++)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7 	        </a:t>
            </a:r>
            <a:r>
              <a:rPr lang="en-US" altLang="zh-CN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thread_mutex_lock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(&amp;mutex); 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p1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8 	        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(count ==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		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p2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9 	    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Pthread_cond_wait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cond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, 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); 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p3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10 	        put(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); 			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p4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11 	        </a:t>
            </a:r>
            <a:r>
              <a:rPr lang="en-US" altLang="zh-CN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thread_cond_signal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cond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); 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p5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12 	        </a:t>
            </a:r>
            <a:r>
              <a:rPr lang="en-US" altLang="zh-CN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thread_mutex_unlock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(&amp;mutex); 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p6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13 	    }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14 	}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501687395"/>
      </p:ext>
    </p:extLst>
  </p:cSld>
  <p:clrMapOvr>
    <a:masterClrMapping/>
  </p:clrMapOvr>
  <p:transition>
    <p:zoom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Producer/Consumer: Single CV and If Statement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41090" y="3773593"/>
            <a:ext cx="8286402" cy="1920982"/>
          </a:xfrm>
        </p:spPr>
        <p:txBody>
          <a:bodyPr/>
          <a:lstStyle/>
          <a:p>
            <a:pPr lvl="1"/>
            <a:r>
              <a:rPr lang="en-US" altLang="ko-KR" dirty="0"/>
              <a:t>p1-p3: A producer waits for the buffer to be empty.</a:t>
            </a:r>
          </a:p>
          <a:p>
            <a:pPr lvl="1"/>
            <a:r>
              <a:rPr lang="en-US" altLang="ko-KR" dirty="0"/>
              <a:t>c1-c3: A consumer waits for the buffer to be full.</a:t>
            </a:r>
          </a:p>
          <a:p>
            <a:pPr lvl="1"/>
            <a:r>
              <a:rPr lang="en-US" altLang="ko-KR" dirty="0"/>
              <a:t>With just </a:t>
            </a:r>
            <a:r>
              <a:rPr lang="en-US" altLang="ko-KR" i="1" dirty="0"/>
              <a:t>a single producer </a:t>
            </a:r>
            <a:r>
              <a:rPr lang="en-US" altLang="ko-KR" dirty="0"/>
              <a:t>and </a:t>
            </a:r>
            <a:r>
              <a:rPr lang="en-US" altLang="ko-KR" i="1" dirty="0"/>
              <a:t>a single consumer</a:t>
            </a:r>
            <a:r>
              <a:rPr lang="en-US" altLang="ko-KR" dirty="0"/>
              <a:t>, the code works.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867867" y="851980"/>
            <a:ext cx="7632848" cy="267765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16 	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*consumer(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17 	    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18 	    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for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&lt; loops;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++)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19 	        </a:t>
            </a:r>
            <a:r>
              <a:rPr lang="en-US" altLang="zh-CN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thread_mutex_lock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(&amp;mutex); 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c1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20 	        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if 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(count ==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		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c2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21 	           </a:t>
            </a:r>
            <a:r>
              <a:rPr lang="en-US" altLang="zh-CN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thread_cond_wait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cond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, &amp;mutex); 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c3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22 	        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get(); 		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c4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23 	        </a:t>
            </a:r>
            <a:r>
              <a:rPr lang="en-US" altLang="zh-CN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thread_cond_signal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cond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); 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c5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24 	        </a:t>
            </a:r>
            <a:r>
              <a:rPr lang="en-US" altLang="zh-CN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thread_mutex_unlock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(&amp;mutex); 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c6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25 	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("%d\n",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26 	    }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27 	}</a:t>
            </a:r>
          </a:p>
        </p:txBody>
      </p:sp>
      <p:sp>
        <p:nvSpPr>
          <p:cNvPr id="8" name="모서리가 둥근 직사각형 7"/>
          <p:cNvSpPr/>
          <p:nvPr/>
        </p:nvSpPr>
        <p:spPr>
          <a:xfrm>
            <a:off x="1268190" y="5417428"/>
            <a:ext cx="6696744" cy="648072"/>
          </a:xfrm>
          <a:prstGeom prst="roundRect">
            <a:avLst/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If we have 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more than </a:t>
            </a:r>
            <a:r>
              <a:rPr lang="en-US" altLang="ko-KR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one of producer and consumer?</a:t>
            </a:r>
          </a:p>
        </p:txBody>
      </p:sp>
    </p:spTree>
    <p:extLst>
      <p:ext uri="{BB962C8B-B14F-4D97-AF65-F5344CB8AC3E}">
        <p14:creationId xmlns:p14="http://schemas.microsoft.com/office/powerpoint/2010/main" val="2694831224"/>
      </p:ext>
    </p:extLst>
  </p:cSld>
  <p:clrMapOvr>
    <a:masterClrMapping/>
  </p:clrMapOvr>
  <p:transition>
    <p:zoom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4C08F0-32DB-2F4B-BB32-AA4B9B43B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A2AF2E46-2094-1D44-8457-A6BF9FA768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719" y="887412"/>
            <a:ext cx="7366000" cy="5486400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F2B2D1-01A2-E940-9F18-1727BF21ACF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79A9E0-871C-3144-805D-921626399F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0883484"/>
      </p:ext>
    </p:extLst>
  </p:cSld>
  <p:clrMapOvr>
    <a:masterClrMapping/>
  </p:clrMapOvr>
  <p:transition>
    <p:zoom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6C6E8B-CB58-354F-995D-75DFCF99A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9A3ABDB2-657A-2F45-B1C2-4A03F8455C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719" y="887412"/>
            <a:ext cx="7366000" cy="5486400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A4970A-711D-4C4F-9EAF-65BC22BBB8A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BB2CD3-9FA0-7547-8A85-6E10BB5DCF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495410"/>
      </p:ext>
    </p:extLst>
  </p:cSld>
  <p:clrMapOvr>
    <a:masterClrMapping/>
  </p:clrMapOvr>
  <p:transition>
    <p:zoom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1A989C-B981-7647-8A73-20EA83786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ACA0DDA-8592-C447-A942-97A7AC326B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319" y="881062"/>
            <a:ext cx="7670800" cy="5499100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F66377-5AE3-BE41-87FC-68162CEE626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71EB093-72DF-884F-8181-9987E61036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252235"/>
      </p:ext>
    </p:extLst>
  </p:cSld>
  <p:clrMapOvr>
    <a:masterClrMapping/>
  </p:clrMapOvr>
  <p:transition>
    <p:zoom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A76D30-71CD-BB49-ADAE-E1C26A8D5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4426F29A-2B1C-7140-83DB-6BE2F00D50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919" y="881062"/>
            <a:ext cx="7213600" cy="5499100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F69E06-A5B1-D047-B9AC-90C1B5C312D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0CE6720-37D4-2B41-AC78-50BF997F49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6308490"/>
      </p:ext>
    </p:extLst>
  </p:cSld>
  <p:clrMapOvr>
    <a:masterClrMapping/>
  </p:clrMapOvr>
  <p:transition>
    <p:zoom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B484CB-4E1F-9142-8C7E-5225C8114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94643C3A-08AD-1448-B77C-2E7150EC1F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519" y="887412"/>
            <a:ext cx="7518400" cy="5486400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88D6EB-CE8F-EC43-B513-2BC29D46993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60F27BA-830C-DE42-B4AA-CE813B5119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1402404"/>
      </p:ext>
    </p:extLst>
  </p:cSld>
  <p:clrMapOvr>
    <a:masterClrMapping/>
  </p:clrMapOvr>
  <p:transition>
    <p:zoom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6C7BF1-C522-0C45-B8C2-7D15EDE36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9E708E62-C9BC-9146-BB4B-5C9C7208B9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19" y="881062"/>
            <a:ext cx="7391400" cy="5499100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88395A-F221-CE46-ADAC-D568E14616B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578DE8E-CAFD-E446-AC03-A7C58EFF02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240326"/>
      </p:ext>
    </p:extLst>
  </p:cSld>
  <p:clrMapOvr>
    <a:masterClrMapping/>
  </p:clrMapOvr>
  <p:transition>
    <p:zoom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5CA7F9-4289-2B45-82C1-A146BC548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8A3ED71F-B9AB-2F44-BA57-959362210E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719" y="887412"/>
            <a:ext cx="7366000" cy="5486400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033D6B-ECA9-914D-8730-B573687BDE5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2C3C38C-3E43-1D4A-9E2D-CC143B22E6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8982321"/>
      </p:ext>
    </p:extLst>
  </p:cSld>
  <p:clrMapOvr>
    <a:masterClrMapping/>
  </p:clrMapOvr>
  <p:transition>
    <p:zoom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3AB2B6-EB16-D54D-B0C7-64D204701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B32DEF8F-2F09-CF4D-AA45-62775EF41C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869" y="887412"/>
            <a:ext cx="7505700" cy="5486400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DE9F81-8775-364E-AF79-76C937B4F53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A628D5E-1C70-444F-B35F-09D4A3EE16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4089516"/>
      </p:ext>
    </p:extLst>
  </p:cSld>
  <p:clrMapOvr>
    <a:masterClrMapping/>
  </p:clrMapOvr>
  <p:transition>
    <p:zoom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E2E510-BFD0-AA41-9669-DA4BDDC2A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A969F6D5-FD0B-FE4F-ADDE-4099F144A1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869" y="881062"/>
            <a:ext cx="6997700" cy="5499100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3B7D79-FB37-FA44-8784-231E8B602EB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0EF14EB-D765-D540-BFE0-871D528041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3797778"/>
      </p:ext>
    </p:extLst>
  </p:cSld>
  <p:clrMapOvr>
    <a:masterClrMapping/>
  </p:clrMapOvr>
  <p:transition>
    <p:zoom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Thread Trace: Broken Solution (Version 1)</a:t>
            </a:r>
            <a:endParaRPr lang="ko-KR" altLang="en-US" dirty="0"/>
          </a:p>
        </p:txBody>
      </p:sp>
      <p:graphicFrame>
        <p:nvGraphicFramePr>
          <p:cNvPr id="6" name="내용 개체 틀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08686701"/>
              </p:ext>
            </p:extLst>
          </p:nvPr>
        </p:nvGraphicFramePr>
        <p:xfrm>
          <a:off x="1043609" y="908720"/>
          <a:ext cx="6768753" cy="4968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20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86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92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9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978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036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latin typeface="맑은 고딕" pitchFamily="50" charset="-127"/>
                          <a:ea typeface="맑은 고딕" pitchFamily="50" charset="-127"/>
                        </a:rPr>
                        <a:t>State</a:t>
                      </a:r>
                      <a:endParaRPr lang="ko-KR" altLang="en-US" sz="14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latin typeface="맑은 고딕" pitchFamily="50" charset="-127"/>
                          <a:ea typeface="맑은 고딕" pitchFamily="50" charset="-127"/>
                        </a:rPr>
                        <a:t>State</a:t>
                      </a:r>
                      <a:endParaRPr lang="ko-KR" altLang="en-US" sz="14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latin typeface="맑은 고딕" pitchFamily="50" charset="-127"/>
                          <a:ea typeface="맑은 고딕" pitchFamily="50" charset="-127"/>
                        </a:rPr>
                        <a:t>State</a:t>
                      </a:r>
                      <a:endParaRPr lang="ko-KR" altLang="en-US" sz="14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latin typeface="맑은 고딕" pitchFamily="50" charset="-127"/>
                          <a:ea typeface="맑은 고딕" pitchFamily="50" charset="-127"/>
                        </a:rPr>
                        <a:t>Count</a:t>
                      </a:r>
                      <a:endParaRPr lang="ko-KR" altLang="en-US" sz="14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latin typeface="맑은 고딕" pitchFamily="50" charset="-127"/>
                          <a:ea typeface="맑은 고딕" pitchFamily="50" charset="-127"/>
                        </a:rPr>
                        <a:t>Comment</a:t>
                      </a:r>
                      <a:endParaRPr lang="ko-KR" altLang="en-US" sz="14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c2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c3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Nothing to get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p1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p2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p4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Buffer now full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p5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맑은 고딕" pitchFamily="50" charset="-127"/>
                          <a:ea typeface="맑은 고딕" pitchFamily="50" charset="-127"/>
                        </a:rPr>
                        <a:t> </a:t>
                      </a: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awoken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p6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p1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p2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p3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Buffer full; 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맑은 고딕" pitchFamily="50" charset="-127"/>
                          <a:ea typeface="맑은 고딕" pitchFamily="50" charset="-127"/>
                        </a:rPr>
                        <a:t> </a:t>
                      </a: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sneaks in …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c2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c4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… and grabs data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c5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맑은 고딕" pitchFamily="50" charset="-127"/>
                          <a:ea typeface="맑은 고딕" pitchFamily="50" charset="-127"/>
                        </a:rPr>
                        <a:t> </a:t>
                      </a: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awoken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c6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c4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Oh </a:t>
                      </a:r>
                      <a:r>
                        <a:rPr lang="en-US" altLang="ko-KR" sz="1200" b="1" dirty="0" err="1">
                          <a:solidFill>
                            <a:srgbClr val="FF0000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oh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! No data</a:t>
                      </a:r>
                      <a:endParaRPr lang="ko-KR" altLang="en-US" sz="1200" b="1" dirty="0">
                        <a:solidFill>
                          <a:srgbClr val="FF0000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4686802"/>
      </p:ext>
    </p:extLst>
  </p:cSld>
  <p:clrMapOvr>
    <a:masterClrMapping/>
  </p:clrMapOvr>
  <p:transition>
    <p:zoom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Thread Trace: Broken Solution (Version 1)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ko-KR" dirty="0"/>
                  <a:t>The problem arises for a simple reason:</a:t>
                </a:r>
              </a:p>
              <a:p>
                <a:pPr lvl="1"/>
                <a:r>
                  <a:rPr lang="en-US" altLang="ko-KR" dirty="0"/>
                  <a:t>After the producer woke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altLang="ko-KR" b="0" i="1" smtClean="0">
                            <a:latin typeface="Cambria Math"/>
                          </a:rPr>
                          <m:t>𝑐</m:t>
                        </m:r>
                        <m:r>
                          <a:rPr lang="en-US" altLang="ko-KR" b="0" i="1" smtClean="0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dirty="0"/>
                  <a:t>, but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altLang="ko-KR" b="0" i="1" smtClean="0">
                            <a:latin typeface="Cambria Math"/>
                          </a:rPr>
                          <m:t>𝑐</m:t>
                        </m:r>
                        <m:r>
                          <a:rPr lang="en-US" altLang="ko-KR" b="0" i="1" smtClean="0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ever ran, the state of the bounded buffer </a:t>
                </a:r>
                <a:r>
                  <a:rPr lang="en-US" altLang="ko-KR" i="1" dirty="0"/>
                  <a:t>changed by</a:t>
                </a:r>
                <a:r>
                  <a:rPr lang="en-US" altLang="ko-K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altLang="ko-KR" b="0" i="1" smtClean="0">
                            <a:latin typeface="Cambria Math"/>
                          </a:rPr>
                          <m:t>𝑐</m:t>
                        </m:r>
                        <m:r>
                          <a:rPr lang="en-US" altLang="ko-KR" b="0" i="1" smtClean="0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.</a:t>
                </a:r>
              </a:p>
              <a:p>
                <a:pPr lvl="1"/>
                <a:endParaRPr lang="en-US" altLang="ko-KR" dirty="0"/>
              </a:p>
              <a:p>
                <a:pPr lvl="1"/>
                <a:r>
                  <a:rPr lang="en-US" altLang="ko-KR" dirty="0"/>
                  <a:t>There is no guarantee that when the woken thread runs, the state will still be as desired </a:t>
                </a:r>
                <a:r>
                  <a:rPr lang="en-US" altLang="ko-KR" dirty="0">
                    <a:sym typeface="Wingdings" pitchFamily="2" charset="2"/>
                  </a:rPr>
                  <a:t> </a:t>
                </a:r>
                <a:r>
                  <a:rPr lang="en-US" altLang="ko-KR" u="sng" dirty="0">
                    <a:sym typeface="Wingdings" pitchFamily="2" charset="2"/>
                  </a:rPr>
                  <a:t>Mesa semantics</a:t>
                </a:r>
                <a:r>
                  <a:rPr lang="en-US" altLang="ko-KR" dirty="0">
                    <a:sym typeface="Wingdings" pitchFamily="2" charset="2"/>
                  </a:rPr>
                  <a:t>.</a:t>
                </a:r>
              </a:p>
              <a:p>
                <a:pPr lvl="2"/>
                <a:r>
                  <a:rPr lang="en-US" altLang="ko-KR" dirty="0"/>
                  <a:t>Virtually every system ever built employs </a:t>
                </a:r>
                <a:r>
                  <a:rPr lang="en-US" altLang="ko-KR" i="1" dirty="0"/>
                  <a:t>Mesa semantics</a:t>
                </a:r>
                <a:r>
                  <a:rPr lang="en-US" altLang="ko-KR" dirty="0"/>
                  <a:t>.</a:t>
                </a:r>
              </a:p>
              <a:p>
                <a:pPr lvl="2"/>
                <a:endParaRPr lang="ko-KR" altLang="en-US" dirty="0"/>
              </a:p>
              <a:p>
                <a:pPr lvl="1"/>
                <a:r>
                  <a:rPr lang="en-US" altLang="ko-KR" u="sng" dirty="0"/>
                  <a:t>Hoare semantics</a:t>
                </a:r>
                <a:r>
                  <a:rPr lang="en-US" altLang="ko-KR" dirty="0"/>
                  <a:t> provides a stronger guarantee that the woken thread will run immediately upon being woken.</a:t>
                </a:r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3"/>
                <a:stretch>
                  <a:fillRect r="-6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7761341"/>
      </p:ext>
    </p:extLst>
  </p:cSld>
  <p:clrMapOvr>
    <a:masterClrMapping/>
  </p:clrMapOvr>
  <p:transition>
    <p:zoom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Producer/Consumer: Single CV and While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ko-KR" dirty="0"/>
                  <a:t>Consumer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altLang="ko-KR" b="0" i="1" smtClean="0">
                            <a:latin typeface="Cambria Math"/>
                          </a:rPr>
                          <m:t>𝑐</m:t>
                        </m:r>
                        <m:r>
                          <a:rPr lang="en-US" altLang="ko-KR" b="0" i="1" smtClean="0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wakes up and </a:t>
                </a:r>
                <a:r>
                  <a:rPr lang="en-US" altLang="ko-KR" dirty="0">
                    <a:solidFill>
                      <a:schemeClr val="accent6">
                        <a:lumMod val="75000"/>
                      </a:schemeClr>
                    </a:solidFill>
                  </a:rPr>
                  <a:t>re-checks</a:t>
                </a:r>
                <a:r>
                  <a:rPr lang="en-US" altLang="ko-KR" dirty="0"/>
                  <a:t> the state of the shared variable.</a:t>
                </a:r>
              </a:p>
              <a:p>
                <a:pPr lvl="1"/>
                <a:r>
                  <a:rPr lang="en-US" altLang="ko-KR" dirty="0"/>
                  <a:t>If the buffer is empty, the consumer simply goes back to sleep.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3"/>
                <a:stretch>
                  <a:fillRect r="-55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755576" y="1988840"/>
            <a:ext cx="7632848" cy="332398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 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cond_t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cond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 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mutex_t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3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4 	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*producer(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5 	    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6 	    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for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&lt; loops;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++)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7 	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pthread_mutex_lock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(&amp;mutex); 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p1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8 	        </a:t>
            </a:r>
            <a:r>
              <a:rPr lang="en-US" altLang="ko-KR" sz="1400" b="1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while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(count ==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	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p2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9 	    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pthread_cond_wait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cond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, &amp;mutex); 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p3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10 	        put(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); 			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p4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11 	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pthread_cond_signal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cond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); 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p5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12 	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pthread_mutex_unlock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(&amp;mutex); 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p6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13 	    }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14 	}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506110095"/>
      </p:ext>
    </p:extLst>
  </p:cSld>
  <p:clrMapOvr>
    <a:masterClrMapping/>
  </p:clrMapOvr>
  <p:transition>
    <p:zoom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Producer/Consumer: Single CV and While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dirty="0"/>
              <a:t>A simple rule to remember with condition variables is to </a:t>
            </a:r>
            <a:r>
              <a:rPr lang="en-US" altLang="ko-KR" b="1" dirty="0"/>
              <a:t>always use while loops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However, this code still has a bug (</a:t>
            </a:r>
            <a:r>
              <a:rPr lang="en-US" altLang="ko-KR" i="1" dirty="0"/>
              <a:t>next page</a:t>
            </a:r>
            <a:r>
              <a:rPr lang="en-US" altLang="ko-KR" dirty="0"/>
              <a:t>).</a:t>
            </a:r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755576" y="980728"/>
            <a:ext cx="7632848" cy="28931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i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Cont.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16 	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*consumer(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 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*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17 	    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18 	    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for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&lt; loops;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++)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19 	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pthread_mutex_lock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(&amp;mutex); 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c1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20 	        </a:t>
            </a:r>
            <a:r>
              <a:rPr lang="en-US" altLang="ko-KR" sz="1400" b="1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while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(count ==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	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c2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21 	    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pthread_cond_wait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cond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, &amp;mutex); 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c3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22 	        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get(); 		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c4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23 	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pthread_cond_signal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cond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); 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c5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24 	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pthread_mutex_unlock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(&amp;mutex); 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c6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25 	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("%d\n",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26 	    }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27 	}</a:t>
            </a:r>
          </a:p>
        </p:txBody>
      </p:sp>
    </p:spTree>
    <p:extLst>
      <p:ext uri="{BB962C8B-B14F-4D97-AF65-F5344CB8AC3E}">
        <p14:creationId xmlns:p14="http://schemas.microsoft.com/office/powerpoint/2010/main" val="85561213"/>
      </p:ext>
    </p:extLst>
  </p:cSld>
  <p:clrMapOvr>
    <a:masterClrMapping/>
  </p:clrMapOvr>
  <p:transition>
    <p:zoom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528BFA-87D5-BE40-A3BB-793E50B5C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D9C2B5EA-ED73-F546-BA75-15C1A032B1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419" y="881062"/>
            <a:ext cx="7594600" cy="5499100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9B09E4-FC0C-BE48-BD8B-83A0A3A35DF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A1B715-304D-804E-885B-6A4EC8CCA4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4701404"/>
      </p:ext>
    </p:extLst>
  </p:cSld>
  <p:clrMapOvr>
    <a:masterClrMapping/>
  </p:clrMapOvr>
  <p:transition>
    <p:zoom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4EE96F-FC7F-1D4A-A52D-9E234E037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446E8CF9-CC7B-F24A-B145-22F34903E3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719" y="887412"/>
            <a:ext cx="7366000" cy="5486400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01972-C4B9-F940-A198-5D598A738D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6BA292E-9102-2B4C-B743-AC9B1816BB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2569866"/>
      </p:ext>
    </p:extLst>
  </p:cSld>
  <p:clrMapOvr>
    <a:masterClrMapping/>
  </p:clrMapOvr>
  <p:transition>
    <p:zoom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91E81C-322E-B34B-BBE9-E59FACB0B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3BB9A7FE-034D-B348-B945-85088697C9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669" y="881062"/>
            <a:ext cx="7150100" cy="5499100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79BFC1-86CE-3A4C-90E6-1D80232842B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0349C1-F55C-394C-999F-9116D0BF44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7425348"/>
      </p:ext>
    </p:extLst>
  </p:cSld>
  <p:clrMapOvr>
    <a:masterClrMapping/>
  </p:clrMapOvr>
  <p:transition>
    <p:zoom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C201E5-25FC-0248-89F6-D5C52A095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A0C49192-5F94-8143-AFC9-CE46EFD805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519" y="887412"/>
            <a:ext cx="7264400" cy="5486400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4E1827-D7CC-EF4B-BFCE-811843E44C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76E08A4-22F6-0E4D-8131-006259E581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9793109"/>
      </p:ext>
    </p:extLst>
  </p:cSld>
  <p:clrMapOvr>
    <a:masterClrMapping/>
  </p:clrMapOvr>
  <p:transition>
    <p:zoom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FCF487-EB03-1145-8092-9A8904F70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68D5F5AE-41B4-EF47-BBD6-C02BDCEBC1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169" y="881062"/>
            <a:ext cx="7785100" cy="5499100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CFBB6-F210-1749-A45E-B6589DFF051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EAAF4E-0F32-3F4F-B14F-C1490CE658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3807695"/>
      </p:ext>
    </p:extLst>
  </p:cSld>
  <p:clrMapOvr>
    <a:masterClrMapping/>
  </p:clrMapOvr>
  <p:transition>
    <p:zoom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018ECD-3BF7-3843-AFFA-D5F2F3B4C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6A66E6C3-F2E8-8A42-BF1A-2AB73FF83B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069" y="887412"/>
            <a:ext cx="7861300" cy="5486400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C6935C-0945-3242-B52B-12556F73E4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E6E47A-CCF9-1D4B-9493-889FFF19CB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6881383"/>
      </p:ext>
    </p:extLst>
  </p:cSld>
  <p:clrMapOvr>
    <a:masterClrMapping/>
  </p:clrMapOvr>
  <p:transition>
    <p:zoom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928CDC-26EF-1A42-BDF4-1DB8910FD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D3972C30-394B-EA4B-87AE-441B8EE604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569" y="887412"/>
            <a:ext cx="7734300" cy="5486400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50B55F-BADD-934D-A9CE-1BA1A6F4B33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06F1D0-00AA-5E4E-BCCA-A691B1452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6897495"/>
      </p:ext>
    </p:extLst>
  </p:cSld>
  <p:clrMapOvr>
    <a:masterClrMapping/>
  </p:clrMapOvr>
  <p:transition>
    <p:zoom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1C962A-F24C-FB4F-8D36-F8289B7F3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61A8BE34-8F6B-0042-8CE5-25871232D4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669" y="887412"/>
            <a:ext cx="8166100" cy="5486400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79EDD0-DD16-6349-A872-457DB5230D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A9EB0E-0DDC-314C-9005-3EE6CA8E08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6390485"/>
      </p:ext>
    </p:extLst>
  </p:cSld>
  <p:clrMapOvr>
    <a:masterClrMapping/>
  </p:clrMapOvr>
  <p:transition>
    <p:zoom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1E3563-EBD1-1F4B-B233-CC4BDB5A7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8F0D7541-3598-5E4A-9C97-8536E087BC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869" y="887412"/>
            <a:ext cx="8521700" cy="5486400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3D1783-4B7E-6740-A0C6-9E2F69E6D1B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07C72CF-79D9-C04C-A4CA-2DAA7F17AB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7578649"/>
      </p:ext>
    </p:extLst>
  </p:cSld>
  <p:clrMapOvr>
    <a:masterClrMapping/>
  </p:clrMapOvr>
  <p:transition>
    <p:zoom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6B0528-4151-0245-8622-4357E03C2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6DCE3F3D-860F-7249-8127-C7C51EAAE9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219" y="881062"/>
            <a:ext cx="7493000" cy="5499100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9193E1-B70D-CC44-8B69-FB2A43D1EAE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DF924C-1A3C-1743-B582-04A4733CE9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8635337"/>
      </p:ext>
    </p:extLst>
  </p:cSld>
  <p:clrMapOvr>
    <a:masterClrMapping/>
  </p:clrMapOvr>
  <p:transition>
    <p:zoom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Thread Trace: Broken Solution (Version 2)</a:t>
            </a:r>
            <a:endParaRPr lang="ko-KR" altLang="en-US" dirty="0"/>
          </a:p>
        </p:txBody>
      </p:sp>
      <p:graphicFrame>
        <p:nvGraphicFramePr>
          <p:cNvPr id="6" name="내용 개체 틀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0494513"/>
              </p:ext>
            </p:extLst>
          </p:nvPr>
        </p:nvGraphicFramePr>
        <p:xfrm>
          <a:off x="1043609" y="980728"/>
          <a:ext cx="6768753" cy="4968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20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86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92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9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978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036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latin typeface="맑은 고딕" pitchFamily="50" charset="-127"/>
                          <a:ea typeface="맑은 고딕" pitchFamily="50" charset="-127"/>
                        </a:rPr>
                        <a:t>State</a:t>
                      </a:r>
                      <a:endParaRPr lang="ko-KR" altLang="en-US" sz="14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latin typeface="맑은 고딕" pitchFamily="50" charset="-127"/>
                          <a:ea typeface="맑은 고딕" pitchFamily="50" charset="-127"/>
                        </a:rPr>
                        <a:t>State</a:t>
                      </a:r>
                      <a:endParaRPr lang="ko-KR" altLang="en-US" sz="14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latin typeface="맑은 고딕" pitchFamily="50" charset="-127"/>
                          <a:ea typeface="맑은 고딕" pitchFamily="50" charset="-127"/>
                        </a:rPr>
                        <a:t>State</a:t>
                      </a:r>
                      <a:endParaRPr lang="ko-KR" altLang="en-US" sz="14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latin typeface="맑은 고딕" pitchFamily="50" charset="-127"/>
                          <a:ea typeface="맑은 고딕" pitchFamily="50" charset="-127"/>
                        </a:rPr>
                        <a:t>Count</a:t>
                      </a:r>
                      <a:endParaRPr lang="ko-KR" altLang="en-US" sz="14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latin typeface="맑은 고딕" pitchFamily="50" charset="-127"/>
                          <a:ea typeface="맑은 고딕" pitchFamily="50" charset="-127"/>
                        </a:rPr>
                        <a:t>Comment</a:t>
                      </a:r>
                      <a:endParaRPr lang="ko-KR" altLang="en-US" sz="14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c2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c3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Nothing to get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c2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c3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Nothing to get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p1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p2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p4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Buffer now full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p5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맑은 고딕" pitchFamily="50" charset="-127"/>
                          <a:ea typeface="맑은 고딕" pitchFamily="50" charset="-127"/>
                        </a:rPr>
                        <a:t> </a:t>
                      </a: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awoken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p6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p1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p2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p3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Must sleep (full)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c2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Recheck condition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c4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맑은 고딕" pitchFamily="50" charset="-127"/>
                          <a:ea typeface="맑은 고딕" pitchFamily="50" charset="-127"/>
                        </a:rPr>
                        <a:t> </a:t>
                      </a: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grabs data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c5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Oops! Woke </a:t>
                      </a:r>
                      <a:endParaRPr lang="ko-KR" altLang="en-US" sz="1200" b="1" dirty="0">
                        <a:solidFill>
                          <a:srgbClr val="FF0000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111227"/>
      </p:ext>
    </p:extLst>
  </p:cSld>
  <p:clrMapOvr>
    <a:masterClrMapping/>
  </p:clrMapOvr>
  <p:transition>
    <p:zoom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2"/>
          <p:cNvSpPr txBox="1">
            <a:spLocks/>
          </p:cNvSpPr>
          <p:nvPr/>
        </p:nvSpPr>
        <p:spPr bwMode="auto">
          <a:xfrm>
            <a:off x="214313" y="880070"/>
            <a:ext cx="8786812" cy="55012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en-US" altLang="ko-KR" dirty="0">
              <a:solidFill>
                <a:prstClr val="black"/>
              </a:solidFill>
            </a:endParaRPr>
          </a:p>
          <a:p>
            <a:endParaRPr lang="en-US" altLang="ko-KR" dirty="0">
              <a:solidFill>
                <a:prstClr val="black"/>
              </a:solidFill>
            </a:endParaRPr>
          </a:p>
          <a:p>
            <a:endParaRPr lang="en-US" altLang="ko-KR" dirty="0">
              <a:solidFill>
                <a:prstClr val="black"/>
              </a:solidFill>
            </a:endParaRPr>
          </a:p>
          <a:p>
            <a:endParaRPr lang="en-US" altLang="ko-KR" dirty="0">
              <a:solidFill>
                <a:prstClr val="black"/>
              </a:solidFill>
            </a:endParaRPr>
          </a:p>
          <a:p>
            <a:endParaRPr lang="en-US" altLang="ko-KR" dirty="0">
              <a:solidFill>
                <a:prstClr val="black"/>
              </a:solidFill>
            </a:endParaRPr>
          </a:p>
          <a:p>
            <a:pPr lvl="1"/>
            <a:r>
              <a:rPr lang="en-US" altLang="ko-KR" dirty="0">
                <a:solidFill>
                  <a:prstClr val="black"/>
                </a:solidFill>
              </a:rPr>
              <a:t>A consumer should not wake other consumers, only producers, and vice-versa.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Thread Trace: Broken Solution (Version 2) (Cont.)</a:t>
            </a:r>
            <a:endParaRPr lang="ko-KR" altLang="en-US" dirty="0"/>
          </a:p>
        </p:txBody>
      </p:sp>
      <p:graphicFrame>
        <p:nvGraphicFramePr>
          <p:cNvPr id="6" name="내용 개체 틀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0532094"/>
              </p:ext>
            </p:extLst>
          </p:nvPr>
        </p:nvGraphicFramePr>
        <p:xfrm>
          <a:off x="1043609" y="980728"/>
          <a:ext cx="6768753" cy="2225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20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86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92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9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978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036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latin typeface="맑은 고딕" pitchFamily="50" charset="-127"/>
                          <a:ea typeface="맑은 고딕" pitchFamily="50" charset="-127"/>
                        </a:rPr>
                        <a:t>State</a:t>
                      </a:r>
                      <a:endParaRPr lang="ko-KR" altLang="en-US" sz="14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latin typeface="맑은 고딕" pitchFamily="50" charset="-127"/>
                          <a:ea typeface="맑은 고딕" pitchFamily="50" charset="-127"/>
                        </a:rPr>
                        <a:t>State</a:t>
                      </a:r>
                      <a:endParaRPr lang="ko-KR" altLang="en-US" sz="14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latin typeface="맑은 고딕" pitchFamily="50" charset="-127"/>
                          <a:ea typeface="맑은 고딕" pitchFamily="50" charset="-127"/>
                        </a:rPr>
                        <a:t>State</a:t>
                      </a:r>
                      <a:endParaRPr lang="ko-KR" altLang="en-US" sz="14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latin typeface="맑은 고딕" pitchFamily="50" charset="-127"/>
                          <a:ea typeface="맑은 고딕" pitchFamily="50" charset="-127"/>
                        </a:rPr>
                        <a:t>Count</a:t>
                      </a:r>
                      <a:endParaRPr lang="ko-KR" altLang="en-US" sz="14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latin typeface="맑은 고딕" pitchFamily="50" charset="-127"/>
                          <a:ea typeface="맑은 고딕" pitchFamily="50" charset="-127"/>
                        </a:rPr>
                        <a:t>Comment</a:t>
                      </a:r>
                      <a:endParaRPr lang="ko-KR" altLang="en-US" sz="14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…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…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…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…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…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…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…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(</a:t>
                      </a:r>
                      <a:r>
                        <a:rPr lang="en-US" altLang="ko-KR" sz="1200" i="1" dirty="0">
                          <a:latin typeface="맑은 고딕" pitchFamily="50" charset="-127"/>
                          <a:ea typeface="맑은 고딕" pitchFamily="50" charset="-127"/>
                        </a:rPr>
                        <a:t>cont.</a:t>
                      </a: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)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c6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c2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c3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Ready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Nothing to get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c2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Running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9189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c3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Sleep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Everyone asleep …</a:t>
                      </a:r>
                      <a:endParaRPr lang="ko-KR" altLang="en-US" sz="1200" b="1" dirty="0">
                        <a:solidFill>
                          <a:srgbClr val="FF0000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3285336"/>
      </p:ext>
    </p:extLst>
  </p:cSld>
  <p:clrMapOvr>
    <a:masterClrMapping/>
  </p:clrMapOvr>
  <p:transition>
    <p:zoom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single-buffer producer/consumer solution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Use </a:t>
            </a:r>
            <a:r>
              <a:rPr lang="en-US" altLang="ko-KR" dirty="0">
                <a:solidFill>
                  <a:srgbClr val="FF0000"/>
                </a:solidFill>
              </a:rPr>
              <a:t>two </a:t>
            </a:r>
            <a:r>
              <a:rPr lang="en-US" altLang="ko-KR" dirty="0"/>
              <a:t>condition variables and while</a:t>
            </a:r>
          </a:p>
          <a:p>
            <a:pPr lvl="1"/>
            <a:r>
              <a:rPr lang="en-US" altLang="ko-KR" b="1" dirty="0"/>
              <a:t>Producer</a:t>
            </a:r>
            <a:r>
              <a:rPr lang="en-US" altLang="ko-KR" dirty="0"/>
              <a:t> threads wait on the condition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empty</a:t>
            </a:r>
            <a:r>
              <a:rPr lang="en-US" altLang="ko-KR" dirty="0"/>
              <a:t>, and signals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fill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b="1" dirty="0"/>
              <a:t>Consumer</a:t>
            </a:r>
            <a:r>
              <a:rPr lang="en-US" altLang="ko-KR" dirty="0"/>
              <a:t> threads wait on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fill</a:t>
            </a:r>
            <a:r>
              <a:rPr lang="en-US" altLang="ko-KR" dirty="0"/>
              <a:t> and signal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empty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755576" y="2481277"/>
            <a:ext cx="7632848" cy="332398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 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cond_t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empty, fill;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 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mutex_t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3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4 	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*producer(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5 	    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6 	    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for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&lt; loops;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++)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7 	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pthread_mutex_lock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(&amp;mutex);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8 	        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while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(count ==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9 	    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pthread_cond_wait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(&amp;empty, &amp;mutex);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10	        put(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11 	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pthread_cond_signal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(&amp;fill);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12 	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pthread_mutex_unlock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(&amp;mutex);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13 	    }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14 	}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122385587"/>
      </p:ext>
    </p:extLst>
  </p:cSld>
  <p:clrMapOvr>
    <a:masterClrMapping/>
  </p:clrMapOvr>
  <p:transition>
    <p:zoom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single-buffer </a:t>
            </a:r>
            <a:r>
              <a:rPr lang="en-US" altLang="ko-KR"/>
              <a:t>producer/consumer </a:t>
            </a:r>
            <a:r>
              <a:rPr lang="en-US" altLang="ko-KR" dirty="0"/>
              <a:t>s</a:t>
            </a:r>
            <a:r>
              <a:rPr lang="en-US" altLang="ko-KR"/>
              <a:t>olution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755576" y="1124163"/>
            <a:ext cx="7632848" cy="28931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i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Cont.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16 	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*consumer(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17 	    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18 	    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for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&lt; loops;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++)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19 	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pthread_mutex_lock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(&amp;mutex);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20 	        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while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(count ==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21 	    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pthread_cond_wait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(&amp;fill, &amp;mutex);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22 	        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get();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23 	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pthread_cond_signal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(&amp;empty);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24 	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pthread_mutex_unlock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(&amp;mutex);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25 	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("%d\n",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26 	    }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27 	}</a:t>
            </a:r>
          </a:p>
        </p:txBody>
      </p:sp>
    </p:spTree>
    <p:extLst>
      <p:ext uri="{BB962C8B-B14F-4D97-AF65-F5344CB8AC3E}">
        <p14:creationId xmlns:p14="http://schemas.microsoft.com/office/powerpoint/2010/main" val="469255314"/>
      </p:ext>
    </p:extLst>
  </p:cSld>
  <p:clrMapOvr>
    <a:masterClrMapping/>
  </p:clrMapOvr>
  <p:transition>
    <p:zoom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Final Producer/Consumer Solution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More </a:t>
            </a:r>
            <a:r>
              <a:rPr lang="en-US" altLang="ko-KR" b="1" dirty="0"/>
              <a:t>concurrency</a:t>
            </a:r>
            <a:r>
              <a:rPr lang="en-US" altLang="ko-KR" dirty="0"/>
              <a:t> and </a:t>
            </a:r>
            <a:r>
              <a:rPr lang="en-US" altLang="ko-KR" b="1" dirty="0"/>
              <a:t>efficiency </a:t>
            </a:r>
            <a:r>
              <a:rPr lang="en-US" altLang="ko-KR" b="1" dirty="0">
                <a:sym typeface="Wingdings" pitchFamily="2" charset="2"/>
              </a:rPr>
              <a:t> </a:t>
            </a:r>
            <a:r>
              <a:rPr lang="en-US" altLang="ko-KR" dirty="0"/>
              <a:t>Add more buffer slots.</a:t>
            </a:r>
          </a:p>
          <a:p>
            <a:pPr lvl="1"/>
            <a:r>
              <a:rPr lang="en-US" altLang="ko-KR" dirty="0"/>
              <a:t>Allow concurrent production or consuming to take place.</a:t>
            </a:r>
          </a:p>
          <a:p>
            <a:pPr lvl="1"/>
            <a:r>
              <a:rPr lang="en-US" altLang="ko-KR" dirty="0"/>
              <a:t>Reduce context switches.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755576" y="2348880"/>
            <a:ext cx="7632848" cy="375487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 	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buffer[MAX];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 	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fill 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3 	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use 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4 	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count 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5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6 	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put(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value)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7 	    buffer[fill] = value;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8 	    fill = (fill +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% MAX;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9 	    count++;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10 	}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11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12 	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get()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13 	    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buffer[use];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14 	    use = (use +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% MAX;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15 	    count--;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16 	    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return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17 	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59832" y="6090403"/>
            <a:ext cx="28583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The Final Put and Get Routines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6845185"/>
      </p:ext>
    </p:extLst>
  </p:cSld>
  <p:clrMapOvr>
    <a:masterClrMapping/>
  </p:clrMapOvr>
  <p:transition>
    <p:zoom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Final Producer/Consumer Solution (Cont.)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755576" y="1663353"/>
            <a:ext cx="7632848" cy="353943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 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cond_t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empty, fill;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 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mutex_t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3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4 	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*producer(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5 	   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6 	    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for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&lt; loops;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++)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7 	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pthread_mutex_lock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(&amp;mutex); 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p1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8 	        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while 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(count == MAX) 	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p2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9 	    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pthread_cond_wait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(&amp;empty, &amp;mutex); 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p3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10 	        put(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); 			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p4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11 	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pthread_cond_signal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(&amp;fill); 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p5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12 	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pthread_mutex_unlock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(&amp;mutex); 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p6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13 	    }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14 	}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15</a:t>
            </a:r>
          </a:p>
          <a:p>
            <a:endParaRPr lang="en-US" altLang="ko-KR" sz="1400" dirty="0">
              <a:solidFill>
                <a:srgbClr val="00B0F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3170748"/>
      </p:ext>
    </p:extLst>
  </p:cSld>
  <p:clrMapOvr>
    <a:masterClrMapping/>
  </p:clrMapOvr>
  <p:transition>
    <p:zoom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Final Producer/Consumer Solution 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49001" y="4725144"/>
            <a:ext cx="7454031" cy="1224136"/>
          </a:xfrm>
        </p:spPr>
        <p:txBody>
          <a:bodyPr/>
          <a:lstStyle/>
          <a:p>
            <a:pPr lvl="1"/>
            <a:r>
              <a:rPr lang="en-US" altLang="ko-KR" dirty="0"/>
              <a:t>p2: </a:t>
            </a:r>
            <a:r>
              <a:rPr lang="en-US" altLang="ko-KR" b="1" dirty="0"/>
              <a:t>A producer</a:t>
            </a:r>
            <a:r>
              <a:rPr lang="en-US" altLang="ko-KR" dirty="0"/>
              <a:t> only sleeps if all buffers are currently filled.</a:t>
            </a:r>
          </a:p>
          <a:p>
            <a:pPr lvl="1"/>
            <a:r>
              <a:rPr lang="en-US" altLang="ko-KR" dirty="0"/>
              <a:t>c2: </a:t>
            </a:r>
            <a:r>
              <a:rPr lang="en-US" altLang="ko-KR" b="1" dirty="0"/>
              <a:t>A consumer </a:t>
            </a:r>
            <a:r>
              <a:rPr lang="en-US" altLang="ko-KR" dirty="0"/>
              <a:t>only sleeps if all buffers are currently empty.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755576" y="1147678"/>
            <a:ext cx="7632848" cy="267765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16 	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*consumer(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17 	    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18 	   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for 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&lt; loops;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++) {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19 	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pthread_mutex_lock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(&amp;mutex); 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c1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20 	        while (count ==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	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c2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21 	    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pthread_cond_wait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(&amp;fill, &amp;mutex); 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c3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22 	        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get(); 		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c4</a:t>
            </a:r>
            <a:endParaRPr lang="en-US" altLang="ko-KR" sz="14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23 	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pthread_cond_signal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(&amp;empty); 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c5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24 	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pthread_mutex_unlock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(&amp;mutex); 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c6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25 	    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("%d\n",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26 	    }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27 	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26324" y="4023885"/>
            <a:ext cx="31627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The Final Working Solution (Cont.)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866771"/>
      </p:ext>
    </p:extLst>
  </p:cSld>
  <p:clrMapOvr>
    <a:masterClrMapping/>
  </p:clrMapOvr>
  <p:transition>
    <p:zoom/>
  </p:transition>
</p:sld>
</file>

<file path=ppt/theme/theme1.xml><?xml version="1.0" encoding="utf-8"?>
<a:theme xmlns:a="http://schemas.openxmlformats.org/drawingml/2006/main" name="3150-revise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-revised" id="{72E33548-5CDA-544A-B5F4-E210C371BE6B}" vid="{AFAE12A1-A27E-B74F-B116-16CE6FFB8377}"/>
    </a:ext>
  </a:extLst>
</a:theme>
</file>

<file path=ppt/theme/theme2.xml><?xml version="1.0" encoding="utf-8"?>
<a:theme xmlns:a="http://schemas.openxmlformats.org/drawingml/2006/main" name="3150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" id="{A0668890-14E8-504C-BDE5-56F8D213D484}" vid="{C450123E-4AB0-874E-B7E9-094A18E341B6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3150-revised</Template>
  <TotalTime>112471</TotalTime>
  <Words>3901</Words>
  <Application>Microsoft Macintosh PowerPoint</Application>
  <PresentationFormat>On-screen Show (4:3)</PresentationFormat>
  <Paragraphs>800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48</vt:i4>
      </vt:variant>
    </vt:vector>
  </HeadingPairs>
  <TitlesOfParts>
    <vt:vector size="59" baseType="lpstr">
      <vt:lpstr>굴림</vt:lpstr>
      <vt:lpstr>HY견고딕</vt:lpstr>
      <vt:lpstr>Malgun Gothic</vt:lpstr>
      <vt:lpstr>Malgun Gothic</vt:lpstr>
      <vt:lpstr>Arial</vt:lpstr>
      <vt:lpstr>Cambria Math</vt:lpstr>
      <vt:lpstr>Courier New</vt:lpstr>
      <vt:lpstr>Helvetica Neue</vt:lpstr>
      <vt:lpstr>Wingdings</vt:lpstr>
      <vt:lpstr>3150-revised</vt:lpstr>
      <vt:lpstr>3150</vt:lpstr>
      <vt:lpstr>CSCI3150 Introduction to Operating Systems</vt:lpstr>
      <vt:lpstr>Condition Variables</vt:lpstr>
      <vt:lpstr>Condition Variables</vt:lpstr>
      <vt:lpstr>Parent waiting for child: Spin-based Approach</vt:lpstr>
      <vt:lpstr>How to wait for a condition</vt:lpstr>
      <vt:lpstr>How to wait for a condition</vt:lpstr>
      <vt:lpstr>Definition and Routines</vt:lpstr>
      <vt:lpstr>Parent waiting for child: Use a condition variable</vt:lpstr>
      <vt:lpstr>Parent waiting for Child: Use a condition variable</vt:lpstr>
      <vt:lpstr>Parent waiting for Child: Use a condition variable</vt:lpstr>
      <vt:lpstr>Why do we need the state variable?</vt:lpstr>
      <vt:lpstr>Another poor implementation</vt:lpstr>
      <vt:lpstr>The producer / consumer (bounded buffer) problem</vt:lpstr>
      <vt:lpstr>Bounded buffer</vt:lpstr>
      <vt:lpstr>The Put and Get routines (Version 1)</vt:lpstr>
      <vt:lpstr>Producer/Consumer Threads (Version 1)</vt:lpstr>
      <vt:lpstr>Producer/Consumer: Single CV and If Statement</vt:lpstr>
      <vt:lpstr>Producer/Consumer: Single CV and If Statement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Thread Trace: Broken Solution (Version 1)</vt:lpstr>
      <vt:lpstr>Thread Trace: Broken Solution (Version 1)</vt:lpstr>
      <vt:lpstr>Producer/Consumer: Single CV and While</vt:lpstr>
      <vt:lpstr>Producer/Consumer: Single CV and While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Thread Trace: Broken Solution (Version 2)</vt:lpstr>
      <vt:lpstr>Thread Trace: Broken Solution (Version 2) (Cont.)</vt:lpstr>
      <vt:lpstr>The single-buffer producer/consumer solution</vt:lpstr>
      <vt:lpstr>The single-buffer producer/consumer solution</vt:lpstr>
      <vt:lpstr>The Final Producer/Consumer Solution</vt:lpstr>
      <vt:lpstr>The Final Producer/Consumer Solution (Cont.)</vt:lpstr>
      <vt:lpstr>The Final Producer/Consumer Solution (Cont.)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Pintos Project</dc:title>
  <dc:subject/>
  <dc:creator>유진수 (jedisty@hanyang.ac.kr)</dc:creator>
  <cp:keywords/>
  <dc:description/>
  <cp:lastModifiedBy>Hong Xu</cp:lastModifiedBy>
  <cp:revision>4229</cp:revision>
  <cp:lastPrinted>2024-09-24T03:20:21Z</cp:lastPrinted>
  <dcterms:created xsi:type="dcterms:W3CDTF">2011-05-01T06:09:10Z</dcterms:created>
  <dcterms:modified xsi:type="dcterms:W3CDTF">2024-09-30T01:03:03Z</dcterms:modified>
  <cp:category/>
</cp:coreProperties>
</file>