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  <p:sldMasterId id="2147483679" r:id="rId2"/>
    <p:sldMasterId id="2147483684" r:id="rId3"/>
    <p:sldMasterId id="2147483688" r:id="rId4"/>
    <p:sldMasterId id="2147483693" r:id="rId5"/>
    <p:sldMasterId id="2147483697" r:id="rId6"/>
    <p:sldMasterId id="2147483707" r:id="rId7"/>
    <p:sldMasterId id="2147483710" r:id="rId8"/>
  </p:sldMasterIdLst>
  <p:notesMasterIdLst>
    <p:notesMasterId r:id="rId20"/>
  </p:notesMasterIdLst>
  <p:handoutMasterIdLst>
    <p:handoutMasterId r:id="rId21"/>
  </p:handoutMasterIdLst>
  <p:sldIdLst>
    <p:sldId id="2998" r:id="rId9"/>
    <p:sldId id="3030" r:id="rId10"/>
    <p:sldId id="3017" r:id="rId11"/>
    <p:sldId id="3031" r:id="rId12"/>
    <p:sldId id="3037" r:id="rId13"/>
    <p:sldId id="3032" r:id="rId14"/>
    <p:sldId id="3033" r:id="rId15"/>
    <p:sldId id="3034" r:id="rId16"/>
    <p:sldId id="3035" r:id="rId17"/>
    <p:sldId id="3036" r:id="rId18"/>
    <p:sldId id="3039" r:id="rId1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52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04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4496" y="184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2EA66-9D09-BD03-3CEA-D554320B26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DB107-3A6C-DE50-BA8F-1D4A65BED0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1C0ED-E7DE-394C-8AFF-50634661D3F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81C56-177A-1A20-C548-3434F07138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42526-63AB-404E-7E46-37697D206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7CB9A-FBAF-1744-9828-C201BE6F3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4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slab.kaist.ac.kr/" TargetMode="Externa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oslab.kaist.ac.kr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slab.kaist.ac.kr/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slab.kaist.ac.kr/" TargetMode="External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oslab.kaist.ac.kr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7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2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76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  <p:grpSp>
        <p:nvGrpSpPr>
          <p:cNvPr id="3" name="그룹 35">
            <a:extLst>
              <a:ext uri="{FF2B5EF4-FFF2-40B4-BE49-F238E27FC236}">
                <a16:creationId xmlns:a16="http://schemas.microsoft.com/office/drawing/2014/main" id="{1C05462A-3020-39A7-8B92-B20B0FB619CB}"/>
              </a:ext>
            </a:extLst>
          </p:cNvPr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4" name="직선 연결선 30">
              <a:extLst>
                <a:ext uri="{FF2B5EF4-FFF2-40B4-BE49-F238E27FC236}">
                  <a16:creationId xmlns:a16="http://schemas.microsoft.com/office/drawing/2014/main" id="{7D2172C2-16C3-179B-FC45-0685521093CE}"/>
                </a:ext>
              </a:extLst>
            </p:cNvPr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31">
              <a:extLst>
                <a:ext uri="{FF2B5EF4-FFF2-40B4-BE49-F238E27FC236}">
                  <a16:creationId xmlns:a16="http://schemas.microsoft.com/office/drawing/2014/main" id="{0175833D-FC9F-1C97-AD69-8B40593B4E5E}"/>
                </a:ext>
              </a:extLst>
            </p:cNvPr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15F00B-4D43-CFA1-413B-D02AC44CC334}"/>
              </a:ext>
            </a:extLst>
          </p:cNvPr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1">
            <a:extLst>
              <a:ext uri="{FF2B5EF4-FFF2-40B4-BE49-F238E27FC236}">
                <a16:creationId xmlns:a16="http://schemas.microsoft.com/office/drawing/2014/main" id="{5138ECDE-93FC-A1C8-7228-F92F3BE86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79639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C0540FF3-02A0-7CD2-E152-0C08764147E7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hlinkClick r:id="rId2"/>
            <a:extLst>
              <a:ext uri="{FF2B5EF4-FFF2-40B4-BE49-F238E27FC236}">
                <a16:creationId xmlns:a16="http://schemas.microsoft.com/office/drawing/2014/main" id="{D314959B-EBA1-9022-94ED-618F26E42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06102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4E59F74D-0D1E-5E1A-00A0-194B3436A58F}"/>
              </a:ext>
            </a:extLst>
          </p:cNvPr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8">
            <a:extLst>
              <a:ext uri="{FF2B5EF4-FFF2-40B4-BE49-F238E27FC236}">
                <a16:creationId xmlns:a16="http://schemas.microsoft.com/office/drawing/2014/main" id="{14EE02FF-CEF7-B879-A997-FEDDF80EBBBD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hlinkClick r:id="rId3"/>
            <a:extLst>
              <a:ext uri="{FF2B5EF4-FFF2-40B4-BE49-F238E27FC236}">
                <a16:creationId xmlns:a16="http://schemas.microsoft.com/office/drawing/2014/main" id="{5256C9D6-B157-B57A-C548-D21B388E0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477255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C6111-D6DD-4D4D-8868-253F8778611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204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8" name="Picture 2">
            <a:hlinkClick r:id="rId2"/>
            <a:extLst>
              <a:ext uri="{FF2B5EF4-FFF2-40B4-BE49-F238E27FC236}">
                <a16:creationId xmlns:a16="http://schemas.microsoft.com/office/drawing/2014/main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7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196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  <p:grpSp>
        <p:nvGrpSpPr>
          <p:cNvPr id="3" name="그룹 35">
            <a:extLst>
              <a:ext uri="{FF2B5EF4-FFF2-40B4-BE49-F238E27FC236}">
                <a16:creationId xmlns:a16="http://schemas.microsoft.com/office/drawing/2014/main" id="{E18DF395-72FE-B99B-CF45-3F4704CF0FBE}"/>
              </a:ext>
            </a:extLst>
          </p:cNvPr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4" name="직선 연결선 30">
              <a:extLst>
                <a:ext uri="{FF2B5EF4-FFF2-40B4-BE49-F238E27FC236}">
                  <a16:creationId xmlns:a16="http://schemas.microsoft.com/office/drawing/2014/main" id="{02D3B3CD-74D0-4C72-9376-E7022E4A46BA}"/>
                </a:ext>
              </a:extLst>
            </p:cNvPr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31">
              <a:extLst>
                <a:ext uri="{FF2B5EF4-FFF2-40B4-BE49-F238E27FC236}">
                  <a16:creationId xmlns:a16="http://schemas.microsoft.com/office/drawing/2014/main" id="{2420C533-A1C5-F41A-4A45-72E97686DAAC}"/>
                </a:ext>
              </a:extLst>
            </p:cNvPr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99FAD7-EAAD-A50A-D841-7893673CCB1E}"/>
              </a:ext>
            </a:extLst>
          </p:cNvPr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1">
            <a:extLst>
              <a:ext uri="{FF2B5EF4-FFF2-40B4-BE49-F238E27FC236}">
                <a16:creationId xmlns:a16="http://schemas.microsoft.com/office/drawing/2014/main" id="{3DAF34C0-42F3-73AF-54E5-9164D66D4B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14918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675BBF7B-BCC8-9F36-CF23-55C3A1FE0B69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hlinkClick r:id="rId2"/>
            <a:extLst>
              <a:ext uri="{FF2B5EF4-FFF2-40B4-BE49-F238E27FC236}">
                <a16:creationId xmlns:a16="http://schemas.microsoft.com/office/drawing/2014/main" id="{26FB2F90-53A7-04D6-AE15-B7B168C326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940143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B89709FF-390D-5369-4FDB-EE6EB0F164F6}"/>
              </a:ext>
            </a:extLst>
          </p:cNvPr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8">
            <a:extLst>
              <a:ext uri="{FF2B5EF4-FFF2-40B4-BE49-F238E27FC236}">
                <a16:creationId xmlns:a16="http://schemas.microsoft.com/office/drawing/2014/main" id="{B2C9F712-D447-D03F-CAB4-65377646939B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hlinkClick r:id="rId3"/>
            <a:extLst>
              <a:ext uri="{FF2B5EF4-FFF2-40B4-BE49-F238E27FC236}">
                <a16:creationId xmlns:a16="http://schemas.microsoft.com/office/drawing/2014/main" id="{D94C9CAC-AF88-7A5A-60CD-C58BD11B23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688676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C6111-D6DD-4D4D-8868-253F8778611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412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940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63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7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3333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6" y="6048604"/>
            <a:ext cx="44328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sz="15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9962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1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1667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5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333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167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167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480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384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ko-KR" sz="2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0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8" y="5013177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26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100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6" y="6048604"/>
            <a:ext cx="44328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hlinkClick r:id="rId2"/>
              </a:rPr>
              <a:t>https://github.com/henryhxu/CSCI3150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68676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1505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ko-KR" sz="2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0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8" y="5013177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542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57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278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6548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5969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7925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89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hyperlink" Target="https://oslab.kaist.ac.kr/" TargetMode="External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oslab.kaist.ac.kr/" TargetMode="Externa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51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4">
            <a:extLst>
              <a:ext uri="{FF2B5EF4-FFF2-40B4-BE49-F238E27FC236}">
                <a16:creationId xmlns:a16="http://schemas.microsoft.com/office/drawing/2014/main" id="{DB29758C-8B8F-B57E-7121-91A253F53108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" name="직사각형 9">
            <a:extLst>
              <a:ext uri="{FF2B5EF4-FFF2-40B4-BE49-F238E27FC236}">
                <a16:creationId xmlns:a16="http://schemas.microsoft.com/office/drawing/2014/main" id="{4AA95670-0316-BF8B-15B0-2A09053A10A6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7" name="Picture 2">
            <a:hlinkClick r:id="rId8"/>
            <a:extLst>
              <a:ext uri="{FF2B5EF4-FFF2-40B4-BE49-F238E27FC236}">
                <a16:creationId xmlns:a16="http://schemas.microsoft.com/office/drawing/2014/main" id="{35B52F8E-1D94-3D28-C3BA-C6FE22CD3A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42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71" r:id="rId5"/>
    <p:sldLayoutId id="2147483673" r:id="rId6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51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4">
            <a:extLst>
              <a:ext uri="{FF2B5EF4-FFF2-40B4-BE49-F238E27FC236}">
                <a16:creationId xmlns:a16="http://schemas.microsoft.com/office/drawing/2014/main" id="{E46E980D-BA0F-B8A1-B67B-C5A10B9A1BED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" name="직사각형 9">
            <a:extLst>
              <a:ext uri="{FF2B5EF4-FFF2-40B4-BE49-F238E27FC236}">
                <a16:creationId xmlns:a16="http://schemas.microsoft.com/office/drawing/2014/main" id="{F962B5EF-782A-4997-D474-4228D6D7C53A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7" name="Picture 2">
            <a:hlinkClick r:id="rId6"/>
            <a:extLst>
              <a:ext uri="{FF2B5EF4-FFF2-40B4-BE49-F238E27FC236}">
                <a16:creationId xmlns:a16="http://schemas.microsoft.com/office/drawing/2014/main" id="{073C54A0-8D8E-0F1A-2487-8FF227F93D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429375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36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0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10000" rtlCol="0" anchor="ctr"/>
          <a:lstStyle/>
          <a:p>
            <a:pPr algn="ctr"/>
            <a:endParaRPr lang="ko-KR" altLang="en-US" sz="1333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4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6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33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59551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917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10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10000" rtlCol="0" anchor="ctr"/>
          <a:lstStyle/>
          <a:p>
            <a:pPr algn="ctr"/>
            <a:endParaRPr lang="ko-KR" altLang="en-US" sz="1333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4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380985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761970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142954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523939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285739" indent="-285739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16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19100" indent="-238115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952462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333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333447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1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714431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1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095416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6pPr>
      <a:lvl7pPr marL="2476401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7pPr>
      <a:lvl8pPr marL="2857386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8pPr>
      <a:lvl9pPr marL="3238370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6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73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31640" y="1808822"/>
            <a:ext cx="6477000" cy="1105008"/>
          </a:xfrm>
        </p:spPr>
        <p:txBody>
          <a:bodyPr/>
          <a:lstStyle/>
          <a:p>
            <a:pPr latinLnBrk="0"/>
            <a:r>
              <a:rPr lang="en-US" altLang="zh-CN" sz="3000" dirty="0"/>
              <a:t>CSCI3150</a:t>
            </a:r>
            <a:r>
              <a:rPr lang="zh-CN" altLang="en-US" sz="3000" dirty="0"/>
              <a:t> </a:t>
            </a:r>
            <a:r>
              <a:rPr lang="en-US" altLang="zh-CN" sz="3000" dirty="0"/>
              <a:t>Introduction</a:t>
            </a:r>
            <a:r>
              <a:rPr lang="zh-CN" altLang="en-US" sz="3000" dirty="0"/>
              <a:t> </a:t>
            </a:r>
            <a:r>
              <a:rPr lang="en-US" altLang="zh-CN" sz="3000" dirty="0"/>
              <a:t>to</a:t>
            </a:r>
            <a:r>
              <a:rPr lang="zh-CN" altLang="en-US" sz="3000" dirty="0"/>
              <a:t> </a:t>
            </a:r>
            <a:r>
              <a:rPr lang="en-US" sz="3000" dirty="0"/>
              <a:t>Operating Systems</a:t>
            </a:r>
            <a:endParaRPr lang="en-US" sz="1333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1331640" y="3849049"/>
            <a:ext cx="6477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619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18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Final Review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11F4-DBD8-E539-819E-9D898FE0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end…</a:t>
            </a:r>
            <a:endParaRPr 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8E3944-573D-BF61-E80D-E1B84DA83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exam</a:t>
            </a:r>
            <a:endParaRPr lang="en-US" altLang="ko-KR" dirty="0"/>
          </a:p>
          <a:p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8DE82-6BF7-0A13-DA9A-A728F7BA9E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15D0-332F-0470-B382-10ADDAF95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51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620BD-91C8-4AA2-822B-0CF620AD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exam</a:t>
            </a:r>
            <a:endParaRPr lang="ko-K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D1DFD5-ADF6-7EA8-B34B-23193E9D1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Closed-book.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A4-sized</a:t>
            </a:r>
            <a:r>
              <a:rPr lang="zh-CN" altLang="en-US" dirty="0"/>
              <a:t> </a:t>
            </a:r>
            <a:r>
              <a:rPr lang="en-US" altLang="zh-CN" dirty="0"/>
              <a:t>aid</a:t>
            </a:r>
            <a:r>
              <a:rPr lang="zh-CN" altLang="en-US" dirty="0"/>
              <a:t> </a:t>
            </a:r>
            <a:r>
              <a:rPr lang="en-US" altLang="zh-CN" dirty="0"/>
              <a:t>sheet</a:t>
            </a:r>
            <a:r>
              <a:rPr lang="zh-CN" altLang="en-US" dirty="0"/>
              <a:t> </a:t>
            </a:r>
            <a:r>
              <a:rPr lang="en-US" altLang="zh-CN" dirty="0"/>
              <a:t>allowed,</a:t>
            </a:r>
            <a:r>
              <a:rPr lang="zh-CN" altLang="en-US" dirty="0"/>
              <a:t> </a:t>
            </a:r>
            <a:r>
              <a:rPr lang="en-US" altLang="zh-CN" dirty="0"/>
              <a:t>single-sided</a:t>
            </a:r>
          </a:p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calculator</a:t>
            </a:r>
            <a:r>
              <a:rPr lang="zh-CN" altLang="en-US" dirty="0"/>
              <a:t> </a:t>
            </a:r>
            <a:r>
              <a:rPr lang="en-US" altLang="zh-CN" dirty="0"/>
              <a:t>allowed</a:t>
            </a:r>
          </a:p>
          <a:p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 </a:t>
            </a:r>
            <a:r>
              <a:rPr lang="en-US" altLang="zh-CN" dirty="0"/>
              <a:t>questions,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</a:p>
          <a:p>
            <a:r>
              <a:rPr lang="en-US" altLang="zh-CN" dirty="0"/>
              <a:t>Exam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past</a:t>
            </a:r>
            <a:r>
              <a:rPr lang="zh-CN" altLang="en-US" dirty="0"/>
              <a:t> </a:t>
            </a:r>
            <a:r>
              <a:rPr lang="en-US" altLang="zh-CN" dirty="0"/>
              <a:t>papers</a:t>
            </a:r>
          </a:p>
          <a:p>
            <a:r>
              <a:rPr lang="en-US" altLang="zh-CN" dirty="0"/>
              <a:t>Cover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lectures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tutorials,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assignments</a:t>
            </a:r>
          </a:p>
          <a:p>
            <a:r>
              <a:rPr lang="en-US" altLang="zh-CN" dirty="0"/>
              <a:t>Focus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midterm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107847-0961-4D75-86F0-C0752C5A0D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D475B-CEB1-4AD6-8DE2-FDEF2E979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0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85F8-782A-BA24-8CD2-8937EA4F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exam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4AA40-D8A2-17EC-BBA6-84EE5640A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Q1:</a:t>
            </a:r>
            <a:r>
              <a:rPr lang="zh-CN" altLang="en-US" dirty="0"/>
              <a:t> </a:t>
            </a:r>
            <a:r>
              <a:rPr lang="en-US" altLang="zh-CN" dirty="0"/>
              <a:t>Single-choice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</a:p>
          <a:p>
            <a:r>
              <a:rPr lang="en-US" altLang="zh-CN" dirty="0"/>
              <a:t>Q2:</a:t>
            </a:r>
            <a:r>
              <a:rPr lang="zh-CN" altLang="en-US" dirty="0"/>
              <a:t> </a:t>
            </a:r>
            <a:r>
              <a:rPr lang="en-US" altLang="zh-CN" dirty="0"/>
              <a:t>CPU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r>
              <a:rPr lang="en-US" altLang="zh-CN" dirty="0"/>
              <a:t>Q3:</a:t>
            </a:r>
            <a:r>
              <a:rPr lang="zh-CN" altLang="en-US" dirty="0"/>
              <a:t> </a:t>
            </a:r>
            <a:r>
              <a:rPr lang="en-US" altLang="zh-CN" dirty="0"/>
              <a:t>Segmentation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paging</a:t>
            </a:r>
          </a:p>
          <a:p>
            <a:r>
              <a:rPr lang="en-US" altLang="zh-CN" dirty="0"/>
              <a:t>Q4:</a:t>
            </a:r>
            <a:r>
              <a:rPr lang="zh-CN" altLang="en-US" dirty="0"/>
              <a:t> </a:t>
            </a:r>
            <a:r>
              <a:rPr lang="en-US" altLang="zh-CN" dirty="0"/>
              <a:t>Swapping</a:t>
            </a:r>
          </a:p>
          <a:p>
            <a:r>
              <a:rPr lang="en-US" altLang="zh-CN" dirty="0"/>
              <a:t>Q5: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</a:p>
          <a:p>
            <a:r>
              <a:rPr lang="en-US" altLang="zh-CN" dirty="0"/>
              <a:t>Q6:</a:t>
            </a:r>
            <a:r>
              <a:rPr lang="zh-CN" altLang="en-US" dirty="0"/>
              <a:t> </a:t>
            </a:r>
            <a:r>
              <a:rPr lang="en-US" altLang="zh-CN" dirty="0" err="1"/>
              <a:t>Misc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27A71-AE07-FE52-5EFD-27E67DED0B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7091-B6E5-0137-D636-791BA4EF2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5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F951-38D1-29BC-6CD3-3522E46A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tips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83473-8842-90F4-9CF3-48CA56CB7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Go</a:t>
            </a:r>
            <a:r>
              <a:rPr lang="zh-CN" altLang="en-US" dirty="0"/>
              <a:t> </a:t>
            </a:r>
            <a:r>
              <a:rPr lang="en-US" altLang="zh-CN" dirty="0"/>
              <a:t>back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basics</a:t>
            </a:r>
          </a:p>
          <a:p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why,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</a:p>
          <a:p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careful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details,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</a:p>
          <a:p>
            <a:r>
              <a:rPr lang="en-US" altLang="zh-CN" dirty="0"/>
              <a:t>Relax,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easy</a:t>
            </a:r>
            <a:r>
              <a:rPr lang="zh-CN" altLang="en-US" dirty="0"/>
              <a:t> </a:t>
            </a:r>
            <a:r>
              <a:rPr lang="en-US" altLang="zh-CN" dirty="0"/>
              <a:t>(don’t</a:t>
            </a:r>
            <a:r>
              <a:rPr lang="zh-CN" altLang="en-US" dirty="0"/>
              <a:t> </a:t>
            </a:r>
            <a:r>
              <a:rPr lang="en-US" altLang="zh-CN" dirty="0"/>
              <a:t>emo!).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exam</a:t>
            </a:r>
            <a:r>
              <a:rPr lang="zh-CN" altLang="en-US" dirty="0"/>
              <a:t> </a:t>
            </a:r>
            <a:r>
              <a:rPr lang="en-US" altLang="zh-CN" dirty="0"/>
              <a:t>(that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won’t</a:t>
            </a:r>
            <a:r>
              <a:rPr lang="zh-CN" altLang="en-US" dirty="0"/>
              <a:t> </a:t>
            </a:r>
            <a:r>
              <a:rPr lang="en-US" altLang="zh-CN" dirty="0"/>
              <a:t>remember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strike="sngStrike" dirty="0"/>
              <a:t>2</a:t>
            </a:r>
            <a:r>
              <a:rPr lang="zh-CN" altLang="en-US" strike="sngStrike" dirty="0"/>
              <a:t> </a:t>
            </a:r>
            <a:r>
              <a:rPr lang="en-US" altLang="zh-CN" strike="sngStrike" dirty="0"/>
              <a:t>years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months!)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E5F6C-377D-E24A-B826-2A5177B6CD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A3DB-1D90-C0A6-230D-64F4E2BAD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89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44985E-593B-3B50-0B51-EA6A105C4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2898-CE20-A3D5-F7AC-90D74DEAE1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C81DF-7FB2-6ECD-2D25-ED3F8E322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43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70967F-AD05-4DE6-9277-04CB7A2C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CE31F-1529-1259-0B25-11AF81184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Concurrency</a:t>
            </a:r>
          </a:p>
          <a:p>
            <a:pPr lvl="1"/>
            <a:r>
              <a:rPr lang="en-US" altLang="zh-CN" dirty="0" err="1"/>
              <a:t>Lec</a:t>
            </a:r>
            <a:r>
              <a:rPr lang="zh-CN" altLang="en-US" dirty="0"/>
              <a:t> </a:t>
            </a:r>
            <a:r>
              <a:rPr lang="en-US" altLang="zh-CN" dirty="0"/>
              <a:t>3–9</a:t>
            </a:r>
          </a:p>
          <a:p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pPr lvl="1"/>
            <a:r>
              <a:rPr lang="en-US" altLang="zh-CN" dirty="0" err="1"/>
              <a:t>Lec</a:t>
            </a:r>
            <a:r>
              <a:rPr lang="zh-CN" altLang="en-US" dirty="0"/>
              <a:t> </a:t>
            </a:r>
            <a:r>
              <a:rPr lang="en-US" altLang="zh-CN" dirty="0"/>
              <a:t>10–12</a:t>
            </a:r>
          </a:p>
          <a:p>
            <a:r>
              <a:rPr lang="en-US" altLang="zh-CN" dirty="0"/>
              <a:t>Persistence</a:t>
            </a:r>
          </a:p>
          <a:p>
            <a:pPr lvl="1"/>
            <a:r>
              <a:rPr lang="en-US" altLang="zh-CN" dirty="0" err="1"/>
              <a:t>Lec</a:t>
            </a:r>
            <a:r>
              <a:rPr lang="zh-CN" altLang="en-US" dirty="0"/>
              <a:t> </a:t>
            </a:r>
            <a:r>
              <a:rPr lang="en-US" altLang="zh-CN" dirty="0"/>
              <a:t>13–15</a:t>
            </a:r>
          </a:p>
          <a:p>
            <a:r>
              <a:rPr lang="en-US" altLang="zh-CN" dirty="0"/>
              <a:t>Misc.</a:t>
            </a:r>
          </a:p>
          <a:p>
            <a:pPr lvl="1"/>
            <a:r>
              <a:rPr lang="en-US" altLang="zh-CN" dirty="0"/>
              <a:t>Virtualization;</a:t>
            </a:r>
            <a:r>
              <a:rPr lang="zh-CN" altLang="en-US" dirty="0"/>
              <a:t> </a:t>
            </a:r>
            <a:r>
              <a:rPr lang="en-US" altLang="zh-CN" dirty="0"/>
              <a:t>networking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9B860-FE7A-7B5B-BF89-67B6E5C17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4E1CC-E39C-FB23-1781-9B95732D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57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70967F-AD05-4DE6-9277-04CB7A2C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Concurrency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CE31F-1529-1259-0B25-11AF81184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Abstraction:</a:t>
            </a:r>
            <a:r>
              <a:rPr lang="zh-CN" altLang="en-US" dirty="0"/>
              <a:t> </a:t>
            </a:r>
            <a:r>
              <a:rPr lang="en-US" altLang="zh-CN" dirty="0"/>
              <a:t>Processes,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r>
              <a:rPr lang="en-US" altLang="zh-CN" dirty="0"/>
              <a:t>Locks,</a:t>
            </a:r>
            <a:r>
              <a:rPr lang="zh-CN" altLang="en-US" dirty="0"/>
              <a:t> </a:t>
            </a:r>
            <a:r>
              <a:rPr lang="en-US" altLang="zh-CN" dirty="0"/>
              <a:t>mutex</a:t>
            </a:r>
          </a:p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</a:p>
          <a:p>
            <a:r>
              <a:rPr lang="en-US" altLang="zh-CN" dirty="0"/>
              <a:t>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9B860-FE7A-7B5B-BF89-67B6E5C17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4E1CC-E39C-FB23-1781-9B95732D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33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B67F-46BC-D779-B17F-E8585572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15E4-EB7D-5F58-0E3C-BEFAA4F1F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pPr lvl="1"/>
            <a:r>
              <a:rPr lang="en-US" altLang="zh-CN" dirty="0"/>
              <a:t>Abstraction: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</a:p>
          <a:p>
            <a:pPr lvl="1"/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translation,</a:t>
            </a:r>
            <a:r>
              <a:rPr lang="zh-CN" altLang="en-US" dirty="0"/>
              <a:t> </a:t>
            </a:r>
            <a:r>
              <a:rPr lang="en-US" altLang="zh-CN" dirty="0"/>
              <a:t>base-and-bounds,</a:t>
            </a:r>
            <a:r>
              <a:rPr lang="zh-CN" altLang="en-US" dirty="0"/>
              <a:t> </a:t>
            </a:r>
            <a:r>
              <a:rPr lang="en-US" altLang="zh-CN" dirty="0"/>
              <a:t>segmentation</a:t>
            </a:r>
          </a:p>
          <a:p>
            <a:pPr lvl="1"/>
            <a:r>
              <a:rPr lang="en-US" altLang="zh-CN" dirty="0"/>
              <a:t>Paging,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tables,</a:t>
            </a:r>
            <a:r>
              <a:rPr lang="zh-CN" altLang="en-US" dirty="0"/>
              <a:t> </a:t>
            </a:r>
            <a:r>
              <a:rPr lang="en-US" altLang="zh-CN" dirty="0"/>
              <a:t>TLB,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replacement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7744A-3442-7EF6-F67B-04F4691537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B2B3-66AA-46A9-2C9E-877464958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98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E674-3E39-BB43-C276-E581A18A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Persistence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8F005-1D0D-24DB-F643-05EEDF741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</a:p>
          <a:p>
            <a:pPr lvl="1"/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devices,</a:t>
            </a:r>
            <a:r>
              <a:rPr lang="zh-CN" altLang="en-US" dirty="0"/>
              <a:t> </a:t>
            </a:r>
            <a:r>
              <a:rPr lang="en-US" altLang="zh-CN" dirty="0"/>
              <a:t>generic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</a:p>
          <a:p>
            <a:pPr lvl="1"/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FS: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blocks,</a:t>
            </a:r>
            <a:r>
              <a:rPr lang="zh-CN" altLang="en-US" dirty="0"/>
              <a:t> </a:t>
            </a:r>
            <a:r>
              <a:rPr lang="en-US" altLang="zh-CN" dirty="0"/>
              <a:t>super</a:t>
            </a:r>
            <a:r>
              <a:rPr lang="zh-CN" altLang="en-US" dirty="0"/>
              <a:t> </a:t>
            </a:r>
            <a:r>
              <a:rPr lang="en-US" altLang="zh-CN" dirty="0"/>
              <a:t>blocks</a:t>
            </a:r>
          </a:p>
          <a:p>
            <a:pPr lvl="1"/>
            <a:r>
              <a:rPr lang="en-US" altLang="zh-CN" dirty="0"/>
              <a:t>LFS:</a:t>
            </a:r>
            <a:r>
              <a:rPr lang="zh-CN" altLang="en-US" dirty="0"/>
              <a:t> </a:t>
            </a:r>
            <a:r>
              <a:rPr lang="en-US" altLang="zh-CN" dirty="0"/>
              <a:t>out-of-place</a:t>
            </a:r>
            <a:r>
              <a:rPr lang="zh-CN" altLang="en-US" dirty="0"/>
              <a:t> </a:t>
            </a:r>
            <a:r>
              <a:rPr lang="en-US" altLang="zh-CN" dirty="0"/>
              <a:t>update,</a:t>
            </a:r>
            <a:r>
              <a:rPr lang="zh-CN" altLang="en-US" dirty="0"/>
              <a:t> </a:t>
            </a:r>
            <a:r>
              <a:rPr lang="en-US" altLang="zh-CN" dirty="0" err="1"/>
              <a:t>imap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checkpoint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449C-373A-D03A-4DFD-0D1ADD8F7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083C7-2156-1E44-AE8F-DC90F5148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49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44A8FB-AA9F-C235-C012-51901FF86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That’s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r>
              <a:rPr lang="zh-CN" altLang="en-US" dirty="0"/>
              <a:t> </a:t>
            </a:r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all!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BA6E34-5CDA-A238-F5DB-D787F16FF6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6DFDB-793C-52DC-8B0D-62355343F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968832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5CA7F7AF-ED8C-AA4E-96F3-C3C7BE1512A6}" vid="{F85903AB-D508-BB47-851C-D8C41168E676}"/>
    </a:ext>
  </a:extLst>
</a:theme>
</file>

<file path=ppt/theme/theme3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5CA7F7AF-ED8C-AA4E-96F3-C3C7BE1512A6}" vid="{F85903AB-D508-BB47-851C-D8C41168E676}"/>
    </a:ext>
  </a:extLst>
</a:theme>
</file>

<file path=ppt/theme/theme5.xml><?xml version="1.0" encoding="utf-8"?>
<a:theme xmlns:a="http://schemas.openxmlformats.org/drawingml/2006/main" name="3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7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8.xml><?xml version="1.0" encoding="utf-8"?>
<a:theme xmlns:a="http://schemas.openxmlformats.org/drawingml/2006/main" name="3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111083</TotalTime>
  <Words>284</Words>
  <Application>Microsoft Macintosh PowerPoint</Application>
  <PresentationFormat>On-screen Show (4:3)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Adobe 고딕 Std B</vt:lpstr>
      <vt:lpstr>굴림</vt:lpstr>
      <vt:lpstr>HY견고딕</vt:lpstr>
      <vt:lpstr>맑은 고딕</vt:lpstr>
      <vt:lpstr>맑은 고딕</vt:lpstr>
      <vt:lpstr>Arial</vt:lpstr>
      <vt:lpstr>Calibri</vt:lpstr>
      <vt:lpstr>Courier New</vt:lpstr>
      <vt:lpstr>Helvetica Neue</vt:lpstr>
      <vt:lpstr>Wingdings</vt:lpstr>
      <vt:lpstr>2_양식_공청회_발표자료-총괄-양식</vt:lpstr>
      <vt:lpstr>3150</vt:lpstr>
      <vt:lpstr>1_양식_공청회_발표자료-총괄-양식</vt:lpstr>
      <vt:lpstr>1_3150</vt:lpstr>
      <vt:lpstr>3_양식_공청회_발표자료-총괄-양식</vt:lpstr>
      <vt:lpstr>2_3150</vt:lpstr>
      <vt:lpstr>3150-revised</vt:lpstr>
      <vt:lpstr>3_3150</vt:lpstr>
      <vt:lpstr>CSCI3150 Introduction to Operating Systems</vt:lpstr>
      <vt:lpstr>Coming to the end…</vt:lpstr>
      <vt:lpstr>Final exam</vt:lpstr>
      <vt:lpstr>Final exam (cont.)</vt:lpstr>
      <vt:lpstr>Some tips</vt:lpstr>
      <vt:lpstr>PowerPoint Presentation</vt:lpstr>
      <vt:lpstr>Three main parts</vt:lpstr>
      <vt:lpstr>Concurrency</vt:lpstr>
      <vt:lpstr>Memory</vt:lpstr>
      <vt:lpstr>Persistence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4317</cp:revision>
  <cp:lastPrinted>2019-09-09T02:10:38Z</cp:lastPrinted>
  <dcterms:created xsi:type="dcterms:W3CDTF">2011-05-01T06:09:10Z</dcterms:created>
  <dcterms:modified xsi:type="dcterms:W3CDTF">2026-04-16T07:22:26Z</dcterms:modified>
  <cp:category/>
</cp:coreProperties>
</file>