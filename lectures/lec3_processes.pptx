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1" r:id="rId1"/>
  </p:sldMasterIdLst>
  <p:notesMasterIdLst>
    <p:notesMasterId r:id="rId48"/>
  </p:notesMasterIdLst>
  <p:handoutMasterIdLst>
    <p:handoutMasterId r:id="rId49"/>
  </p:handoutMasterIdLst>
  <p:sldIdLst>
    <p:sldId id="2990" r:id="rId2"/>
    <p:sldId id="349" r:id="rId3"/>
    <p:sldId id="350" r:id="rId4"/>
    <p:sldId id="351" r:id="rId5"/>
    <p:sldId id="353" r:id="rId6"/>
    <p:sldId id="354" r:id="rId7"/>
    <p:sldId id="357" r:id="rId8"/>
    <p:sldId id="358" r:id="rId9"/>
    <p:sldId id="359" r:id="rId10"/>
    <p:sldId id="356" r:id="rId11"/>
    <p:sldId id="360" r:id="rId12"/>
    <p:sldId id="361" r:id="rId13"/>
    <p:sldId id="362" r:id="rId14"/>
    <p:sldId id="363" r:id="rId15"/>
    <p:sldId id="365" r:id="rId16"/>
    <p:sldId id="366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64" r:id="rId29"/>
    <p:sldId id="379" r:id="rId30"/>
    <p:sldId id="2993" r:id="rId31"/>
    <p:sldId id="381" r:id="rId32"/>
    <p:sldId id="382" r:id="rId33"/>
    <p:sldId id="383" r:id="rId34"/>
    <p:sldId id="384" r:id="rId35"/>
    <p:sldId id="2992" r:id="rId36"/>
    <p:sldId id="385" r:id="rId37"/>
    <p:sldId id="386" r:id="rId38"/>
    <p:sldId id="396" r:id="rId39"/>
    <p:sldId id="397" r:id="rId40"/>
    <p:sldId id="387" r:id="rId41"/>
    <p:sldId id="399" r:id="rId42"/>
    <p:sldId id="388" r:id="rId43"/>
    <p:sldId id="389" r:id="rId44"/>
    <p:sldId id="390" r:id="rId45"/>
    <p:sldId id="394" r:id="rId46"/>
    <p:sldId id="395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frameSlides="1"/>
  <p:clrMru>
    <a:srgbClr val="0432FF"/>
    <a:srgbClr val="A3ABFF"/>
    <a:srgbClr val="567CFF"/>
    <a:srgbClr val="FFF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03"/>
    <p:restoredTop sz="96327" autoAdjust="0"/>
  </p:normalViewPr>
  <p:slideViewPr>
    <p:cSldViewPr snapToGrid="0" snapToObjects="1">
      <p:cViewPr varScale="1">
        <p:scale>
          <a:sx n="127" d="100"/>
          <a:sy n="127" d="100"/>
        </p:scale>
        <p:origin x="21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5FA19-4AE7-394C-8E06-B4A0FB3E5AA8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3C84F-422D-1049-B727-5B751ACDAB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2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991A4-6061-8E40-B3BF-9224535D7C20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39927-3662-3B4E-89DF-65C239F3E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129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94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0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4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New: really</a:t>
            </a:r>
            <a:r>
              <a:rPr lang="en-US" baseline="0" dirty="0"/>
              <a:t> is the parent process.</a:t>
            </a:r>
          </a:p>
          <a:p>
            <a:r>
              <a:rPr lang="en-US" baseline="0" dirty="0"/>
              <a:t>The moment you do I/O --- waiting. Why?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39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50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07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8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36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20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 dirty="0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15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 dirty="0"/>
              <a:t>Click to edit Master text styles</a:t>
            </a:r>
          </a:p>
          <a:p>
            <a:pPr lvl="1"/>
            <a:r>
              <a:rPr lang="en-GB" altLang="ko-KR" dirty="0"/>
              <a:t>Second level</a:t>
            </a:r>
          </a:p>
          <a:p>
            <a:pPr lvl="2"/>
            <a:r>
              <a:rPr lang="en-GB" altLang="ko-KR" dirty="0"/>
              <a:t>Third level</a:t>
            </a:r>
          </a:p>
          <a:p>
            <a:pPr lvl="3"/>
            <a:r>
              <a:rPr lang="en-GB" altLang="ko-KR" dirty="0"/>
              <a:t>Fourth level</a:t>
            </a:r>
          </a:p>
          <a:p>
            <a:pPr lvl="4"/>
            <a:r>
              <a:rPr lang="en-GB" altLang="ko-KR" dirty="0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49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53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24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86_calling_conventions" TargetMode="External"/><Relationship Id="rId2" Type="http://schemas.openxmlformats.org/officeDocument/2006/relationships/hyperlink" Target="https://stackoverflow.com/questions/8857830/fork-implementation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ell-labs.com/usr/dmr/www/hist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ea typeface="Helvetica Neue" panose="02000503000000020004" pitchFamily="2" charset="0"/>
              </a:rPr>
              <a:t>CSCI3150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ea typeface="Helvetica Neue" panose="02000503000000020004" pitchFamily="2" charset="0"/>
              </a:rPr>
              <a:t>Introduction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ea typeface="Helvetica Neue" panose="02000503000000020004" pitchFamily="2" charset="0"/>
              </a:rPr>
              <a:t>to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HK" altLang="zh-CN" sz="4000" b="1" dirty="0">
                <a:solidFill>
                  <a:schemeClr val="accent1">
                    <a:lumMod val="75000"/>
                  </a:schemeClr>
                </a:solidFill>
                <a:ea typeface="Helvetica Neue" panose="02000503000000020004" pitchFamily="2" charset="0"/>
              </a:rPr>
            </a:b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a typeface="Helvetica Neue" panose="02000503000000020004" pitchFamily="2" charset="0"/>
              </a:rPr>
              <a:t>Operating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3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HK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Pro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cesses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18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Processes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400"/>
            <a:ext cx="8462191" cy="4273123"/>
          </a:xfrm>
        </p:spPr>
        <p:txBody>
          <a:bodyPr>
            <a:noAutofit/>
          </a:bodyPr>
          <a:lstStyle/>
          <a:p>
            <a:r>
              <a:rPr lang="en-US" dirty="0"/>
              <a:t>This lecture starts a class segment that covers </a:t>
            </a:r>
            <a:r>
              <a:rPr lang="en-US" dirty="0">
                <a:solidFill>
                  <a:srgbClr val="FF0000"/>
                </a:solidFill>
              </a:rPr>
              <a:t>processes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threads</a:t>
            </a:r>
            <a:r>
              <a:rPr lang="en-US" dirty="0"/>
              <a:t>, and </a:t>
            </a:r>
            <a:r>
              <a:rPr lang="en-US" dirty="0">
                <a:solidFill>
                  <a:srgbClr val="7030A0"/>
                </a:solidFill>
              </a:rPr>
              <a:t>synchronization</a:t>
            </a:r>
          </a:p>
          <a:p>
            <a:pPr lvl="1"/>
            <a:r>
              <a:rPr lang="en-US" dirty="0"/>
              <a:t>These topics are perhaps the most important in this </a:t>
            </a:r>
            <a:r>
              <a:rPr lang="en-US" altLang="zh-CN" dirty="0"/>
              <a:t>course</a:t>
            </a:r>
            <a:endParaRPr lang="en-US" dirty="0"/>
          </a:p>
          <a:p>
            <a:pPr lvl="1"/>
            <a:r>
              <a:rPr lang="en-US" dirty="0"/>
              <a:t>You can rest assured that they will be covered in the exams</a:t>
            </a:r>
          </a:p>
          <a:p>
            <a:r>
              <a:rPr lang="en-US" dirty="0"/>
              <a:t>Today’s topics are </a:t>
            </a:r>
            <a:r>
              <a:rPr lang="en-US" u="sng" dirty="0"/>
              <a:t>processes</a:t>
            </a:r>
            <a:r>
              <a:rPr lang="en-US" dirty="0"/>
              <a:t> and </a:t>
            </a:r>
            <a:r>
              <a:rPr lang="en-US" u="sng" dirty="0"/>
              <a:t>process management</a:t>
            </a:r>
          </a:p>
          <a:p>
            <a:pPr lvl="1"/>
            <a:r>
              <a:rPr lang="en-US" dirty="0"/>
              <a:t>What are the units of execution?</a:t>
            </a:r>
          </a:p>
          <a:p>
            <a:pPr lvl="1"/>
            <a:r>
              <a:rPr lang="en-US" dirty="0"/>
              <a:t>How are those units of execution represented in the OS?</a:t>
            </a:r>
          </a:p>
          <a:p>
            <a:pPr lvl="1"/>
            <a:r>
              <a:rPr lang="en-US" dirty="0"/>
              <a:t>What are the possible execution states of a process?</a:t>
            </a:r>
          </a:p>
          <a:p>
            <a:pPr lvl="1"/>
            <a:r>
              <a:rPr lang="en-US" dirty="0"/>
              <a:t>How does a process move from one state to another?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FFD239-119D-404A-8B1B-C639A8770BBC}" type="slidenum">
              <a:rPr lang="en-US"/>
              <a:pPr/>
              <a:t>2</a:t>
            </a:fld>
            <a:endParaRPr lang="en-US"/>
          </a:p>
        </p:txBody>
      </p:sp>
      <p:sp>
        <p:nvSpPr>
          <p:cNvPr id="40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Users,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80070"/>
            <a:ext cx="5949975" cy="5501258"/>
          </a:xfrm>
        </p:spPr>
        <p:txBody>
          <a:bodyPr/>
          <a:lstStyle/>
          <a:p>
            <a:r>
              <a:rPr lang="en-US" dirty="0"/>
              <a:t>Users have accounts on the system</a:t>
            </a:r>
          </a:p>
          <a:p>
            <a:r>
              <a:rPr lang="en-US" dirty="0"/>
              <a:t>Users launch programs</a:t>
            </a:r>
          </a:p>
          <a:p>
            <a:pPr lvl="1"/>
            <a:r>
              <a:rPr lang="en-US" dirty="0"/>
              <a:t>Many users may launch the same program</a:t>
            </a:r>
          </a:p>
          <a:p>
            <a:pPr lvl="1" latinLnBrk="0"/>
            <a:r>
              <a:rPr lang="en-US" dirty="0"/>
              <a:t>One user may launch many instances of the same program</a:t>
            </a:r>
          </a:p>
          <a:p>
            <a:r>
              <a:rPr lang="en-US" dirty="0"/>
              <a:t>Then what is a process?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F54451B-BBB5-EE3C-4DB6-BC660122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975" y="598255"/>
            <a:ext cx="2546025" cy="5888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Process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399"/>
            <a:ext cx="8492009" cy="4737209"/>
          </a:xfrm>
        </p:spPr>
        <p:txBody>
          <a:bodyPr>
            <a:noAutofit/>
          </a:bodyPr>
          <a:lstStyle/>
          <a:p>
            <a:r>
              <a:rPr lang="en-US" dirty="0"/>
              <a:t>The process is the OS</a:t>
            </a:r>
            <a:r>
              <a:rPr lang="en-US" altLang="zh-CN" dirty="0"/>
              <a:t>’s</a:t>
            </a:r>
            <a:r>
              <a:rPr lang="en-US" dirty="0"/>
              <a:t> </a:t>
            </a:r>
            <a:r>
              <a:rPr lang="en-US" dirty="0">
                <a:solidFill>
                  <a:srgbClr val="FF3300"/>
                </a:solidFill>
              </a:rPr>
              <a:t>abstraction for execution</a:t>
            </a:r>
          </a:p>
          <a:p>
            <a:pPr lvl="1" latinLnBrk="0"/>
            <a:r>
              <a:rPr lang="en-US" dirty="0"/>
              <a:t>It is the unit of execution</a:t>
            </a:r>
          </a:p>
          <a:p>
            <a:pPr lvl="1"/>
            <a:r>
              <a:rPr lang="en-US" dirty="0"/>
              <a:t>It is the unit of scheduling</a:t>
            </a:r>
          </a:p>
          <a:p>
            <a:pPr lvl="1" latinLnBrk="0"/>
            <a:r>
              <a:rPr lang="en-US" dirty="0"/>
              <a:t>It is the </a:t>
            </a:r>
            <a:r>
              <a:rPr lang="en-US" dirty="0">
                <a:solidFill>
                  <a:srgbClr val="FF0000"/>
                </a:solidFill>
              </a:rPr>
              <a:t>dynamic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execution context </a:t>
            </a:r>
            <a:r>
              <a:rPr lang="en-US" dirty="0"/>
              <a:t>of a program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concrete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instantiation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endParaRPr lang="en-US" dirty="0"/>
          </a:p>
          <a:p>
            <a:r>
              <a:rPr lang="en-US" dirty="0"/>
              <a:t>A process is sometimes called a </a:t>
            </a:r>
            <a:r>
              <a:rPr lang="en-US" dirty="0">
                <a:solidFill>
                  <a:srgbClr val="0000FF"/>
                </a:solidFill>
              </a:rPr>
              <a:t>job</a:t>
            </a:r>
            <a:r>
              <a:rPr lang="en-US" dirty="0"/>
              <a:t> or a </a:t>
            </a:r>
            <a:r>
              <a:rPr lang="en-US" dirty="0">
                <a:solidFill>
                  <a:srgbClr val="0000FF"/>
                </a:solidFill>
              </a:rPr>
              <a:t>task</a:t>
            </a:r>
          </a:p>
          <a:p>
            <a:r>
              <a:rPr lang="en-US" dirty="0"/>
              <a:t>It is separated from other instances</a:t>
            </a:r>
          </a:p>
          <a:p>
            <a:r>
              <a:rPr lang="en-US" dirty="0"/>
              <a:t>It can start (“launch”) other processes</a:t>
            </a:r>
          </a:p>
          <a:p>
            <a:r>
              <a:rPr lang="en-US" dirty="0"/>
              <a:t>It can be launched by them</a:t>
            </a:r>
          </a:p>
          <a:p>
            <a:endParaRPr lang="en-US" dirty="0"/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E01EB9-068E-1448-B32B-65DEBAA6F282}" type="slidenum">
              <a:rPr lang="en-US"/>
              <a:pPr/>
              <a:t>4</a:t>
            </a:fld>
            <a:endParaRPr 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2" y="675860"/>
            <a:ext cx="7954327" cy="90814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MacOS example: Activity monitor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F65A55A9-4344-6BBF-3652-8503C215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70" y="1725640"/>
            <a:ext cx="8710059" cy="4189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example: 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09" y="1202760"/>
            <a:ext cx="6711174" cy="4626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State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400"/>
            <a:ext cx="8531765" cy="5403130"/>
          </a:xfrm>
        </p:spPr>
        <p:txBody>
          <a:bodyPr>
            <a:noAutofit/>
          </a:bodyPr>
          <a:lstStyle/>
          <a:p>
            <a:r>
              <a:rPr lang="en-US" dirty="0"/>
              <a:t>A process</a:t>
            </a:r>
            <a:r>
              <a:rPr lang="en-US" altLang="zh-CN" dirty="0"/>
              <a:t>’s</a:t>
            </a:r>
            <a:r>
              <a:rPr lang="en-US" dirty="0"/>
              <a:t> </a:t>
            </a:r>
            <a:r>
              <a:rPr lang="en-US" dirty="0">
                <a:solidFill>
                  <a:srgbClr val="FF3300"/>
                </a:solidFill>
              </a:rPr>
              <a:t>execution state</a:t>
            </a:r>
            <a:r>
              <a:rPr lang="en-US" dirty="0"/>
              <a:t> indicates what it is doing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Running</a:t>
            </a:r>
            <a:r>
              <a:rPr lang="en-US" dirty="0"/>
              <a:t>: Executing instructions on the CPU</a:t>
            </a:r>
          </a:p>
          <a:p>
            <a:pPr lvl="2"/>
            <a:r>
              <a:rPr lang="en-US" sz="1800" dirty="0"/>
              <a:t>It is the process that has control of the CPU</a:t>
            </a:r>
          </a:p>
          <a:p>
            <a:pPr lvl="2"/>
            <a:r>
              <a:rPr lang="en-US" sz="1800" dirty="0">
                <a:solidFill>
                  <a:srgbClr val="D60093"/>
                </a:solidFill>
              </a:rPr>
              <a:t>How many processes can be in the running state simultaneously?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Ready</a:t>
            </a:r>
            <a:r>
              <a:rPr lang="en-US" dirty="0"/>
              <a:t>: Waiting to be assigned to the CPU</a:t>
            </a:r>
          </a:p>
          <a:p>
            <a:pPr lvl="2"/>
            <a:r>
              <a:rPr lang="en-US" sz="1800" dirty="0"/>
              <a:t>Ready to execute, but another process is executing on the CPU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Waiting</a:t>
            </a:r>
            <a:r>
              <a:rPr lang="en-US" dirty="0"/>
              <a:t>: Waiting for an event, e.g., I/O completion</a:t>
            </a:r>
          </a:p>
          <a:p>
            <a:pPr lvl="2"/>
            <a:r>
              <a:rPr lang="en-US" sz="1800" dirty="0"/>
              <a:t>It cannot make progress until event is signaled (disk completes)</a:t>
            </a:r>
          </a:p>
          <a:p>
            <a:r>
              <a:rPr lang="en-US" dirty="0"/>
              <a:t>As a process executes, it moves from state to state</a:t>
            </a:r>
          </a:p>
          <a:p>
            <a:pPr lvl="1"/>
            <a:r>
              <a:rPr lang="en-US" dirty="0"/>
              <a:t>Unix “ps”: </a:t>
            </a:r>
            <a:r>
              <a:rPr lang="en-US" dirty="0">
                <a:solidFill>
                  <a:srgbClr val="FF9900"/>
                </a:solidFill>
              </a:rPr>
              <a:t>STAT</a:t>
            </a:r>
            <a:r>
              <a:rPr lang="en-US" dirty="0"/>
              <a:t> column indicates execution state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957ECF2-32DF-154C-83B1-20936C1773FD}" type="slidenum">
              <a:rPr lang="en-US"/>
              <a:pPr/>
              <a:t>7</a:t>
            </a:fld>
            <a:endParaRPr lang="en-US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8342922" cy="4225642"/>
          </a:xfrm>
        </p:spPr>
        <p:txBody>
          <a:bodyPr/>
          <a:lstStyle/>
          <a:p>
            <a:r>
              <a:rPr lang="en-US" dirty="0">
                <a:solidFill>
                  <a:srgbClr val="D60093"/>
                </a:solidFill>
              </a:rPr>
              <a:t>What state do you think a process is in most of the time?</a:t>
            </a:r>
          </a:p>
          <a:p>
            <a:r>
              <a:rPr lang="en-US" dirty="0">
                <a:solidFill>
                  <a:srgbClr val="D60093"/>
                </a:solidFill>
              </a:rPr>
              <a:t>For a uni-processor machine, how many processes can be in running state?</a:t>
            </a:r>
          </a:p>
          <a:p>
            <a:r>
              <a:rPr lang="en-US" dirty="0">
                <a:solidFill>
                  <a:srgbClr val="D60093"/>
                </a:solidFill>
              </a:rPr>
              <a:t>Benefit of multi-core?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State Graph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FAEA65-87B3-6444-BAC1-FFC3E05A75F2}" type="slidenum">
              <a:rPr lang="en-US"/>
              <a:pPr/>
              <a:t>9</a:t>
            </a:fld>
            <a:endParaRPr lang="en-US"/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9222" name="Oval 4"/>
          <p:cNvSpPr>
            <a:spLocks noChangeArrowheads="1"/>
          </p:cNvSpPr>
          <p:nvPr/>
        </p:nvSpPr>
        <p:spPr bwMode="auto">
          <a:xfrm>
            <a:off x="1890713" y="1735747"/>
            <a:ext cx="1371600" cy="914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2249340" y="2040547"/>
            <a:ext cx="654345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New</a:t>
            </a:r>
          </a:p>
        </p:txBody>
      </p:sp>
      <p:sp>
        <p:nvSpPr>
          <p:cNvPr id="9224" name="Oval 9"/>
          <p:cNvSpPr>
            <a:spLocks noChangeArrowheads="1"/>
          </p:cNvSpPr>
          <p:nvPr/>
        </p:nvSpPr>
        <p:spPr bwMode="auto">
          <a:xfrm>
            <a:off x="3948113" y="1735747"/>
            <a:ext cx="1371600" cy="914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5" name="Text Box 10"/>
          <p:cNvSpPr txBox="1">
            <a:spLocks noChangeArrowheads="1"/>
          </p:cNvSpPr>
          <p:nvPr/>
        </p:nvSpPr>
        <p:spPr bwMode="auto">
          <a:xfrm>
            <a:off x="4226077" y="2040547"/>
            <a:ext cx="815672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Ready</a:t>
            </a:r>
          </a:p>
        </p:txBody>
      </p:sp>
      <p:sp>
        <p:nvSpPr>
          <p:cNvPr id="9226" name="Oval 11"/>
          <p:cNvSpPr>
            <a:spLocks noChangeArrowheads="1"/>
          </p:cNvSpPr>
          <p:nvPr/>
        </p:nvSpPr>
        <p:spPr bwMode="auto">
          <a:xfrm>
            <a:off x="3948113" y="3945547"/>
            <a:ext cx="1371600" cy="914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7" name="Text Box 12"/>
          <p:cNvSpPr txBox="1">
            <a:spLocks noChangeArrowheads="1"/>
          </p:cNvSpPr>
          <p:nvPr/>
        </p:nvSpPr>
        <p:spPr bwMode="auto">
          <a:xfrm>
            <a:off x="4100513" y="4250347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Running</a:t>
            </a:r>
          </a:p>
        </p:txBody>
      </p:sp>
      <p:sp>
        <p:nvSpPr>
          <p:cNvPr id="9228" name="Oval 13"/>
          <p:cNvSpPr>
            <a:spLocks noChangeArrowheads="1"/>
          </p:cNvSpPr>
          <p:nvPr/>
        </p:nvSpPr>
        <p:spPr bwMode="auto">
          <a:xfrm>
            <a:off x="6157913" y="2802547"/>
            <a:ext cx="1371600" cy="914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9" name="Text Box 14"/>
          <p:cNvSpPr txBox="1">
            <a:spLocks noChangeArrowheads="1"/>
          </p:cNvSpPr>
          <p:nvPr/>
        </p:nvSpPr>
        <p:spPr bwMode="auto">
          <a:xfrm>
            <a:off x="6353643" y="3107347"/>
            <a:ext cx="98014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Waiting</a:t>
            </a:r>
          </a:p>
        </p:txBody>
      </p:sp>
      <p:sp>
        <p:nvSpPr>
          <p:cNvPr id="9230" name="Oval 15"/>
          <p:cNvSpPr>
            <a:spLocks noChangeArrowheads="1"/>
          </p:cNvSpPr>
          <p:nvPr/>
        </p:nvSpPr>
        <p:spPr bwMode="auto">
          <a:xfrm>
            <a:off x="1890713" y="3945547"/>
            <a:ext cx="1371600" cy="914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1890713" y="4250347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Terminated</a:t>
            </a:r>
          </a:p>
        </p:txBody>
      </p:sp>
      <p:sp>
        <p:nvSpPr>
          <p:cNvPr id="9232" name="Line 18"/>
          <p:cNvSpPr>
            <a:spLocks noChangeShapeType="1"/>
          </p:cNvSpPr>
          <p:nvPr/>
        </p:nvSpPr>
        <p:spPr bwMode="auto">
          <a:xfrm>
            <a:off x="3262313" y="2192947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3" name="Line 20"/>
          <p:cNvSpPr>
            <a:spLocks noChangeShapeType="1"/>
          </p:cNvSpPr>
          <p:nvPr/>
        </p:nvSpPr>
        <p:spPr bwMode="auto">
          <a:xfrm flipH="1">
            <a:off x="3262313" y="4402747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4" name="AutoShape 22"/>
          <p:cNvSpPr>
            <a:spLocks/>
          </p:cNvSpPr>
          <p:nvPr/>
        </p:nvSpPr>
        <p:spPr bwMode="auto">
          <a:xfrm>
            <a:off x="4710113" y="2650147"/>
            <a:ext cx="152400" cy="1295400"/>
          </a:xfrm>
          <a:prstGeom prst="rightBracket">
            <a:avLst>
              <a:gd name="adj" fmla="val 70833"/>
            </a:avLst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5" name="AutoShape 23"/>
          <p:cNvSpPr>
            <a:spLocks/>
          </p:cNvSpPr>
          <p:nvPr/>
        </p:nvSpPr>
        <p:spPr bwMode="auto">
          <a:xfrm>
            <a:off x="4481513" y="2650147"/>
            <a:ext cx="76200" cy="1295400"/>
          </a:xfrm>
          <a:prstGeom prst="leftBracket">
            <a:avLst>
              <a:gd name="adj" fmla="val 141667"/>
            </a:avLst>
          </a:prstGeom>
          <a:noFill/>
          <a:ln w="9525">
            <a:solidFill>
              <a:schemeClr val="accent2"/>
            </a:solidFill>
            <a:round/>
            <a:headEnd type="none" w="lg" len="lg"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6" name="Line 24"/>
          <p:cNvSpPr>
            <a:spLocks noChangeShapeType="1"/>
          </p:cNvSpPr>
          <p:nvPr/>
        </p:nvSpPr>
        <p:spPr bwMode="auto">
          <a:xfrm flipV="1">
            <a:off x="5319713" y="3564547"/>
            <a:ext cx="9906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7" name="Line 27"/>
          <p:cNvSpPr>
            <a:spLocks noChangeShapeType="1"/>
          </p:cNvSpPr>
          <p:nvPr/>
        </p:nvSpPr>
        <p:spPr bwMode="auto">
          <a:xfrm flipH="1" flipV="1">
            <a:off x="5319713" y="2269147"/>
            <a:ext cx="10668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8" name="Text Box 28"/>
          <p:cNvSpPr txBox="1">
            <a:spLocks noChangeArrowheads="1"/>
          </p:cNvSpPr>
          <p:nvPr/>
        </p:nvSpPr>
        <p:spPr bwMode="auto">
          <a:xfrm>
            <a:off x="2785771" y="1354747"/>
            <a:ext cx="1715085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Create Process</a:t>
            </a:r>
          </a:p>
        </p:txBody>
      </p:sp>
      <p:sp>
        <p:nvSpPr>
          <p:cNvPr id="9239" name="Text Box 29"/>
          <p:cNvSpPr txBox="1">
            <a:spLocks noChangeArrowheads="1"/>
          </p:cNvSpPr>
          <p:nvPr/>
        </p:nvSpPr>
        <p:spPr bwMode="auto">
          <a:xfrm>
            <a:off x="2939466" y="4707547"/>
            <a:ext cx="1407694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Process Exit</a:t>
            </a:r>
          </a:p>
        </p:txBody>
      </p:sp>
      <p:sp>
        <p:nvSpPr>
          <p:cNvPr id="9240" name="Text Box 30"/>
          <p:cNvSpPr txBox="1">
            <a:spLocks noChangeArrowheads="1"/>
          </p:cNvSpPr>
          <p:nvPr/>
        </p:nvSpPr>
        <p:spPr bwMode="auto">
          <a:xfrm>
            <a:off x="5583285" y="3990922"/>
            <a:ext cx="2216056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I/O, Page Fault, etc.</a:t>
            </a:r>
          </a:p>
        </p:txBody>
      </p:sp>
      <p:sp>
        <p:nvSpPr>
          <p:cNvPr id="9241" name="Text Box 31"/>
          <p:cNvSpPr txBox="1">
            <a:spLocks noChangeArrowheads="1"/>
          </p:cNvSpPr>
          <p:nvPr/>
        </p:nvSpPr>
        <p:spPr bwMode="auto">
          <a:xfrm>
            <a:off x="5731468" y="2192947"/>
            <a:ext cx="1157689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I/O Done</a:t>
            </a:r>
          </a:p>
        </p:txBody>
      </p:sp>
      <p:sp>
        <p:nvSpPr>
          <p:cNvPr id="9242" name="Text Box 32"/>
          <p:cNvSpPr txBox="1">
            <a:spLocks noChangeArrowheads="1"/>
          </p:cNvSpPr>
          <p:nvPr/>
        </p:nvSpPr>
        <p:spPr bwMode="auto">
          <a:xfrm>
            <a:off x="4862512" y="2954947"/>
            <a:ext cx="1157689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Schedule Process</a:t>
            </a:r>
          </a:p>
        </p:txBody>
      </p:sp>
      <p:sp>
        <p:nvSpPr>
          <p:cNvPr id="9243" name="Text Box 33"/>
          <p:cNvSpPr txBox="1">
            <a:spLocks noChangeArrowheads="1"/>
          </p:cNvSpPr>
          <p:nvPr/>
        </p:nvSpPr>
        <p:spPr bwMode="auto">
          <a:xfrm>
            <a:off x="2903685" y="2954947"/>
            <a:ext cx="1501628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no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Un</a:t>
            </a:r>
            <a:r>
              <a:rPr lang="en-US" altLang="zh-CN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</a:t>
            </a:r>
            <a:r>
              <a:rPr lang="en-US" dirty="0">
                <a:solidFill>
                  <a:srgbClr val="008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schedule 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 Components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379658" cy="4787583"/>
          </a:xfrm>
        </p:spPr>
        <p:txBody>
          <a:bodyPr>
            <a:normAutofit/>
          </a:bodyPr>
          <a:lstStyle/>
          <a:p>
            <a:r>
              <a:rPr lang="en-US" dirty="0"/>
              <a:t>Process State </a:t>
            </a:r>
          </a:p>
          <a:p>
            <a:pPr lvl="1"/>
            <a:r>
              <a:rPr lang="en-US" dirty="0"/>
              <a:t>new, ready, running, waiting, terminated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endParaRPr lang="en-US" dirty="0"/>
          </a:p>
          <a:p>
            <a:r>
              <a:rPr lang="en-US" dirty="0"/>
              <a:t>Program Counter </a:t>
            </a:r>
          </a:p>
          <a:p>
            <a:pPr lvl="1"/>
            <a:r>
              <a:rPr lang="en-US" dirty="0"/>
              <a:t>address of the next instruction to be executed for this process; </a:t>
            </a:r>
          </a:p>
          <a:p>
            <a:r>
              <a:rPr lang="en-US" dirty="0"/>
              <a:t>CPU Registers </a:t>
            </a:r>
          </a:p>
          <a:p>
            <a:pPr lvl="1"/>
            <a:r>
              <a:rPr lang="en-US" dirty="0"/>
              <a:t>index registers, stack pointers, general purpose registers; </a:t>
            </a:r>
          </a:p>
          <a:p>
            <a:r>
              <a:rPr lang="en-US" dirty="0"/>
              <a:t>CPU Scheduling Information </a:t>
            </a:r>
          </a:p>
          <a:p>
            <a:pPr lvl="1"/>
            <a:r>
              <a:rPr lang="en-US" dirty="0"/>
              <a:t>process priority; </a:t>
            </a:r>
          </a:p>
          <a:p>
            <a:endParaRPr lang="en-US" dirty="0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0FAE55-8480-C146-8326-73EC8D97E01B}" type="slidenum">
              <a:rPr lang="en-US"/>
              <a:pPr/>
              <a:t>10</a:t>
            </a:fld>
            <a:endParaRPr lang="en-US"/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Process Components (cont.)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379658" cy="4787583"/>
          </a:xfrm>
        </p:spPr>
        <p:txBody>
          <a:bodyPr>
            <a:normAutofit/>
          </a:bodyPr>
          <a:lstStyle/>
          <a:p>
            <a:r>
              <a:rPr lang="en-US" dirty="0"/>
              <a:t>Memory Management Information </a:t>
            </a:r>
          </a:p>
          <a:p>
            <a:pPr lvl="1"/>
            <a:r>
              <a:rPr lang="en-US" dirty="0"/>
              <a:t>base/limit information, virtual-&gt;physical mapping, etc </a:t>
            </a:r>
          </a:p>
          <a:p>
            <a:r>
              <a:rPr lang="en-US" dirty="0"/>
              <a:t>Accounting Information </a:t>
            </a:r>
          </a:p>
          <a:p>
            <a:pPr lvl="1"/>
            <a:r>
              <a:rPr lang="en-US" dirty="0"/>
              <a:t>time limits, process number; owner </a:t>
            </a:r>
          </a:p>
          <a:p>
            <a:r>
              <a:rPr lang="en-US" dirty="0"/>
              <a:t>I/O Status Information </a:t>
            </a:r>
          </a:p>
          <a:p>
            <a:pPr lvl="1"/>
            <a:r>
              <a:rPr lang="en-US" dirty="0"/>
              <a:t> list of I/O devices allocated to the process;</a:t>
            </a:r>
          </a:p>
          <a:p>
            <a:r>
              <a:rPr lang="en-US" dirty="0"/>
              <a:t>An Address Space</a:t>
            </a:r>
          </a:p>
          <a:p>
            <a:pPr lvl="1"/>
            <a:r>
              <a:rPr lang="en-US" dirty="0"/>
              <a:t>memory space visible to one process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0FAE55-8480-C146-8326-73EC8D97E01B}" type="slidenum">
              <a:rPr lang="en-US"/>
              <a:pPr/>
              <a:t>11</a:t>
            </a:fld>
            <a:endParaRPr lang="en-US"/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how about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949" y="3328136"/>
            <a:ext cx="7651999" cy="1893578"/>
          </a:xfrm>
        </p:spPr>
        <p:txBody>
          <a:bodyPr/>
          <a:lstStyle/>
          <a:p>
            <a:r>
              <a:rPr lang="en-US" dirty="0"/>
              <a:t>Now </a:t>
            </a:r>
            <a:r>
              <a:rPr lang="en-US" i="1" dirty="0"/>
              <a:t>simultaneously </a:t>
            </a:r>
            <a:r>
              <a:rPr lang="en-US" dirty="0"/>
              <a:t>start two instances of this program</a:t>
            </a:r>
          </a:p>
          <a:p>
            <a:pPr lvl="1"/>
            <a:r>
              <a:rPr lang="en-US" dirty="0"/>
              <a:t>Myval 5</a:t>
            </a:r>
          </a:p>
          <a:p>
            <a:pPr lvl="1"/>
            <a:r>
              <a:rPr lang="en-US" dirty="0"/>
              <a:t>Myval 6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What will the outputs be?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349" y="1022941"/>
            <a:ext cx="826120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800000"/>
                </a:solidFill>
                <a:latin typeface="Courier New"/>
                <a:cs typeface="Courier New"/>
              </a:rPr>
              <a:t>int </a:t>
            </a:r>
            <a:r>
              <a:rPr lang="en-US" sz="1700" dirty="0">
                <a:latin typeface="Courier New"/>
                <a:cs typeface="Courier New"/>
              </a:rPr>
              <a:t>myval;</a:t>
            </a:r>
          </a:p>
          <a:p>
            <a:r>
              <a:rPr lang="en-US" sz="1700" dirty="0">
                <a:solidFill>
                  <a:srgbClr val="800000"/>
                </a:solidFill>
                <a:latin typeface="Courier New"/>
                <a:cs typeface="Courier New"/>
              </a:rPr>
              <a:t>int </a:t>
            </a:r>
            <a:r>
              <a:rPr lang="en-US" sz="1700" dirty="0">
                <a:solidFill>
                  <a:srgbClr val="0000FF"/>
                </a:solidFill>
                <a:latin typeface="Courier New"/>
                <a:cs typeface="Courier New"/>
              </a:rPr>
              <a:t>main</a:t>
            </a:r>
            <a:r>
              <a:rPr lang="en-US" sz="1700" dirty="0">
                <a:latin typeface="Courier New"/>
                <a:cs typeface="Courier New"/>
              </a:rPr>
              <a:t>(int argc, char *argv[])</a:t>
            </a:r>
          </a:p>
          <a:p>
            <a:r>
              <a:rPr lang="en-US" sz="1700" dirty="0">
                <a:latin typeface="Courier New"/>
                <a:cs typeface="Courier New"/>
              </a:rPr>
              <a:t>{</a:t>
            </a:r>
          </a:p>
          <a:p>
            <a:r>
              <a:rPr lang="en-US" sz="1700" dirty="0">
                <a:latin typeface="Courier New"/>
                <a:cs typeface="Courier New"/>
              </a:rPr>
              <a:t>  myval = </a:t>
            </a:r>
            <a:r>
              <a:rPr lang="en-US" sz="1700" dirty="0">
                <a:solidFill>
                  <a:srgbClr val="0000FF"/>
                </a:solidFill>
                <a:latin typeface="Courier New"/>
                <a:cs typeface="Courier New"/>
              </a:rPr>
              <a:t>atoi</a:t>
            </a:r>
            <a:r>
              <a:rPr lang="en-US" sz="1700" dirty="0">
                <a:latin typeface="Courier New"/>
                <a:cs typeface="Courier New"/>
              </a:rPr>
              <a:t>(argv[1]);</a:t>
            </a:r>
          </a:p>
          <a:p>
            <a:r>
              <a:rPr lang="en-US" sz="1700" dirty="0">
                <a:latin typeface="Courier New"/>
                <a:cs typeface="Courier New"/>
              </a:rPr>
              <a:t>  </a:t>
            </a:r>
            <a:r>
              <a:rPr lang="en-US" sz="1700" dirty="0">
                <a:solidFill>
                  <a:srgbClr val="800000"/>
                </a:solidFill>
                <a:latin typeface="Courier New"/>
                <a:cs typeface="Courier New"/>
              </a:rPr>
              <a:t>while </a:t>
            </a:r>
            <a:r>
              <a:rPr lang="en-US" sz="1700" dirty="0">
                <a:latin typeface="Courier New"/>
                <a:cs typeface="Courier New"/>
              </a:rPr>
              <a:t>(1)</a:t>
            </a:r>
          </a:p>
          <a:p>
            <a:r>
              <a:rPr lang="en-US" sz="1700" dirty="0">
                <a:latin typeface="Courier New"/>
                <a:cs typeface="Courier New"/>
              </a:rPr>
              <a:t>   </a:t>
            </a:r>
            <a:r>
              <a:rPr lang="en-US" sz="1700" dirty="0">
                <a:solidFill>
                  <a:srgbClr val="0000FF"/>
                </a:solidFill>
                <a:latin typeface="Courier New"/>
                <a:cs typeface="Courier New"/>
              </a:rPr>
              <a:t>printf</a:t>
            </a:r>
            <a:r>
              <a:rPr lang="en-US" sz="1700" dirty="0">
                <a:latin typeface="Courier New"/>
                <a:cs typeface="Courier New"/>
              </a:rPr>
              <a:t>(“myval is %d, loc 0x%lx\n”, myval, (long) &amp;myval);</a:t>
            </a:r>
          </a:p>
          <a:p>
            <a:r>
              <a:rPr lang="en-US" sz="1700" dirty="0">
                <a:latin typeface="Courier New"/>
                <a:cs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14" y="392652"/>
            <a:ext cx="3820266" cy="59636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722" y="392652"/>
            <a:ext cx="3868420" cy="5750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5D8EFF-AF96-7887-B678-BB8859419597}"/>
              </a:ext>
            </a:extLst>
          </p:cNvPr>
          <p:cNvSpPr txBox="1"/>
          <p:nvPr/>
        </p:nvSpPr>
        <p:spPr>
          <a:xfrm>
            <a:off x="2739993" y="2270300"/>
            <a:ext cx="2157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Output</a:t>
            </a:r>
            <a:r>
              <a:rPr lang="zh-CN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differs</a:t>
            </a:r>
            <a:r>
              <a:rPr lang="zh-CN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on</a:t>
            </a:r>
            <a:r>
              <a:rPr lang="zh-CN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your</a:t>
            </a:r>
            <a:r>
              <a:rPr lang="zh-CN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machine!</a:t>
            </a:r>
            <a:endParaRPr lang="en-US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in 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8035681" cy="4772342"/>
          </a:xfrm>
        </p:spPr>
        <p:txBody>
          <a:bodyPr>
            <a:normAutofit/>
          </a:bodyPr>
          <a:lstStyle/>
          <a:p>
            <a:r>
              <a:rPr lang="en-US" dirty="0"/>
              <a:t>The address </a:t>
            </a:r>
            <a:r>
              <a:rPr lang="en-US" altLang="zh-CN" dirty="0"/>
              <a:t>is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always the same</a:t>
            </a:r>
          </a:p>
          <a:p>
            <a:pPr lvl="1"/>
            <a:r>
              <a:rPr lang="en-US" dirty="0"/>
              <a:t>But the values were different</a:t>
            </a:r>
          </a:p>
          <a:p>
            <a:r>
              <a:rPr lang="en-US" dirty="0"/>
              <a:t>Implications?</a:t>
            </a:r>
          </a:p>
          <a:p>
            <a:pPr lvl="1"/>
            <a:r>
              <a:rPr lang="en-US" dirty="0"/>
              <a:t>The programs aren’t seeing each other</a:t>
            </a:r>
          </a:p>
          <a:p>
            <a:pPr lvl="1"/>
            <a:r>
              <a:rPr lang="en-US" dirty="0"/>
              <a:t>But they think they’re using the same address</a:t>
            </a:r>
          </a:p>
          <a:p>
            <a:r>
              <a:rPr lang="en-US" dirty="0"/>
              <a:t>Conclusion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addresses here are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altLang="zh-CN" dirty="0" err="1"/>
              <a:t>w.r.t.</a:t>
            </a:r>
            <a:r>
              <a:rPr lang="zh-CN" altLang="en-US" dirty="0"/>
              <a:t> </a:t>
            </a:r>
            <a:r>
              <a:rPr lang="en-US" dirty="0"/>
              <a:t>the physical memory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Memory mapping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Process’s Address Space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43ABEA-B00B-004A-A7C1-55D832584C1F}" type="slidenum">
              <a:rPr lang="en-US"/>
              <a:pPr/>
              <a:t>15</a:t>
            </a:fld>
            <a:endParaRPr lang="en-US"/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2507488" y="1298765"/>
            <a:ext cx="3200400" cy="4267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75" name="Rectangle 5"/>
          <p:cNvSpPr>
            <a:spLocks noChangeArrowheads="1"/>
          </p:cNvSpPr>
          <p:nvPr/>
        </p:nvSpPr>
        <p:spPr bwMode="auto">
          <a:xfrm>
            <a:off x="2507488" y="1298765"/>
            <a:ext cx="3200400" cy="762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2507488" y="1527365"/>
            <a:ext cx="3200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Stack</a:t>
            </a:r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>
            <a:off x="678688" y="5413565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0x00000000</a:t>
            </a:r>
          </a:p>
        </p:txBody>
      </p:sp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754888" y="1146365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0xFFFFFFFF</a:t>
            </a:r>
          </a:p>
        </p:txBody>
      </p:sp>
      <p:sp>
        <p:nvSpPr>
          <p:cNvPr id="7179" name="Rectangle 10"/>
          <p:cNvSpPr>
            <a:spLocks noChangeArrowheads="1"/>
          </p:cNvSpPr>
          <p:nvPr/>
        </p:nvSpPr>
        <p:spPr bwMode="auto">
          <a:xfrm>
            <a:off x="2507488" y="4651565"/>
            <a:ext cx="3200400" cy="9144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0" name="Text Box 11"/>
          <p:cNvSpPr txBox="1">
            <a:spLocks noChangeArrowheads="1"/>
          </p:cNvSpPr>
          <p:nvPr/>
        </p:nvSpPr>
        <p:spPr bwMode="auto">
          <a:xfrm>
            <a:off x="2507488" y="4803965"/>
            <a:ext cx="3200400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Code</a:t>
            </a:r>
          </a:p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(Text Segment)</a:t>
            </a:r>
          </a:p>
        </p:txBody>
      </p:sp>
      <p:sp>
        <p:nvSpPr>
          <p:cNvPr id="7181" name="Rectangle 12"/>
          <p:cNvSpPr>
            <a:spLocks noChangeArrowheads="1"/>
          </p:cNvSpPr>
          <p:nvPr/>
        </p:nvSpPr>
        <p:spPr bwMode="auto">
          <a:xfrm>
            <a:off x="2507488" y="3813365"/>
            <a:ext cx="3200400" cy="838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2" name="Text Box 13"/>
          <p:cNvSpPr txBox="1">
            <a:spLocks noChangeArrowheads="1"/>
          </p:cNvSpPr>
          <p:nvPr/>
        </p:nvSpPr>
        <p:spPr bwMode="auto">
          <a:xfrm>
            <a:off x="2507488" y="3965765"/>
            <a:ext cx="3200400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Static Data</a:t>
            </a:r>
          </a:p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(Data Segment)</a:t>
            </a:r>
          </a:p>
        </p:txBody>
      </p:sp>
      <p:sp>
        <p:nvSpPr>
          <p:cNvPr id="7183" name="Rectangle 14"/>
          <p:cNvSpPr>
            <a:spLocks noChangeArrowheads="1"/>
          </p:cNvSpPr>
          <p:nvPr/>
        </p:nvSpPr>
        <p:spPr bwMode="auto">
          <a:xfrm>
            <a:off x="2507488" y="3051365"/>
            <a:ext cx="32004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4" name="Text Box 15"/>
          <p:cNvSpPr txBox="1">
            <a:spLocks noChangeArrowheads="1"/>
          </p:cNvSpPr>
          <p:nvPr/>
        </p:nvSpPr>
        <p:spPr bwMode="auto">
          <a:xfrm>
            <a:off x="2507488" y="3127565"/>
            <a:ext cx="3200400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Heap</a:t>
            </a:r>
          </a:p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(Dynamic Memory Alloc)</a:t>
            </a:r>
          </a:p>
        </p:txBody>
      </p:sp>
      <p:sp>
        <p:nvSpPr>
          <p:cNvPr id="7185" name="Line 16"/>
          <p:cNvSpPr>
            <a:spLocks noChangeShapeType="1"/>
          </p:cNvSpPr>
          <p:nvPr/>
        </p:nvSpPr>
        <p:spPr bwMode="auto">
          <a:xfrm>
            <a:off x="4107688" y="2060765"/>
            <a:ext cx="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6" name="Line 17"/>
          <p:cNvSpPr>
            <a:spLocks noChangeShapeType="1"/>
          </p:cNvSpPr>
          <p:nvPr/>
        </p:nvSpPr>
        <p:spPr bwMode="auto">
          <a:xfrm flipV="1">
            <a:off x="4107688" y="2670365"/>
            <a:ext cx="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7" name="Text Box 18"/>
          <p:cNvSpPr txBox="1">
            <a:spLocks noChangeArrowheads="1"/>
          </p:cNvSpPr>
          <p:nvPr/>
        </p:nvSpPr>
        <p:spPr bwMode="auto">
          <a:xfrm>
            <a:off x="1135888" y="3203765"/>
            <a:ext cx="1219200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Address</a:t>
            </a:r>
          </a:p>
          <a:p>
            <a:pPr algn="ctr"/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Space</a:t>
            </a:r>
          </a:p>
        </p:txBody>
      </p:sp>
      <p:sp>
        <p:nvSpPr>
          <p:cNvPr id="7188" name="Line 19"/>
          <p:cNvSpPr>
            <a:spLocks noChangeShapeType="1"/>
          </p:cNvSpPr>
          <p:nvPr/>
        </p:nvSpPr>
        <p:spPr bwMode="auto">
          <a:xfrm flipV="1">
            <a:off x="1745488" y="1451165"/>
            <a:ext cx="0" cy="1676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89" name="Line 20"/>
          <p:cNvSpPr>
            <a:spLocks noChangeShapeType="1"/>
          </p:cNvSpPr>
          <p:nvPr/>
        </p:nvSpPr>
        <p:spPr bwMode="auto">
          <a:xfrm>
            <a:off x="1745488" y="3889565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90" name="Text Box 21"/>
          <p:cNvSpPr txBox="1">
            <a:spLocks noChangeArrowheads="1"/>
          </p:cNvSpPr>
          <p:nvPr/>
        </p:nvSpPr>
        <p:spPr bwMode="auto">
          <a:xfrm>
            <a:off x="6088888" y="1908365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SP</a:t>
            </a:r>
          </a:p>
        </p:txBody>
      </p:sp>
      <p:sp>
        <p:nvSpPr>
          <p:cNvPr id="7191" name="Text Box 22"/>
          <p:cNvSpPr txBox="1">
            <a:spLocks noChangeArrowheads="1"/>
          </p:cNvSpPr>
          <p:nvPr/>
        </p:nvSpPr>
        <p:spPr bwMode="auto">
          <a:xfrm>
            <a:off x="6088888" y="4880165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PC</a:t>
            </a:r>
          </a:p>
        </p:txBody>
      </p:sp>
      <p:sp>
        <p:nvSpPr>
          <p:cNvPr id="7192" name="Line 23"/>
          <p:cNvSpPr>
            <a:spLocks noChangeShapeType="1"/>
          </p:cNvSpPr>
          <p:nvPr/>
        </p:nvSpPr>
        <p:spPr bwMode="auto">
          <a:xfrm flipH="1">
            <a:off x="5707888" y="2060765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193" name="Line 24"/>
          <p:cNvSpPr>
            <a:spLocks noChangeShapeType="1"/>
          </p:cNvSpPr>
          <p:nvPr/>
        </p:nvSpPr>
        <p:spPr bwMode="auto">
          <a:xfrm flipH="1">
            <a:off x="5707888" y="5032565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91363" y="2280435"/>
            <a:ext cx="3090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•Allows stack growth</a:t>
            </a:r>
          </a:p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•Allows heap growth</a:t>
            </a:r>
          </a:p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•No predetermined division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Data Structures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399"/>
            <a:ext cx="8492009" cy="5353435"/>
          </a:xfrm>
        </p:spPr>
        <p:txBody>
          <a:bodyPr wrap="square">
            <a:noAutofit/>
          </a:bodyPr>
          <a:lstStyle/>
          <a:p>
            <a:pPr>
              <a:buFont typeface="Monotype Sorts" pitchFamily="-109" charset="2"/>
              <a:buNone/>
            </a:pPr>
            <a:r>
              <a:rPr lang="en-US" dirty="0"/>
              <a:t>How does the OS represent a process in the kernel?</a:t>
            </a:r>
          </a:p>
          <a:p>
            <a:r>
              <a:rPr lang="en-US" dirty="0"/>
              <a:t>At any time, there are many processes in the system, each in its </a:t>
            </a:r>
            <a:r>
              <a:rPr lang="en-US" altLang="zh-CN" dirty="0"/>
              <a:t>own</a:t>
            </a:r>
            <a:r>
              <a:rPr lang="en-US" dirty="0"/>
              <a:t> state</a:t>
            </a:r>
          </a:p>
          <a:p>
            <a:r>
              <a:rPr lang="en-US" dirty="0"/>
              <a:t>The data structure representing each process is called the </a:t>
            </a:r>
            <a:r>
              <a:rPr lang="en-US" dirty="0">
                <a:solidFill>
                  <a:srgbClr val="FF3300"/>
                </a:solidFill>
              </a:rPr>
              <a:t>Process Control Block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(PCB)</a:t>
            </a:r>
          </a:p>
          <a:p>
            <a:r>
              <a:rPr lang="en-US" dirty="0"/>
              <a:t>The PCB contains all info about a process</a:t>
            </a:r>
          </a:p>
          <a:p>
            <a:r>
              <a:rPr lang="en-US" dirty="0"/>
              <a:t>The PCB also is where the OS keeps a process’ hardware execution state (PC, SP, regs, etc.) when the process is not running</a:t>
            </a:r>
          </a:p>
          <a:p>
            <a:pPr lvl="1" latinLnBrk="0"/>
            <a:r>
              <a:rPr lang="en-US" dirty="0"/>
              <a:t>This state is everything needed to restore the hardware to the same state it was in when the process was switched out of the hardware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3D8D1ED-75BA-EB4A-8490-06ADE9B74BA3}" type="slidenum">
              <a:rPr lang="en-US"/>
              <a:pPr/>
              <a:t>16</a:t>
            </a:fld>
            <a:endParaRPr lang="en-US"/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PCB Data Structure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521826" cy="4130681"/>
          </a:xfrm>
        </p:spPr>
        <p:txBody>
          <a:bodyPr>
            <a:normAutofit/>
          </a:bodyPr>
          <a:lstStyle/>
          <a:p>
            <a:r>
              <a:rPr lang="en-US" dirty="0"/>
              <a:t>PCB contains a huge amount of information in one big structure</a:t>
            </a:r>
          </a:p>
          <a:p>
            <a:pPr lvl="2"/>
            <a:r>
              <a:rPr lang="en-US" sz="1800" dirty="0"/>
              <a:t>Process ID (PID)</a:t>
            </a:r>
          </a:p>
          <a:p>
            <a:pPr lvl="2"/>
            <a:r>
              <a:rPr lang="en-US" sz="1800" dirty="0"/>
              <a:t>Execution state</a:t>
            </a:r>
          </a:p>
          <a:p>
            <a:pPr lvl="2"/>
            <a:r>
              <a:rPr lang="en-US" sz="1800" dirty="0"/>
              <a:t>Hardware state: PC, SP, regs</a:t>
            </a:r>
          </a:p>
          <a:p>
            <a:pPr lvl="2"/>
            <a:r>
              <a:rPr lang="en-US" sz="1800" dirty="0"/>
              <a:t>Memory management</a:t>
            </a:r>
          </a:p>
          <a:p>
            <a:pPr lvl="2"/>
            <a:r>
              <a:rPr lang="en-US" sz="1800" dirty="0"/>
              <a:t>Scheduling</a:t>
            </a:r>
          </a:p>
          <a:p>
            <a:pPr lvl="2"/>
            <a:r>
              <a:rPr lang="en-US" sz="1800" dirty="0"/>
              <a:t>Pointers for state queues</a:t>
            </a:r>
          </a:p>
          <a:p>
            <a:pPr lvl="2"/>
            <a:r>
              <a:rPr lang="en-US" altLang="zh-CN" sz="1800" dirty="0"/>
              <a:t>e</a:t>
            </a:r>
            <a:r>
              <a:rPr lang="en-US" sz="1800" dirty="0"/>
              <a:t>tc.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001E23C-D40A-4E47-A04F-20EB214C82D5}" type="slidenum">
              <a:rPr lang="en-US"/>
              <a:pPr/>
              <a:t>17</a:t>
            </a:fld>
            <a:endParaRPr lang="en-US"/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 proc (Solaris)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2D59A46-E78A-DD4A-B9ED-5E8B530B3927}" type="slidenum">
              <a:rPr lang="en-US"/>
              <a:pPr/>
              <a:t>18</a:t>
            </a:fld>
            <a:endParaRPr lang="en-US"/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12295" name="Rectangle 4"/>
          <p:cNvSpPr>
            <a:spLocks noChangeArrowheads="1"/>
          </p:cNvSpPr>
          <p:nvPr/>
        </p:nvSpPr>
        <p:spPr bwMode="auto">
          <a:xfrm>
            <a:off x="4790909" y="1089192"/>
            <a:ext cx="4023775" cy="4787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*p_pglink;      /* process group hash chain link next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 proc    *p_ppglink;     /* process group hash chain link prev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 sess    *p_sessp;       /* session information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 pid     *p_pidp;        /* process ID info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 pid     *p_pgidp;       /* process group ID info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/*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 * Fields protected by p_lock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kcondvar_t p_cv;                /* proc struct's condition variable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kcondvar_t p_flag_cv;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kcondvar_t p_lwpexit;           /* waiting for some lwp to exit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kcondvar_t p_holdlwps;          /* process is waiting for its lwps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                                /* to to be held. 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ushort_t p_pad1;                /* unused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uint_t  p_flag;                 /* protected while set.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/* flags defined below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clock_t p_utime;                /* user time, this process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clock_t p_stime;                /* system time, this process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clock_t p_cutime;               /* sum of children's user time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clock_t p_cstime;               /* sum of children's system time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caddr_t *p_segacct;             /* segment accounting info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caddr_t p_brkbase;              /* base address of heap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size_t  p_brksize;              /* heap size in bytes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/*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 * Per process signal stuff.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k_sigset_t p_sig;               /* signals pending to this process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k_sigset_t p_ignore;            /* ignore when generated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k_sigset_t p_siginfo;           /* gets signal info with signal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sigqueue *p_sigqueue;    /* queued siginfo structures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sigqhdr *p_sigqhdr;      /* hdr to sigqueue structure pool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struct sigqhdr *p_signhdr;      /* hdr to signotify structure pool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/>
              <a:t>        uchar_t p_stopsig;              /* jobcontrol stop signal */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/>
          </a:p>
        </p:txBody>
      </p:sp>
      <p:sp>
        <p:nvSpPr>
          <p:cNvPr id="9" name="TextBox 8"/>
          <p:cNvSpPr txBox="1"/>
          <p:nvPr/>
        </p:nvSpPr>
        <p:spPr>
          <a:xfrm>
            <a:off x="441475" y="1077322"/>
            <a:ext cx="4794897" cy="3859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* One structure allocated per active process.  It contains all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* data needed about the process while the process may be swapped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* out.  Other per-process data (user.h) is also inside the proc structure.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* Lightweight-process data (lwp.h) and the kernel stack may be swapped out.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typedef struct  proc {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 * Fields requiring no explicit locking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vnode *p_exec;          /* pointer to a.out vnode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as *p_as;               /* process address space pointer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plock *p_lockp;         /* ptr to proc struct's mutex lock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kmutex_t p_crlock;              /* lock for p_cred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cred    *p_cred;        /* process credentials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 * Fields protected by pidlock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int     p_swapcnt;              /* number of swapped out lwps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char    p_stat;                 /* status of process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char    p_wcode;                /* current wait code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ushort_t p_pidflag;             /* flags protected only by pidlock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int     p_wdata;                /* current wait return value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pid_t   p_ppid;                 /* process id of parent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*p_link;        /* forward link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*p_parent;      /* ptr to parent process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*p_child;       /* ptr to first child process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*p_sibling;     /* ptr to next sibling proc on chain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*p_psibling;    /* ptr to prev sibling proc on chain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*p_sibling_ns;  /* prt to siblings with new state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*p_child_ns;    /* prt to children with new state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*p_next;        /* active chain link next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*p_prev;        /* active chain link prev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*p_nextofkin;   /* gets accounting info at exit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*p_orphan;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struct  proc    *p_nextorph;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00" dirty="0"/>
              <a:t>        </a:t>
            </a:r>
          </a:p>
          <a:p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 proc (Solaris) (2)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D0D7BEC-222D-6F45-8FB8-D4A3AC0E9E83}" type="slidenum">
              <a:rPr lang="en-US"/>
              <a:pPr/>
              <a:t>19</a:t>
            </a:fld>
            <a:endParaRPr lang="en-US"/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4419600" y="922123"/>
            <a:ext cx="396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hrtime_t p_mlreal;              /* elapsed time sum over defunct lwps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hrtime_t p_acct[NMSTATES];      /* microstate sum over defunct lwps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lrusage p_ru;            /* lrusage sum over defunct lwps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itimerval p_rprof_timer; /* ITIMER_REALPROF interval timer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uintptr_t p_rprof_cyclic;       /* ITIMER_REALPROF cyclic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uint_t  p_defunct;              /* number of defunct lwps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/*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 profiling. A lock is used in the event of multiple lwp's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 using the same profiling base/size.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kmutex_t p_pflock;              /* protects user profile arguments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prof p_prof;             /* profile arguments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/*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 The user structure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user p_user;             /* (see sys/user.h)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/*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 Doors.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kthread_t               *p_server_threads;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door_node        *p_door_list;   /* active doors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door_node        *p_unref_list;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kcondvar_t              p_server_cv;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char                    p_unref_thread; /* unref thread created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/*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 Kernel probes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uchar_t                 p_tnf_flags;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492" y="922123"/>
            <a:ext cx="3621507" cy="4177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Special per-process flag when set will fix misaligned memory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references.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char    p_fixalignment;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endParaRPr lang="en-US" sz="850" dirty="0"/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Per process lwp and kernel thread stuff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id_t    p_lwpid;                /* most recently allocated lwpid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p_lwpcnt;               /* number of lwps in this process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p_lwprcnt;              /* number of not stopped lwps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p_lwpwait;              /* number of lwps in lwp_wait()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p_zombcnt;              /* number of zombie lwps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p_zomb_max;             /* number of entries in p_zomb_tid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id_t    *p_zomb_tid;            /* array of zombie lwpids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kthread_t *p_tlist;             /* circular list of threads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/proc (process filesystem) debugger interface stuff.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k_sigset_t p_sigmask;           /* mask of traced signals (/proc)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k_fltset_t p_fltmask;           /* mask of traced faults (/proc)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 vnode *p_trace;         /* pointer to primary /proc vnode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 vnode *p_plist;         /* list of /proc vnodes for process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kthread_t *p_agenttp;           /* thread ptr for /proc agent lwp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watched_area *p_warea;   /* list of watched areas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ulong_t p_nwarea;               /* number of watched areas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watched_page *p_wpage;   /* remembered watched pages (vfork)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p_nwpage;               /* number of watched pages (vfork)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    p_mapcnt;               /* number of active pr_mappage()s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 proc  *p_rlink;         /* linked list for server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kcondvar_t p_srwchan_cv;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size_t  p_stksize;              /* process stack size in bytes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Microstate accounting, resource usage, and real-time profiling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hrtime_t p_mstart;              /* hi-res process start time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hrtime_t p_mterm;               /* hi-res process termination time */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 proc (Solaris) (3)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BC6AE47-A690-F746-9D3E-328E734B0038}" type="slidenum">
              <a:rPr lang="en-US"/>
              <a:pPr/>
              <a:t>20</a:t>
            </a:fld>
            <a:endParaRPr lang="en-US"/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4419600" y="1982708"/>
            <a:ext cx="396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#if defined(__ia64)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caddr_t         p_upstack;      /* base of the upward-growing stack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size_t          p_upstksize;    /* size of that stack, in bytes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uchar_t         p_isa;          /* which instruction set is utilized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#endif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void            *p_rce;         /* resource control extension data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task     *p_task;        /* our containing task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proc     *p_taskprev;    /* ptr to previous process in task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proc     *p_tasknext;    /* ptr to next process in task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int             p_lwpdaemon;    /* number of TP_DAEMON lwps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int             p_lwpdwait;     /* number of daemons in lwp_wait()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kthread_t       **p_tidhash;    /* tid (lwpid) lookup hash table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        struct sc_data  *p_schedctl;    /* available schedctl structures */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800" b="0" dirty="0">
                <a:solidFill>
                  <a:srgbClr val="000000"/>
                </a:solidFill>
              </a:rPr>
              <a:t>} proc_t;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endParaRPr lang="en-US" sz="800" b="0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166" y="1822663"/>
            <a:ext cx="3675834" cy="3571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C2 Security  (C2_AUDIT)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caddr_t p_audit_data;           /* per process audit structure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kthread_t       *p_aslwptp;     /* thread ptr representing "aslwp"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#if defined(i386) || defined(__i386) || defined(__ia64)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LDT support.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kmutex_t p_ldtlock;             /* protects the following fields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seg_desc *p_ldt;         /* Pointer to private LDT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seg_desc p_ldt_desc;     /* segment descriptor for private LDT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int p_ldtlimit;                 /* highest selector used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#endif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size_t p_swrss;                 /* resident set size before last swap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aio      *p_aio;         /* pointer to async I/O struct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itimer   **p_itimer;     /* interval timers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k_sigset_t      p_notifsigs;    /* signals in notification set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kcondvar_t      p_notifcv;      /* notif cv to synchronize with aslwp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timeout_id_t    p_alarmid;      /* alarm's timeout id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uint_t          p_sc_unblocked; /* number of unblocked threads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vnode    *p_sc_door;     /* scheduler activations door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caddr_t         p_usrstack;     /* top of the process stack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uint_t          p_stkprot;      /* stack memory protection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model_t         p_model;        /* data model determined at exec time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struct lwpchan_data     *p_lcp; /* lwpchan cache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/*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 protects unmapping and initilization of robust locks.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kmutex_t        p_lcp_mutexinitlock;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utrap_handler_t *p_utraps;      /* pointer to user trap handlers */</a:t>
            </a:r>
          </a:p>
          <a:p>
            <a:pPr>
              <a:lnSpc>
                <a:spcPct val="80000"/>
              </a:lnSpc>
              <a:buFont typeface="Monotype Sorts" pitchFamily="-109" charset="2"/>
              <a:buNone/>
            </a:pPr>
            <a:r>
              <a:rPr lang="en-US" sz="850" dirty="0"/>
              <a:t>        refstr_t        *p_corefile;    /* pattern for core file */</a:t>
            </a:r>
          </a:p>
          <a:p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Context switch</a:t>
            </a:r>
            <a:r>
              <a:rPr lang="en-US" altLang="zh-CN" dirty="0"/>
              <a:t>ing</a:t>
            </a:r>
            <a:endParaRPr lang="en-US" dirty="0"/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501948" cy="5095017"/>
          </a:xfrm>
        </p:spPr>
        <p:txBody>
          <a:bodyPr>
            <a:noAutofit/>
          </a:bodyPr>
          <a:lstStyle/>
          <a:p>
            <a:r>
              <a:rPr lang="en-US" dirty="0"/>
              <a:t>When a process is running, its hardware state is in the CPU</a:t>
            </a:r>
          </a:p>
          <a:p>
            <a:pPr lvl="1"/>
            <a:r>
              <a:rPr lang="en-US" dirty="0"/>
              <a:t>The hardware registers contain the current values</a:t>
            </a:r>
          </a:p>
          <a:p>
            <a:r>
              <a:rPr lang="en-US" dirty="0"/>
              <a:t>When the </a:t>
            </a:r>
            <a:r>
              <a:rPr lang="en-US" dirty="0">
                <a:solidFill>
                  <a:srgbClr val="0000FF"/>
                </a:solidFill>
              </a:rPr>
              <a:t>OS stops running a process</a:t>
            </a:r>
            <a:r>
              <a:rPr lang="en-US" dirty="0"/>
              <a:t>, it saves the current values of the registers into the process’ PCB</a:t>
            </a:r>
          </a:p>
          <a:p>
            <a:r>
              <a:rPr lang="en-US" dirty="0"/>
              <a:t>When the </a:t>
            </a:r>
            <a:r>
              <a:rPr lang="en-US" dirty="0">
                <a:solidFill>
                  <a:srgbClr val="0000FF"/>
                </a:solidFill>
              </a:rPr>
              <a:t>OS is ready to start executing a new process</a:t>
            </a:r>
            <a:r>
              <a:rPr lang="en-US" dirty="0"/>
              <a:t>, it loads the hardware registers from the values stored in that process’</a:t>
            </a:r>
            <a:r>
              <a:rPr lang="en-US" altLang="zh-CN" dirty="0"/>
              <a:t>s</a:t>
            </a:r>
            <a:r>
              <a:rPr lang="en-US" dirty="0"/>
              <a:t> PCB</a:t>
            </a:r>
          </a:p>
          <a:p>
            <a:r>
              <a:rPr lang="en-US" dirty="0"/>
              <a:t>The process of changing the CPU hardware state from one process to another is called a </a:t>
            </a:r>
            <a:r>
              <a:rPr lang="en-US" dirty="0">
                <a:solidFill>
                  <a:srgbClr val="FF3300"/>
                </a:solidFill>
              </a:rPr>
              <a:t>context switch</a:t>
            </a:r>
          </a:p>
          <a:p>
            <a:pPr lvl="1"/>
            <a:r>
              <a:rPr lang="en-US" dirty="0"/>
              <a:t>This can happen 100 or 1000 times a second!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02D5B6E-89AE-BB4B-8450-328745CD35FD}" type="slidenum">
              <a:rPr lang="en-US"/>
              <a:pPr/>
              <a:t>21</a:t>
            </a:fld>
            <a:endParaRPr lang="en-US"/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State Queues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22435" cy="4935991"/>
          </a:xfrm>
        </p:spPr>
        <p:txBody>
          <a:bodyPr>
            <a:normAutofit/>
          </a:bodyPr>
          <a:lstStyle/>
          <a:p>
            <a:pPr>
              <a:buFont typeface="Monotype Sorts" pitchFamily="-109" charset="2"/>
              <a:buNone/>
            </a:pPr>
            <a:r>
              <a:rPr lang="en-US" dirty="0"/>
              <a:t>How does the OS keep track of processes?</a:t>
            </a:r>
          </a:p>
          <a:p>
            <a:r>
              <a:rPr lang="en-US" dirty="0"/>
              <a:t>The OS maintains a collection of queues that represent the state of all processes in the system</a:t>
            </a:r>
          </a:p>
          <a:p>
            <a:r>
              <a:rPr lang="en-US" dirty="0"/>
              <a:t>Typically, the OS has one queue for each state</a:t>
            </a:r>
          </a:p>
          <a:p>
            <a:pPr lvl="1"/>
            <a:r>
              <a:rPr lang="en-US" dirty="0"/>
              <a:t>Ready, waiting, etc.</a:t>
            </a:r>
          </a:p>
          <a:p>
            <a:r>
              <a:rPr lang="en-US" dirty="0"/>
              <a:t>Each PCB is queued on a state queue according to its current state</a:t>
            </a:r>
          </a:p>
          <a:p>
            <a:r>
              <a:rPr lang="en-US" dirty="0"/>
              <a:t>As a process changes state, its PCB is unlinked from one queue and linked into another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0BF8FA4-D7F5-024E-8E97-C5E1C79F466A}" type="slidenum">
              <a:rPr lang="en-US"/>
              <a:pPr/>
              <a:t>22</a:t>
            </a:fld>
            <a:endParaRPr lang="en-US"/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State Queues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6A2F627-EFB2-E248-A454-37FA699BBBC6}" type="slidenum">
              <a:rPr lang="en-US"/>
              <a:pPr/>
              <a:t>23</a:t>
            </a:fld>
            <a:endParaRPr lang="en-US"/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71800" y="1964350"/>
            <a:ext cx="1371600" cy="914400"/>
            <a:chOff x="720" y="1296"/>
            <a:chExt cx="864" cy="576"/>
          </a:xfrm>
        </p:grpSpPr>
        <p:sp>
          <p:nvSpPr>
            <p:cNvPr id="17459" name="Rectangle 4"/>
            <p:cNvSpPr>
              <a:spLocks noChangeArrowheads="1"/>
            </p:cNvSpPr>
            <p:nvPr/>
          </p:nvSpPr>
          <p:spPr bwMode="auto">
            <a:xfrm>
              <a:off x="720" y="1296"/>
              <a:ext cx="864" cy="576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60" name="Rectangle 5"/>
            <p:cNvSpPr>
              <a:spLocks noChangeArrowheads="1"/>
            </p:cNvSpPr>
            <p:nvPr/>
          </p:nvSpPr>
          <p:spPr bwMode="auto">
            <a:xfrm>
              <a:off x="720" y="1296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61" name="Rectangle 6"/>
            <p:cNvSpPr>
              <a:spLocks noChangeArrowheads="1"/>
            </p:cNvSpPr>
            <p:nvPr/>
          </p:nvSpPr>
          <p:spPr bwMode="auto">
            <a:xfrm>
              <a:off x="720" y="1440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62" name="Rectangle 7"/>
            <p:cNvSpPr>
              <a:spLocks noChangeArrowheads="1"/>
            </p:cNvSpPr>
            <p:nvPr/>
          </p:nvSpPr>
          <p:spPr bwMode="auto">
            <a:xfrm>
              <a:off x="720" y="1584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63" name="Rectangle 8"/>
            <p:cNvSpPr>
              <a:spLocks noChangeArrowheads="1"/>
            </p:cNvSpPr>
            <p:nvPr/>
          </p:nvSpPr>
          <p:spPr bwMode="auto">
            <a:xfrm>
              <a:off x="720" y="1728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724400" y="1964350"/>
            <a:ext cx="1371600" cy="914400"/>
            <a:chOff x="720" y="1296"/>
            <a:chExt cx="864" cy="576"/>
          </a:xfrm>
        </p:grpSpPr>
        <p:sp>
          <p:nvSpPr>
            <p:cNvPr id="17454" name="Rectangle 11"/>
            <p:cNvSpPr>
              <a:spLocks noChangeArrowheads="1"/>
            </p:cNvSpPr>
            <p:nvPr/>
          </p:nvSpPr>
          <p:spPr bwMode="auto">
            <a:xfrm>
              <a:off x="720" y="1296"/>
              <a:ext cx="864" cy="576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5" name="Rectangle 12"/>
            <p:cNvSpPr>
              <a:spLocks noChangeArrowheads="1"/>
            </p:cNvSpPr>
            <p:nvPr/>
          </p:nvSpPr>
          <p:spPr bwMode="auto">
            <a:xfrm>
              <a:off x="720" y="1296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6" name="Rectangle 13"/>
            <p:cNvSpPr>
              <a:spLocks noChangeArrowheads="1"/>
            </p:cNvSpPr>
            <p:nvPr/>
          </p:nvSpPr>
          <p:spPr bwMode="auto">
            <a:xfrm>
              <a:off x="720" y="1440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7" name="Rectangle 14"/>
            <p:cNvSpPr>
              <a:spLocks noChangeArrowheads="1"/>
            </p:cNvSpPr>
            <p:nvPr/>
          </p:nvSpPr>
          <p:spPr bwMode="auto">
            <a:xfrm>
              <a:off x="720" y="1584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8" name="Rectangle 15"/>
            <p:cNvSpPr>
              <a:spLocks noChangeArrowheads="1"/>
            </p:cNvSpPr>
            <p:nvPr/>
          </p:nvSpPr>
          <p:spPr bwMode="auto">
            <a:xfrm>
              <a:off x="720" y="1728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477000" y="1964350"/>
            <a:ext cx="1371600" cy="914400"/>
            <a:chOff x="720" y="1296"/>
            <a:chExt cx="864" cy="576"/>
          </a:xfrm>
        </p:grpSpPr>
        <p:sp>
          <p:nvSpPr>
            <p:cNvPr id="17449" name="Rectangle 17"/>
            <p:cNvSpPr>
              <a:spLocks noChangeArrowheads="1"/>
            </p:cNvSpPr>
            <p:nvPr/>
          </p:nvSpPr>
          <p:spPr bwMode="auto">
            <a:xfrm>
              <a:off x="720" y="1296"/>
              <a:ext cx="864" cy="576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0" name="Rectangle 18"/>
            <p:cNvSpPr>
              <a:spLocks noChangeArrowheads="1"/>
            </p:cNvSpPr>
            <p:nvPr/>
          </p:nvSpPr>
          <p:spPr bwMode="auto">
            <a:xfrm>
              <a:off x="720" y="1296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1" name="Rectangle 19"/>
            <p:cNvSpPr>
              <a:spLocks noChangeArrowheads="1"/>
            </p:cNvSpPr>
            <p:nvPr/>
          </p:nvSpPr>
          <p:spPr bwMode="auto">
            <a:xfrm>
              <a:off x="720" y="1440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2" name="Rectangle 20"/>
            <p:cNvSpPr>
              <a:spLocks noChangeArrowheads="1"/>
            </p:cNvSpPr>
            <p:nvPr/>
          </p:nvSpPr>
          <p:spPr bwMode="auto">
            <a:xfrm>
              <a:off x="720" y="1584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3" name="Rectangle 21"/>
            <p:cNvSpPr>
              <a:spLocks noChangeArrowheads="1"/>
            </p:cNvSpPr>
            <p:nvPr/>
          </p:nvSpPr>
          <p:spPr bwMode="auto">
            <a:xfrm>
              <a:off x="720" y="1728"/>
              <a:ext cx="864" cy="14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417" name="Text Box 22"/>
          <p:cNvSpPr txBox="1">
            <a:spLocks noChangeArrowheads="1"/>
          </p:cNvSpPr>
          <p:nvPr/>
        </p:nvSpPr>
        <p:spPr bwMode="auto">
          <a:xfrm>
            <a:off x="2895600" y="16595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Firefox PCB</a:t>
            </a:r>
          </a:p>
        </p:txBody>
      </p:sp>
      <p:sp>
        <p:nvSpPr>
          <p:cNvPr id="17418" name="Text Box 23"/>
          <p:cNvSpPr txBox="1">
            <a:spLocks noChangeArrowheads="1"/>
          </p:cNvSpPr>
          <p:nvPr/>
        </p:nvSpPr>
        <p:spPr bwMode="auto">
          <a:xfrm>
            <a:off x="4648200" y="16595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X Server PCB</a:t>
            </a:r>
          </a:p>
        </p:txBody>
      </p:sp>
      <p:sp>
        <p:nvSpPr>
          <p:cNvPr id="17419" name="Text Box 24"/>
          <p:cNvSpPr txBox="1">
            <a:spLocks noChangeArrowheads="1"/>
          </p:cNvSpPr>
          <p:nvPr/>
        </p:nvSpPr>
        <p:spPr bwMode="auto">
          <a:xfrm>
            <a:off x="6400800" y="16595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Idle PCB</a:t>
            </a:r>
          </a:p>
        </p:txBody>
      </p:sp>
      <p:sp>
        <p:nvSpPr>
          <p:cNvPr id="17420" name="Rectangle 26"/>
          <p:cNvSpPr>
            <a:spLocks noChangeArrowheads="1"/>
          </p:cNvSpPr>
          <p:nvPr/>
        </p:nvSpPr>
        <p:spPr bwMode="auto">
          <a:xfrm>
            <a:off x="1219200" y="1964350"/>
            <a:ext cx="1371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1" name="Rectangle 27"/>
          <p:cNvSpPr>
            <a:spLocks noChangeArrowheads="1"/>
          </p:cNvSpPr>
          <p:nvPr/>
        </p:nvSpPr>
        <p:spPr bwMode="auto">
          <a:xfrm>
            <a:off x="1219200" y="1964350"/>
            <a:ext cx="1371600" cy="2286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2971800" y="3412150"/>
            <a:ext cx="1371600" cy="914400"/>
            <a:chOff x="720" y="1296"/>
            <a:chExt cx="864" cy="576"/>
          </a:xfrm>
        </p:grpSpPr>
        <p:sp>
          <p:nvSpPr>
            <p:cNvPr id="17444" name="Rectangle 33"/>
            <p:cNvSpPr>
              <a:spLocks noChangeArrowheads="1"/>
            </p:cNvSpPr>
            <p:nvPr/>
          </p:nvSpPr>
          <p:spPr bwMode="auto">
            <a:xfrm>
              <a:off x="720" y="1296"/>
              <a:ext cx="864" cy="57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5" name="Rectangle 34"/>
            <p:cNvSpPr>
              <a:spLocks noChangeArrowheads="1"/>
            </p:cNvSpPr>
            <p:nvPr/>
          </p:nvSpPr>
          <p:spPr bwMode="auto">
            <a:xfrm>
              <a:off x="720" y="1296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6" name="Rectangle 35"/>
            <p:cNvSpPr>
              <a:spLocks noChangeArrowheads="1"/>
            </p:cNvSpPr>
            <p:nvPr/>
          </p:nvSpPr>
          <p:spPr bwMode="auto">
            <a:xfrm>
              <a:off x="720" y="1440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7" name="Rectangle 36"/>
            <p:cNvSpPr>
              <a:spLocks noChangeArrowheads="1"/>
            </p:cNvSpPr>
            <p:nvPr/>
          </p:nvSpPr>
          <p:spPr bwMode="auto">
            <a:xfrm>
              <a:off x="720" y="1584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8" name="Rectangle 37"/>
            <p:cNvSpPr>
              <a:spLocks noChangeArrowheads="1"/>
            </p:cNvSpPr>
            <p:nvPr/>
          </p:nvSpPr>
          <p:spPr bwMode="auto">
            <a:xfrm>
              <a:off x="720" y="1728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423" name="Text Box 38"/>
          <p:cNvSpPr txBox="1">
            <a:spLocks noChangeArrowheads="1"/>
          </p:cNvSpPr>
          <p:nvPr/>
        </p:nvSpPr>
        <p:spPr bwMode="auto">
          <a:xfrm>
            <a:off x="2895600" y="310735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Vim PCB</a:t>
            </a:r>
          </a:p>
        </p:txBody>
      </p:sp>
      <p:sp>
        <p:nvSpPr>
          <p:cNvPr id="17424" name="Text Box 39"/>
          <p:cNvSpPr txBox="1">
            <a:spLocks noChangeArrowheads="1"/>
          </p:cNvSpPr>
          <p:nvPr/>
        </p:nvSpPr>
        <p:spPr bwMode="auto">
          <a:xfrm>
            <a:off x="1143000" y="16595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Ready Queue</a:t>
            </a:r>
          </a:p>
        </p:txBody>
      </p:sp>
      <p:sp>
        <p:nvSpPr>
          <p:cNvPr id="17425" name="Text Box 44"/>
          <p:cNvSpPr txBox="1">
            <a:spLocks noChangeArrowheads="1"/>
          </p:cNvSpPr>
          <p:nvPr/>
        </p:nvSpPr>
        <p:spPr bwMode="auto">
          <a:xfrm>
            <a:off x="1143000" y="307174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Disk I/O Queue</a:t>
            </a:r>
          </a:p>
        </p:txBody>
      </p:sp>
      <p:sp>
        <p:nvSpPr>
          <p:cNvPr id="17426" name="Text Box 45"/>
          <p:cNvSpPr txBox="1">
            <a:spLocks noChangeArrowheads="1"/>
          </p:cNvSpPr>
          <p:nvPr/>
        </p:nvSpPr>
        <p:spPr bwMode="auto">
          <a:xfrm>
            <a:off x="1142999" y="4555150"/>
            <a:ext cx="1890713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Console Queue</a:t>
            </a:r>
          </a:p>
        </p:txBody>
      </p:sp>
      <p:sp>
        <p:nvSpPr>
          <p:cNvPr id="17427" name="Text Box 46"/>
          <p:cNvSpPr txBox="1">
            <a:spLocks noChangeArrowheads="1"/>
          </p:cNvSpPr>
          <p:nvPr/>
        </p:nvSpPr>
        <p:spPr bwMode="auto">
          <a:xfrm>
            <a:off x="1143000" y="4876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Sleep Queue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4724400" y="3412150"/>
            <a:ext cx="1371600" cy="914400"/>
            <a:chOff x="720" y="1296"/>
            <a:chExt cx="864" cy="576"/>
          </a:xfrm>
        </p:grpSpPr>
        <p:sp>
          <p:nvSpPr>
            <p:cNvPr id="17439" name="Rectangle 49"/>
            <p:cNvSpPr>
              <a:spLocks noChangeArrowheads="1"/>
            </p:cNvSpPr>
            <p:nvPr/>
          </p:nvSpPr>
          <p:spPr bwMode="auto">
            <a:xfrm>
              <a:off x="720" y="1296"/>
              <a:ext cx="864" cy="57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0" name="Rectangle 50"/>
            <p:cNvSpPr>
              <a:spLocks noChangeArrowheads="1"/>
            </p:cNvSpPr>
            <p:nvPr/>
          </p:nvSpPr>
          <p:spPr bwMode="auto">
            <a:xfrm>
              <a:off x="720" y="1296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1" name="Rectangle 51"/>
            <p:cNvSpPr>
              <a:spLocks noChangeArrowheads="1"/>
            </p:cNvSpPr>
            <p:nvPr/>
          </p:nvSpPr>
          <p:spPr bwMode="auto">
            <a:xfrm>
              <a:off x="720" y="1440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2" name="Rectangle 52"/>
            <p:cNvSpPr>
              <a:spLocks noChangeArrowheads="1"/>
            </p:cNvSpPr>
            <p:nvPr/>
          </p:nvSpPr>
          <p:spPr bwMode="auto">
            <a:xfrm>
              <a:off x="720" y="1584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3" name="Rectangle 53"/>
            <p:cNvSpPr>
              <a:spLocks noChangeArrowheads="1"/>
            </p:cNvSpPr>
            <p:nvPr/>
          </p:nvSpPr>
          <p:spPr bwMode="auto">
            <a:xfrm>
              <a:off x="720" y="1728"/>
              <a:ext cx="864" cy="14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430" name="Text Box 54"/>
          <p:cNvSpPr txBox="1">
            <a:spLocks noChangeArrowheads="1"/>
          </p:cNvSpPr>
          <p:nvPr/>
        </p:nvSpPr>
        <p:spPr bwMode="auto">
          <a:xfrm>
            <a:off x="4724400" y="31073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ls PCB</a:t>
            </a:r>
          </a:p>
        </p:txBody>
      </p:sp>
      <p:sp>
        <p:nvSpPr>
          <p:cNvPr id="17431" name="Line 55"/>
          <p:cNvSpPr>
            <a:spLocks noChangeShapeType="1"/>
          </p:cNvSpPr>
          <p:nvPr/>
        </p:nvSpPr>
        <p:spPr bwMode="auto">
          <a:xfrm>
            <a:off x="2590800" y="211675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2" name="Line 56"/>
          <p:cNvSpPr>
            <a:spLocks noChangeShapeType="1"/>
          </p:cNvSpPr>
          <p:nvPr/>
        </p:nvSpPr>
        <p:spPr bwMode="auto">
          <a:xfrm>
            <a:off x="6096000" y="211675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3" name="Line 57"/>
          <p:cNvSpPr>
            <a:spLocks noChangeShapeType="1"/>
          </p:cNvSpPr>
          <p:nvPr/>
        </p:nvSpPr>
        <p:spPr bwMode="auto">
          <a:xfrm>
            <a:off x="4343400" y="211675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4" name="Line 58"/>
          <p:cNvSpPr>
            <a:spLocks noChangeShapeType="1"/>
          </p:cNvSpPr>
          <p:nvPr/>
        </p:nvSpPr>
        <p:spPr bwMode="auto">
          <a:xfrm>
            <a:off x="2590800" y="356455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5" name="Line 59"/>
          <p:cNvSpPr>
            <a:spLocks noChangeShapeType="1"/>
          </p:cNvSpPr>
          <p:nvPr/>
        </p:nvSpPr>
        <p:spPr bwMode="auto">
          <a:xfrm>
            <a:off x="4343400" y="356455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6" name="Rectangle 62"/>
          <p:cNvSpPr>
            <a:spLocks noChangeArrowheads="1"/>
          </p:cNvSpPr>
          <p:nvPr/>
        </p:nvSpPr>
        <p:spPr bwMode="auto">
          <a:xfrm>
            <a:off x="1219200" y="3412150"/>
            <a:ext cx="13716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7" name="Rectangle 63"/>
          <p:cNvSpPr>
            <a:spLocks noChangeArrowheads="1"/>
          </p:cNvSpPr>
          <p:nvPr/>
        </p:nvSpPr>
        <p:spPr bwMode="auto">
          <a:xfrm>
            <a:off x="3200400" y="4648200"/>
            <a:ext cx="5562600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050" tIns="26988" rIns="19050" bIns="26988">
            <a:prstTxWarp prst="textNoShape">
              <a:avLst/>
            </a:prstTxWarp>
          </a:bodyPr>
          <a:lstStyle/>
          <a:p>
            <a:pPr defTabSz="904875">
              <a:lnSpc>
                <a:spcPts val="2800"/>
              </a:lnSpc>
              <a:spcAft>
                <a:spcPts val="500"/>
              </a:spcAft>
              <a:buClr>
                <a:schemeClr val="tx1"/>
              </a:buClr>
              <a:buSzPct val="75000"/>
              <a:buFont typeface="Monotype Sorts" pitchFamily="-109" charset="2"/>
              <a:buNone/>
              <a:tabLst>
                <a:tab pos="276225" algn="l"/>
                <a:tab pos="679450" algn="l"/>
                <a:tab pos="1295400" algn="l"/>
              </a:tabLst>
            </a:pPr>
            <a:endParaRPr lang="en-US" sz="2400" b="0">
              <a:solidFill>
                <a:srgbClr val="000000"/>
              </a:solidFill>
            </a:endParaRPr>
          </a:p>
        </p:txBody>
      </p:sp>
      <p:sp>
        <p:nvSpPr>
          <p:cNvPr id="17438" name="Text Box 64"/>
          <p:cNvSpPr txBox="1">
            <a:spLocks noChangeArrowheads="1"/>
          </p:cNvSpPr>
          <p:nvPr/>
        </p:nvSpPr>
        <p:spPr bwMode="auto">
          <a:xfrm>
            <a:off x="3581400" y="4800600"/>
            <a:ext cx="4800600" cy="1015663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There may be many wait queues, one for each type of wait (disk, console, timer, network, etc.)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PCBs and State Queues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521826" cy="4142551"/>
          </a:xfrm>
        </p:spPr>
        <p:txBody>
          <a:bodyPr/>
          <a:lstStyle/>
          <a:p>
            <a:r>
              <a:rPr lang="en-US" dirty="0"/>
              <a:t>PCBs are data structures dynamically allocated in OS memory</a:t>
            </a:r>
          </a:p>
          <a:p>
            <a:r>
              <a:rPr lang="en-US" dirty="0"/>
              <a:t>When a process is created, the OS allocates a PCB for it, initializes it, and places it on the ready queue</a:t>
            </a:r>
          </a:p>
          <a:p>
            <a:r>
              <a:rPr lang="en-US" dirty="0"/>
              <a:t>As the process computes, does I/O, etc., its PCB moves from one queue to another</a:t>
            </a:r>
          </a:p>
          <a:p>
            <a:r>
              <a:rPr lang="en-US" dirty="0"/>
              <a:t>When the process terminates, its PCB is deallocated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323DFD-140E-2645-85FB-38E1CD5DC5D0}" type="slidenum">
              <a:rPr lang="en-US"/>
              <a:pPr/>
              <a:t>24</a:t>
            </a:fld>
            <a:endParaRPr lang="en-US"/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 Creation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399"/>
            <a:ext cx="8462191" cy="4826661"/>
          </a:xfrm>
        </p:spPr>
        <p:txBody>
          <a:bodyPr>
            <a:noAutofit/>
          </a:bodyPr>
          <a:lstStyle/>
          <a:p>
            <a:r>
              <a:rPr lang="en-US" dirty="0"/>
              <a:t>A process is created by another process</a:t>
            </a:r>
          </a:p>
          <a:p>
            <a:pPr lvl="1"/>
            <a:r>
              <a:rPr lang="en-US" dirty="0"/>
              <a:t>Parent is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creator, child is created (Unix: “PPID” field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dirty="0" err="1"/>
              <a:t>ps</a:t>
            </a:r>
            <a:r>
              <a:rPr lang="en-US" dirty="0"/>
              <a:t>)</a:t>
            </a:r>
          </a:p>
          <a:p>
            <a:pPr lvl="1" latinLnBrk="0"/>
            <a:r>
              <a:rPr lang="en-US" dirty="0">
                <a:solidFill>
                  <a:srgbClr val="D60093"/>
                </a:solidFill>
              </a:rPr>
              <a:t>What creates the first (</a:t>
            </a:r>
            <a:r>
              <a:rPr lang="en-US" dirty="0" err="1">
                <a:solidFill>
                  <a:srgbClr val="D60093"/>
                </a:solidFill>
              </a:rPr>
              <a:t>userspace</a:t>
            </a:r>
            <a:r>
              <a:rPr lang="en-US" dirty="0">
                <a:solidFill>
                  <a:srgbClr val="D60093"/>
                </a:solidFill>
              </a:rPr>
              <a:t>) process? (Unix: init (PID 1))</a:t>
            </a:r>
          </a:p>
          <a:p>
            <a:r>
              <a:rPr lang="en-US" dirty="0"/>
              <a:t>In some </a:t>
            </a:r>
            <a:r>
              <a:rPr lang="en-US" altLang="zh-CN" dirty="0"/>
              <a:t>OSes</a:t>
            </a:r>
            <a:r>
              <a:rPr lang="en-US" dirty="0"/>
              <a:t>, the parent defines (or donates) resources and privileges for its children</a:t>
            </a:r>
          </a:p>
          <a:p>
            <a:pPr lvl="1" latinLnBrk="0"/>
            <a:r>
              <a:rPr lang="en-US" dirty="0"/>
              <a:t>Unix: Process User ID is inherited – children of your shell execute with your privileges</a:t>
            </a:r>
          </a:p>
          <a:p>
            <a:r>
              <a:rPr lang="en-US" dirty="0"/>
              <a:t>After creating a child, the parent may either wait for it to finish its task</a:t>
            </a:r>
            <a:r>
              <a:rPr lang="en-US" altLang="zh-CN" dirty="0"/>
              <a:t>,</a:t>
            </a:r>
            <a:r>
              <a:rPr lang="en-US" dirty="0"/>
              <a:t> or continue in parallel (or both)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7D0D227-9619-9C4F-B4A6-0A9EB95E90C8}" type="slidenum">
              <a:rPr lang="en-US"/>
              <a:pPr/>
              <a:t>25</a:t>
            </a:fld>
            <a:endParaRPr lang="en-US"/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Process Creation: Windows 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02557" cy="4955870"/>
          </a:xfrm>
        </p:spPr>
        <p:txBody>
          <a:bodyPr>
            <a:noAutofit/>
          </a:bodyPr>
          <a:lstStyle/>
          <a:p>
            <a:r>
              <a:rPr lang="en-US" dirty="0"/>
              <a:t>The system call on Windows for creating a process is called, surprisingly enough, </a:t>
            </a:r>
            <a:r>
              <a:rPr lang="en-US" i="1" dirty="0" err="1"/>
              <a:t>CreateProcess</a:t>
            </a:r>
            <a:r>
              <a:rPr lang="en-US" i="1" dirty="0"/>
              <a:t>()</a:t>
            </a:r>
            <a:r>
              <a:rPr lang="en-US" dirty="0"/>
              <a:t>:</a:t>
            </a:r>
          </a:p>
          <a:p>
            <a:pPr lvl="1">
              <a:buFont typeface="ZapfDingbats" pitchFamily="82" charset="2"/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-109" charset="0"/>
              </a:rPr>
              <a:t>BOOL CreateProcess(char *prog, ....)</a:t>
            </a:r>
            <a:r>
              <a:rPr lang="en-US" sz="1800" dirty="0"/>
              <a:t> (simplified)</a:t>
            </a:r>
          </a:p>
          <a:p>
            <a:r>
              <a:rPr lang="en-US" dirty="0"/>
              <a:t>CreateProcess</a:t>
            </a:r>
          </a:p>
          <a:p>
            <a:pPr lvl="1"/>
            <a:r>
              <a:rPr lang="en-US" dirty="0"/>
              <a:t>Creates and initializes a new </a:t>
            </a:r>
            <a:r>
              <a:rPr lang="en-US" dirty="0">
                <a:solidFill>
                  <a:srgbClr val="0000FF"/>
                </a:solidFill>
              </a:rPr>
              <a:t>PCB</a:t>
            </a:r>
          </a:p>
          <a:p>
            <a:pPr lvl="1"/>
            <a:r>
              <a:rPr lang="en-US" dirty="0"/>
              <a:t>Creates and initializes a new address space</a:t>
            </a:r>
          </a:p>
          <a:p>
            <a:pPr lvl="1"/>
            <a:r>
              <a:rPr lang="en-US" dirty="0"/>
              <a:t>Loads the program specified by “prog” into the address space</a:t>
            </a:r>
          </a:p>
          <a:p>
            <a:pPr lvl="1"/>
            <a:r>
              <a:rPr lang="en-US" dirty="0"/>
              <a:t>Initializes the hardware context to start execution at main (or wherever specified in the file)</a:t>
            </a:r>
          </a:p>
          <a:p>
            <a:pPr lvl="1"/>
            <a:r>
              <a:rPr lang="en-US" dirty="0"/>
              <a:t>Places the PCB on the </a:t>
            </a:r>
            <a:r>
              <a:rPr lang="en-US" dirty="0">
                <a:solidFill>
                  <a:srgbClr val="0000FF"/>
                </a:solidFill>
              </a:rPr>
              <a:t>ready</a:t>
            </a:r>
            <a:r>
              <a:rPr lang="en-US" dirty="0"/>
              <a:t> queue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47E73E-ED4B-0747-BEEA-E4F91F5389C3}" type="slidenum">
              <a:rPr lang="en-US"/>
              <a:pPr/>
              <a:t>26</a:t>
            </a:fld>
            <a:endParaRPr lang="en-US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Creation: Unix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400"/>
            <a:ext cx="8422435" cy="54727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 Unix, processes are created using fork()</a:t>
            </a:r>
            <a:endParaRPr lang="en-US" sz="1800" b="1" dirty="0">
              <a:solidFill>
                <a:srgbClr val="FF9900"/>
              </a:solidFill>
              <a:latin typeface="Courier New" pitchFamily="-109" charset="0"/>
            </a:endParaRPr>
          </a:p>
          <a:p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latinLnBrk="0"/>
            <a:r>
              <a:rPr lang="en-US" dirty="0"/>
              <a:t>Creates and initializes a new PCB</a:t>
            </a:r>
          </a:p>
          <a:p>
            <a:pPr lvl="1" latinLnBrk="0"/>
            <a:r>
              <a:rPr lang="en-US" dirty="0"/>
              <a:t>Creates a new address space</a:t>
            </a:r>
          </a:p>
          <a:p>
            <a:pPr lvl="1" latinLnBrk="0"/>
            <a:r>
              <a:rPr lang="en-US" dirty="0">
                <a:solidFill>
                  <a:srgbClr val="FF3300"/>
                </a:solidFill>
              </a:rPr>
              <a:t>Initializes the address space with a </a:t>
            </a:r>
            <a:r>
              <a:rPr lang="en-US" b="1" u="sng" dirty="0">
                <a:solidFill>
                  <a:srgbClr val="FF3300"/>
                </a:solidFill>
              </a:rPr>
              <a:t>copy</a:t>
            </a:r>
            <a:r>
              <a:rPr lang="en-US" dirty="0">
                <a:solidFill>
                  <a:srgbClr val="FF3300"/>
                </a:solidFill>
              </a:rPr>
              <a:t> of the entire contents of the parent</a:t>
            </a:r>
            <a:r>
              <a:rPr lang="en-US" altLang="zh-CN" dirty="0">
                <a:solidFill>
                  <a:srgbClr val="FF3300"/>
                </a:solidFill>
              </a:rPr>
              <a:t>’s</a:t>
            </a:r>
            <a:r>
              <a:rPr lang="en-US" dirty="0">
                <a:solidFill>
                  <a:srgbClr val="FF3300"/>
                </a:solidFill>
              </a:rPr>
              <a:t> address space</a:t>
            </a:r>
          </a:p>
          <a:p>
            <a:pPr lvl="1" latinLnBrk="0"/>
            <a:r>
              <a:rPr lang="en-US" dirty="0"/>
              <a:t>Initializes the kernel resources to </a:t>
            </a:r>
            <a:r>
              <a:rPr lang="en-US" u="sng" dirty="0"/>
              <a:t>point to </a:t>
            </a:r>
            <a:r>
              <a:rPr lang="en-US" dirty="0"/>
              <a:t>the resources used by parent (e.g., open files)</a:t>
            </a:r>
          </a:p>
          <a:p>
            <a:pPr lvl="1" latinLnBrk="0"/>
            <a:r>
              <a:rPr lang="en-US" dirty="0"/>
              <a:t>Places the PCB on the ready queue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</a:t>
            </a:r>
            <a:r>
              <a:rPr lang="en-US" dirty="0"/>
              <a:t>ork</a:t>
            </a:r>
            <a:r>
              <a:rPr lang="en-US" altLang="zh-CN" dirty="0"/>
              <a:t>()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en-US" dirty="0"/>
              <a:t> returns </a:t>
            </a:r>
            <a:r>
              <a:rPr lang="en-US" dirty="0">
                <a:solidFill>
                  <a:srgbClr val="0000FF"/>
                </a:solidFill>
              </a:rPr>
              <a:t>twice</a:t>
            </a:r>
          </a:p>
          <a:p>
            <a:pPr lvl="1" latinLnBrk="0"/>
            <a:r>
              <a:rPr lang="en-US" dirty="0">
                <a:solidFill>
                  <a:srgbClr val="FF0000"/>
                </a:solidFill>
              </a:rPr>
              <a:t>Returns the child’s PID to the parent, “0” to the child</a:t>
            </a:r>
          </a:p>
          <a:p>
            <a:pPr lvl="1" latinLnBrk="0"/>
            <a:r>
              <a:rPr lang="en-US" dirty="0"/>
              <a:t>Huh?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3112FBD-20C0-354C-8483-4A3E8444259A}" type="slidenum">
              <a:rPr lang="en-US"/>
              <a:pPr/>
              <a:t>27</a:t>
            </a:fld>
            <a:endParaRPr lang="en-US"/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pic>
        <p:nvPicPr>
          <p:cNvPr id="1026" name="Picture 2" descr="The best Huh? memes :) Memedroid">
            <a:extLst>
              <a:ext uri="{FF2B5EF4-FFF2-40B4-BE49-F238E27FC236}">
                <a16:creationId xmlns:a16="http://schemas.microsoft.com/office/drawing/2014/main" id="{18211B14-D386-65C9-B033-CD580EC3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031" y="5378297"/>
            <a:ext cx="1626323" cy="90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fork() semantics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33" y="1138824"/>
            <a:ext cx="7286001" cy="45803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fork()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75462AC-47A0-3043-8B3B-14FF0DE82DE9}" type="slidenum">
              <a:rPr lang="en-US"/>
              <a:pPr/>
              <a:t>29</a:t>
            </a:fld>
            <a:endParaRPr lang="en-US"/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 dirty="0"/>
              <a:t>CSCI3150 Intro to Operating Systems</a:t>
            </a:r>
            <a:endParaRPr lang="en-US" sz="1400" b="0" dirty="0">
              <a:latin typeface="Times New Roman" pitchFamily="-10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501" y="818324"/>
            <a:ext cx="837280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int main(int argc, char *argv[])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{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char *name = argv[0];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int </a:t>
            </a:r>
            <a:r>
              <a:rPr lang="en-US" altLang="zh-CN" b="1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b="1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 = fork();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if (</a:t>
            </a:r>
            <a:r>
              <a:rPr lang="en-US" altLang="zh-CN" b="1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b="1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 == 0) {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</a:t>
            </a:r>
            <a:r>
              <a:rPr lang="en-US" b="1" dirty="0" err="1">
                <a:solidFill>
                  <a:srgbClr val="0000FF"/>
                </a:solidFill>
                <a:latin typeface="Courier New" pitchFamily="-109" charset="0"/>
              </a:rPr>
              <a:t>printf</a:t>
            </a: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(”Child of %s is %d\n”, name, getpid());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return 0;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} else {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	</a:t>
            </a: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printf(“My child is %d\n”, </a:t>
            </a:r>
            <a:r>
              <a:rPr lang="en-US" altLang="zh-CN" b="1" dirty="0" err="1">
                <a:solidFill>
                  <a:srgbClr val="FF0000"/>
                </a:solidFill>
                <a:latin typeface="Courier New" pitchFamily="-109" charset="0"/>
              </a:rPr>
              <a:t>returned</a:t>
            </a:r>
            <a:r>
              <a:rPr lang="en-US" b="1" dirty="0" err="1">
                <a:solidFill>
                  <a:srgbClr val="FF3300"/>
                </a:solidFill>
                <a:latin typeface="Courier New" pitchFamily="-109" charset="0"/>
              </a:rPr>
              <a:t>_pid</a:t>
            </a: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		return 0;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}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}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+mj-lt"/>
              </a:rPr>
              <a:t>           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+mj-lt"/>
              </a:rPr>
              <a:t>                              What does this program print?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43E4-5066-DBE4-EDB7-95DEE715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5B21A-C7DC-CB7A-E720-DF1E2E2C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602E-141F-0F46-48DB-F7809727A9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D2E07-2070-A212-C204-1B329E14F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6F73E53-BA2A-9DBD-A14C-4BD9DF9A5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7171" y="1445718"/>
            <a:ext cx="8361095" cy="396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18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Duplicating Address Spaces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F01F9A-BACB-2747-A2E2-B354DE0C2F1E}" type="slidenum">
              <a:rPr lang="en-US"/>
              <a:pPr/>
              <a:t>31</a:t>
            </a:fld>
            <a:endParaRPr lang="en-US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310276" name="Rectangle 4"/>
          <p:cNvSpPr>
            <a:spLocks noChangeArrowheads="1"/>
          </p:cNvSpPr>
          <p:nvPr/>
        </p:nvSpPr>
        <p:spPr bwMode="auto">
          <a:xfrm>
            <a:off x="1447800" y="2362200"/>
            <a:ext cx="2514600" cy="2590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4583" name="Text Box 5"/>
          <p:cNvSpPr txBox="1">
            <a:spLocks noChangeArrowheads="1"/>
          </p:cNvSpPr>
          <p:nvPr/>
        </p:nvSpPr>
        <p:spPr bwMode="auto">
          <a:xfrm>
            <a:off x="1524000" y="3048000"/>
            <a:ext cx="1752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4584" name="Text Box 6"/>
          <p:cNvSpPr txBox="1">
            <a:spLocks noChangeArrowheads="1"/>
          </p:cNvSpPr>
          <p:nvPr/>
        </p:nvSpPr>
        <p:spPr bwMode="auto">
          <a:xfrm>
            <a:off x="1447800" y="2743200"/>
            <a:ext cx="2667000" cy="2139047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 fork();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if (</a:t>
            </a: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== 0) {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0000FF"/>
                </a:solidFill>
                <a:latin typeface="Courier New" pitchFamily="-109" charset="0"/>
              </a:rPr>
              <a:t>(“child”);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 else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FF3300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FF3300"/>
                </a:solidFill>
                <a:latin typeface="Courier New" pitchFamily="-109" charset="0"/>
              </a:rPr>
              <a:t>(“parent”);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</a:t>
            </a:r>
          </a:p>
        </p:txBody>
      </p:sp>
      <p:sp>
        <p:nvSpPr>
          <p:cNvPr id="310279" name="Rectangle 7"/>
          <p:cNvSpPr>
            <a:spLocks noChangeArrowheads="1"/>
          </p:cNvSpPr>
          <p:nvPr/>
        </p:nvSpPr>
        <p:spPr bwMode="auto">
          <a:xfrm>
            <a:off x="4953000" y="2362200"/>
            <a:ext cx="2514600" cy="2590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4586" name="AutoShape 9"/>
          <p:cNvSpPr>
            <a:spLocks noChangeArrowheads="1"/>
          </p:cNvSpPr>
          <p:nvPr/>
        </p:nvSpPr>
        <p:spPr bwMode="auto">
          <a:xfrm>
            <a:off x="4114800" y="3352800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rgbClr val="0099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Text Box 10"/>
          <p:cNvSpPr txBox="1">
            <a:spLocks noChangeArrowheads="1"/>
          </p:cNvSpPr>
          <p:nvPr/>
        </p:nvSpPr>
        <p:spPr bwMode="auto">
          <a:xfrm>
            <a:off x="2057400" y="51816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Parent</a:t>
            </a:r>
          </a:p>
        </p:txBody>
      </p:sp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5638800" y="51816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Child</a:t>
            </a:r>
          </a:p>
        </p:txBody>
      </p:sp>
      <p:sp>
        <p:nvSpPr>
          <p:cNvPr id="24589" name="Text Box 12"/>
          <p:cNvSpPr txBox="1">
            <a:spLocks noChangeArrowheads="1"/>
          </p:cNvSpPr>
          <p:nvPr/>
        </p:nvSpPr>
        <p:spPr bwMode="auto">
          <a:xfrm>
            <a:off x="4953000" y="2743200"/>
            <a:ext cx="2667000" cy="2139047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 fork();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if (</a:t>
            </a: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== 0) {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0000FF"/>
                </a:solidFill>
                <a:latin typeface="Courier New" pitchFamily="-109" charset="0"/>
              </a:rPr>
              <a:t>(“child”);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 else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FF3300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FF3300"/>
                </a:solidFill>
                <a:latin typeface="Courier New" pitchFamily="-109" charset="0"/>
              </a:rPr>
              <a:t>(“parent”);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</a:t>
            </a:r>
          </a:p>
        </p:txBody>
      </p:sp>
      <p:sp>
        <p:nvSpPr>
          <p:cNvPr id="24590" name="Line 13"/>
          <p:cNvSpPr>
            <a:spLocks noChangeShapeType="1"/>
          </p:cNvSpPr>
          <p:nvPr/>
        </p:nvSpPr>
        <p:spPr bwMode="auto">
          <a:xfrm>
            <a:off x="1066800" y="2895600"/>
            <a:ext cx="381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Text Box 14"/>
          <p:cNvSpPr txBox="1">
            <a:spLocks noChangeArrowheads="1"/>
          </p:cNvSpPr>
          <p:nvPr/>
        </p:nvSpPr>
        <p:spPr bwMode="auto">
          <a:xfrm>
            <a:off x="609600" y="2743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PC</a:t>
            </a:r>
          </a:p>
        </p:txBody>
      </p:sp>
      <p:sp>
        <p:nvSpPr>
          <p:cNvPr id="24592" name="Text Box 17"/>
          <p:cNvSpPr txBox="1">
            <a:spLocks noChangeArrowheads="1"/>
          </p:cNvSpPr>
          <p:nvPr/>
        </p:nvSpPr>
        <p:spPr bwMode="auto">
          <a:xfrm>
            <a:off x="2057400" y="1981200"/>
            <a:ext cx="2266122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</a:rPr>
              <a:t>returned</a:t>
            </a:r>
            <a:r>
              <a:rPr lang="en-US" dirty="0" err="1">
                <a:solidFill>
                  <a:srgbClr val="0000FF"/>
                </a:solidFill>
              </a:rPr>
              <a:t>_pid</a:t>
            </a:r>
            <a:r>
              <a:rPr lang="en-US" dirty="0">
                <a:solidFill>
                  <a:srgbClr val="0000FF"/>
                </a:solidFill>
              </a:rPr>
              <a:t> = 486</a:t>
            </a:r>
          </a:p>
        </p:txBody>
      </p:sp>
      <p:sp>
        <p:nvSpPr>
          <p:cNvPr id="24593" name="Text Box 18"/>
          <p:cNvSpPr txBox="1">
            <a:spLocks noChangeArrowheads="1"/>
          </p:cNvSpPr>
          <p:nvPr/>
        </p:nvSpPr>
        <p:spPr bwMode="auto">
          <a:xfrm>
            <a:off x="5715000" y="19812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</a:rPr>
              <a:t>returned</a:t>
            </a:r>
            <a:r>
              <a:rPr lang="en-US" dirty="0" err="1">
                <a:solidFill>
                  <a:srgbClr val="0000FF"/>
                </a:solidFill>
              </a:rPr>
              <a:t>_pid</a:t>
            </a:r>
            <a:r>
              <a:rPr lang="en-US" dirty="0">
                <a:solidFill>
                  <a:srgbClr val="0000FF"/>
                </a:solidFill>
              </a:rPr>
              <a:t> = 0</a:t>
            </a:r>
          </a:p>
        </p:txBody>
      </p:sp>
      <p:sp>
        <p:nvSpPr>
          <p:cNvPr id="24594" name="Line 19"/>
          <p:cNvSpPr>
            <a:spLocks noChangeShapeType="1"/>
          </p:cNvSpPr>
          <p:nvPr/>
        </p:nvSpPr>
        <p:spPr bwMode="auto">
          <a:xfrm flipH="1">
            <a:off x="2209800" y="2286000"/>
            <a:ext cx="22860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Line 20"/>
          <p:cNvSpPr>
            <a:spLocks noChangeShapeType="1"/>
          </p:cNvSpPr>
          <p:nvPr/>
        </p:nvSpPr>
        <p:spPr bwMode="auto">
          <a:xfrm flipH="1">
            <a:off x="5486400" y="2286000"/>
            <a:ext cx="22860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Text Box 21"/>
          <p:cNvSpPr txBox="1">
            <a:spLocks noChangeArrowheads="1"/>
          </p:cNvSpPr>
          <p:nvPr/>
        </p:nvSpPr>
        <p:spPr bwMode="auto">
          <a:xfrm>
            <a:off x="7772400" y="2743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PC</a:t>
            </a:r>
          </a:p>
        </p:txBody>
      </p:sp>
      <p:sp>
        <p:nvSpPr>
          <p:cNvPr id="24597" name="Line 22"/>
          <p:cNvSpPr>
            <a:spLocks noChangeShapeType="1"/>
          </p:cNvSpPr>
          <p:nvPr/>
        </p:nvSpPr>
        <p:spPr bwMode="auto">
          <a:xfrm flipH="1">
            <a:off x="7467600" y="2895600"/>
            <a:ext cx="381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Divergence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7491315-F49D-1143-9BD3-1C50B5DC84FA}" type="slidenum">
              <a:rPr lang="en-US"/>
              <a:pPr/>
              <a:t>32</a:t>
            </a:fld>
            <a:endParaRPr lang="en-US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311308" name="Rectangle 12"/>
          <p:cNvSpPr>
            <a:spLocks noChangeArrowheads="1"/>
          </p:cNvSpPr>
          <p:nvPr/>
        </p:nvSpPr>
        <p:spPr bwMode="auto">
          <a:xfrm>
            <a:off x="1447800" y="2362200"/>
            <a:ext cx="2514600" cy="2590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5607" name="Text Box 13"/>
          <p:cNvSpPr txBox="1">
            <a:spLocks noChangeArrowheads="1"/>
          </p:cNvSpPr>
          <p:nvPr/>
        </p:nvSpPr>
        <p:spPr bwMode="auto">
          <a:xfrm>
            <a:off x="1524000" y="3048000"/>
            <a:ext cx="1752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5608" name="Text Box 14"/>
          <p:cNvSpPr txBox="1">
            <a:spLocks noChangeArrowheads="1"/>
          </p:cNvSpPr>
          <p:nvPr/>
        </p:nvSpPr>
        <p:spPr bwMode="auto">
          <a:xfrm>
            <a:off x="1447800" y="2743200"/>
            <a:ext cx="2590800" cy="2139047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 fork();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if (</a:t>
            </a: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== 0) {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0000FF"/>
                </a:solidFill>
                <a:latin typeface="Courier New" pitchFamily="-109" charset="0"/>
              </a:rPr>
              <a:t>(“child”);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 else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FF3300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FF3300"/>
                </a:solidFill>
                <a:latin typeface="Courier New" pitchFamily="-109" charset="0"/>
              </a:rPr>
              <a:t>(“parent”);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</a:t>
            </a:r>
          </a:p>
        </p:txBody>
      </p:sp>
      <p:sp>
        <p:nvSpPr>
          <p:cNvPr id="311311" name="Rectangle 15"/>
          <p:cNvSpPr>
            <a:spLocks noChangeArrowheads="1"/>
          </p:cNvSpPr>
          <p:nvPr/>
        </p:nvSpPr>
        <p:spPr bwMode="auto">
          <a:xfrm>
            <a:off x="4953000" y="2362200"/>
            <a:ext cx="2514600" cy="2590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5610" name="AutoShape 16"/>
          <p:cNvSpPr>
            <a:spLocks noChangeArrowheads="1"/>
          </p:cNvSpPr>
          <p:nvPr/>
        </p:nvSpPr>
        <p:spPr bwMode="auto">
          <a:xfrm>
            <a:off x="4114800" y="3352800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rgbClr val="0099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1" name="Text Box 17"/>
          <p:cNvSpPr txBox="1">
            <a:spLocks noChangeArrowheads="1"/>
          </p:cNvSpPr>
          <p:nvPr/>
        </p:nvSpPr>
        <p:spPr bwMode="auto">
          <a:xfrm>
            <a:off x="2057400" y="51816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Parent</a:t>
            </a:r>
          </a:p>
        </p:txBody>
      </p:sp>
      <p:sp>
        <p:nvSpPr>
          <p:cNvPr id="25612" name="Text Box 18"/>
          <p:cNvSpPr txBox="1">
            <a:spLocks noChangeArrowheads="1"/>
          </p:cNvSpPr>
          <p:nvPr/>
        </p:nvSpPr>
        <p:spPr bwMode="auto">
          <a:xfrm>
            <a:off x="5638800" y="51816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Child</a:t>
            </a:r>
          </a:p>
        </p:txBody>
      </p:sp>
      <p:sp>
        <p:nvSpPr>
          <p:cNvPr id="25613" name="Text Box 19"/>
          <p:cNvSpPr txBox="1">
            <a:spLocks noChangeArrowheads="1"/>
          </p:cNvSpPr>
          <p:nvPr/>
        </p:nvSpPr>
        <p:spPr bwMode="auto">
          <a:xfrm>
            <a:off x="4953000" y="2743200"/>
            <a:ext cx="2590800" cy="2139047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 fork();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if (</a:t>
            </a:r>
            <a:r>
              <a:rPr lang="en-US" altLang="zh-CN" sz="1400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400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== 0) {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0000FF"/>
                </a:solidFill>
                <a:latin typeface="Courier New" pitchFamily="-109" charset="0"/>
              </a:rPr>
              <a:t>(“child”);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 else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  </a:t>
            </a:r>
            <a:r>
              <a:rPr lang="en-US" sz="1400" dirty="0" err="1">
                <a:solidFill>
                  <a:srgbClr val="FF3300"/>
                </a:solidFill>
                <a:latin typeface="Courier New" pitchFamily="-109" charset="0"/>
              </a:rPr>
              <a:t>printf</a:t>
            </a:r>
            <a:r>
              <a:rPr lang="en-US" sz="1400" dirty="0">
                <a:solidFill>
                  <a:srgbClr val="FF3300"/>
                </a:solidFill>
                <a:latin typeface="Courier New" pitchFamily="-109" charset="0"/>
              </a:rPr>
              <a:t>(“parent”);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D60093"/>
                </a:solidFill>
                <a:latin typeface="Courier New" pitchFamily="-109" charset="0"/>
              </a:rPr>
              <a:t>}</a:t>
            </a:r>
          </a:p>
        </p:txBody>
      </p:sp>
      <p:sp>
        <p:nvSpPr>
          <p:cNvPr id="25614" name="Line 20"/>
          <p:cNvSpPr>
            <a:spLocks noChangeShapeType="1"/>
          </p:cNvSpPr>
          <p:nvPr/>
        </p:nvSpPr>
        <p:spPr bwMode="auto">
          <a:xfrm>
            <a:off x="1066800" y="4191000"/>
            <a:ext cx="381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5" name="Text Box 21"/>
          <p:cNvSpPr txBox="1">
            <a:spLocks noChangeArrowheads="1"/>
          </p:cNvSpPr>
          <p:nvPr/>
        </p:nvSpPr>
        <p:spPr bwMode="auto">
          <a:xfrm>
            <a:off x="533400" y="40386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PC</a:t>
            </a:r>
          </a:p>
        </p:txBody>
      </p:sp>
      <p:sp>
        <p:nvSpPr>
          <p:cNvPr id="25616" name="Text Box 23"/>
          <p:cNvSpPr txBox="1">
            <a:spLocks noChangeArrowheads="1"/>
          </p:cNvSpPr>
          <p:nvPr/>
        </p:nvSpPr>
        <p:spPr bwMode="auto">
          <a:xfrm>
            <a:off x="7772400" y="33528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PC</a:t>
            </a:r>
          </a:p>
        </p:txBody>
      </p:sp>
      <p:sp>
        <p:nvSpPr>
          <p:cNvPr id="25617" name="Text Box 24"/>
          <p:cNvSpPr txBox="1">
            <a:spLocks noChangeArrowheads="1"/>
          </p:cNvSpPr>
          <p:nvPr/>
        </p:nvSpPr>
        <p:spPr bwMode="auto">
          <a:xfrm>
            <a:off x="2057400" y="1981200"/>
            <a:ext cx="2266122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</a:rPr>
              <a:t>returned</a:t>
            </a:r>
            <a:r>
              <a:rPr lang="en-US" dirty="0" err="1">
                <a:solidFill>
                  <a:srgbClr val="0000FF"/>
                </a:solidFill>
              </a:rPr>
              <a:t>_pid</a:t>
            </a:r>
            <a:r>
              <a:rPr lang="en-US" dirty="0">
                <a:solidFill>
                  <a:srgbClr val="0000FF"/>
                </a:solidFill>
              </a:rPr>
              <a:t> = 486</a:t>
            </a:r>
          </a:p>
        </p:txBody>
      </p:sp>
      <p:sp>
        <p:nvSpPr>
          <p:cNvPr id="25618" name="Text Box 25"/>
          <p:cNvSpPr txBox="1">
            <a:spLocks noChangeArrowheads="1"/>
          </p:cNvSpPr>
          <p:nvPr/>
        </p:nvSpPr>
        <p:spPr bwMode="auto">
          <a:xfrm>
            <a:off x="5486400" y="19812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</a:rPr>
              <a:t>returned</a:t>
            </a:r>
            <a:r>
              <a:rPr lang="en-US" dirty="0" err="1">
                <a:solidFill>
                  <a:srgbClr val="0000FF"/>
                </a:solidFill>
              </a:rPr>
              <a:t>_pid</a:t>
            </a:r>
            <a:r>
              <a:rPr lang="en-US" dirty="0">
                <a:solidFill>
                  <a:srgbClr val="0000FF"/>
                </a:solidFill>
              </a:rPr>
              <a:t> = 0</a:t>
            </a:r>
          </a:p>
        </p:txBody>
      </p:sp>
      <p:sp>
        <p:nvSpPr>
          <p:cNvPr id="25619" name="Line 26"/>
          <p:cNvSpPr>
            <a:spLocks noChangeShapeType="1"/>
          </p:cNvSpPr>
          <p:nvPr/>
        </p:nvSpPr>
        <p:spPr bwMode="auto">
          <a:xfrm flipH="1">
            <a:off x="2209800" y="2286000"/>
            <a:ext cx="22860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0" name="Line 27"/>
          <p:cNvSpPr>
            <a:spLocks noChangeShapeType="1"/>
          </p:cNvSpPr>
          <p:nvPr/>
        </p:nvSpPr>
        <p:spPr bwMode="auto">
          <a:xfrm flipH="1">
            <a:off x="5486400" y="2286000"/>
            <a:ext cx="228600" cy="3810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1" name="Line 28"/>
          <p:cNvSpPr>
            <a:spLocks noChangeShapeType="1"/>
          </p:cNvSpPr>
          <p:nvPr/>
        </p:nvSpPr>
        <p:spPr bwMode="auto">
          <a:xfrm flipH="1">
            <a:off x="7467600" y="3505200"/>
            <a:ext cx="381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Continued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80070"/>
            <a:ext cx="8442313" cy="5501258"/>
          </a:xfrm>
        </p:spPr>
        <p:txBody>
          <a:bodyPr>
            <a:normAutofit/>
          </a:bodyPr>
          <a:lstStyle/>
          <a:p>
            <a:pPr>
              <a:buFont typeface="Monotype Sorts" pitchFamily="-109" charset="2"/>
              <a:buNone/>
            </a:pPr>
            <a:r>
              <a:rPr lang="en-US" sz="2000" dirty="0"/>
              <a:t>&gt; a.out</a:t>
            </a:r>
          </a:p>
          <a:p>
            <a:pPr>
              <a:buFont typeface="Monotype Sorts" pitchFamily="-109" charset="2"/>
              <a:buNone/>
            </a:pPr>
            <a:r>
              <a:rPr lang="en-US" sz="2000" dirty="0">
                <a:solidFill>
                  <a:srgbClr val="FF3300"/>
                </a:solidFill>
              </a:rPr>
              <a:t>My child is 486</a:t>
            </a:r>
          </a:p>
          <a:p>
            <a:pPr>
              <a:buFont typeface="Monotype Sorts" pitchFamily="-109" charset="2"/>
              <a:buNone/>
            </a:pPr>
            <a:r>
              <a:rPr lang="en-US" sz="2000" dirty="0">
                <a:solidFill>
                  <a:srgbClr val="0000FF"/>
                </a:solidFill>
              </a:rPr>
              <a:t>Child of a.out is 486</a:t>
            </a:r>
          </a:p>
          <a:p>
            <a:pPr>
              <a:buFont typeface="Monotype Sorts" pitchFamily="-109" charset="2"/>
              <a:buNone/>
            </a:pPr>
            <a:r>
              <a:rPr lang="en-US" sz="2000" dirty="0"/>
              <a:t>&gt; a.out</a:t>
            </a:r>
          </a:p>
          <a:p>
            <a:pPr>
              <a:buFont typeface="Monotype Sorts" pitchFamily="-109" charset="2"/>
              <a:buNone/>
            </a:pPr>
            <a:r>
              <a:rPr lang="en-US" sz="2000" dirty="0">
                <a:solidFill>
                  <a:srgbClr val="0000FF"/>
                </a:solidFill>
              </a:rPr>
              <a:t>Child of a.out is 498</a:t>
            </a:r>
          </a:p>
          <a:p>
            <a:pPr>
              <a:buFont typeface="Monotype Sorts" pitchFamily="-109" charset="2"/>
              <a:buNone/>
            </a:pPr>
            <a:r>
              <a:rPr lang="en-US" sz="2000" dirty="0">
                <a:solidFill>
                  <a:srgbClr val="FF3300"/>
                </a:solidFill>
              </a:rPr>
              <a:t>My child is 498</a:t>
            </a:r>
          </a:p>
          <a:p>
            <a:pPr>
              <a:buFont typeface="Monotype Sorts" pitchFamily="-109" charset="2"/>
              <a:buNone/>
            </a:pPr>
            <a:endParaRPr lang="en-US" dirty="0">
              <a:solidFill>
                <a:srgbClr val="FF3300"/>
              </a:solidFill>
            </a:endParaRPr>
          </a:p>
          <a:p>
            <a:pPr algn="ctr">
              <a:buFont typeface="Monotype Sorts" pitchFamily="-109" charset="2"/>
              <a:buNone/>
            </a:pPr>
            <a:r>
              <a:rPr lang="en-US" dirty="0"/>
              <a:t>Why is the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dirty="0"/>
              <a:t>output different?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controls</a:t>
            </a:r>
            <a:r>
              <a:rPr lang="zh-CN" altLang="en-US" dirty="0"/>
              <a:t> </a:t>
            </a:r>
            <a:r>
              <a:rPr lang="en-US" altLang="zh-CN" dirty="0"/>
              <a:t>that?</a:t>
            </a:r>
            <a:endParaRPr lang="en-US" dirty="0"/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83678A-36E9-7B44-B439-960207604721}" type="slidenum">
              <a:rPr lang="en-US"/>
              <a:pPr/>
              <a:t>33</a:t>
            </a:fld>
            <a:endParaRPr lang="en-US"/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Why fork()?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124261" cy="4130681"/>
          </a:xfrm>
        </p:spPr>
        <p:txBody>
          <a:bodyPr>
            <a:noAutofit/>
          </a:bodyPr>
          <a:lstStyle/>
          <a:p>
            <a:r>
              <a:rPr lang="en-US" dirty="0"/>
              <a:t>Very useful when the child…</a:t>
            </a:r>
          </a:p>
          <a:p>
            <a:pPr lvl="1"/>
            <a:r>
              <a:rPr lang="en-US" dirty="0"/>
              <a:t>Is cooperating with the parent</a:t>
            </a:r>
          </a:p>
          <a:p>
            <a:pPr lvl="1"/>
            <a:r>
              <a:rPr lang="en-US" dirty="0"/>
              <a:t>Relies upon the parent’s data to accomplish its task</a:t>
            </a:r>
          </a:p>
          <a:p>
            <a:r>
              <a:rPr lang="en-US" dirty="0"/>
              <a:t>Example: Web server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while (1) {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	int sock = accept();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	if ((</a:t>
            </a:r>
            <a:r>
              <a:rPr lang="en-US" altLang="zh-CN" sz="1800" b="1" dirty="0" err="1">
                <a:solidFill>
                  <a:srgbClr val="D60093"/>
                </a:solidFill>
                <a:latin typeface="Courier New" pitchFamily="-109" charset="0"/>
              </a:rPr>
              <a:t>returned</a:t>
            </a:r>
            <a:r>
              <a:rPr lang="en-US" sz="1800" b="1" dirty="0" err="1">
                <a:solidFill>
                  <a:srgbClr val="D60093"/>
                </a:solidFill>
                <a:latin typeface="Courier New" pitchFamily="-109" charset="0"/>
              </a:rPr>
              <a:t>_pid</a:t>
            </a: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 = fork()) == 0) {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itchFamily="-109" charset="0"/>
              </a:rPr>
              <a:t>		</a:t>
            </a:r>
            <a:r>
              <a:rPr lang="en-US" sz="1800" i="1" dirty="0">
                <a:solidFill>
                  <a:srgbClr val="0000FF"/>
                </a:solidFill>
              </a:rPr>
              <a:t>Handle client request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	} 	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}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AA80CA0-17E5-2B47-8853-9EAE46CB68E2}" type="slidenum">
              <a:rPr lang="en-US"/>
              <a:pPr/>
              <a:t>34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fork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differently?</a:t>
            </a:r>
            <a:endParaRPr lang="en-US" dirty="0"/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124261" cy="4130681"/>
          </a:xfrm>
        </p:spPr>
        <p:txBody>
          <a:bodyPr>
            <a:noAutofit/>
          </a:bodyPr>
          <a:lstStyle/>
          <a:p>
            <a:r>
              <a:rPr lang="en-US" altLang="zh-CN" dirty="0"/>
              <a:t>A: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passed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registers</a:t>
            </a:r>
          </a:p>
          <a:p>
            <a:pPr lvl="1"/>
            <a:r>
              <a:rPr lang="en-US" altLang="zh-CN" dirty="0"/>
              <a:t>Integer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EAX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32-bit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endParaRPr lang="en-US" dirty="0"/>
          </a:p>
          <a:p>
            <a:r>
              <a:rPr lang="en-US" altLang="zh-CN" dirty="0"/>
              <a:t>B:</a:t>
            </a:r>
            <a:r>
              <a:rPr lang="zh-CN" altLang="en-US" dirty="0"/>
              <a:t> </a:t>
            </a:r>
            <a:r>
              <a:rPr lang="en-US" altLang="zh-CN" dirty="0"/>
              <a:t>PCB</a:t>
            </a:r>
            <a:r>
              <a:rPr lang="zh-CN" altLang="en-US" dirty="0"/>
              <a:t> </a:t>
            </a:r>
            <a:r>
              <a:rPr lang="en-US" altLang="zh-CN" dirty="0"/>
              <a:t>stores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states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registers</a:t>
            </a:r>
          </a:p>
          <a:p>
            <a:r>
              <a:rPr lang="en-US" altLang="zh-CN" dirty="0"/>
              <a:t>Thus,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trick:</a:t>
            </a:r>
            <a:endParaRPr lang="en-US" dirty="0"/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AA80CA0-17E5-2B47-8853-9EAE46CB68E2}" type="slidenum">
              <a:rPr lang="en-US"/>
              <a:pPr/>
              <a:t>35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54B49D-A6B6-380B-CEFF-3ED7CE74F920}"/>
              </a:ext>
            </a:extLst>
          </p:cNvPr>
          <p:cNvSpPr txBox="1"/>
          <p:nvPr/>
        </p:nvSpPr>
        <p:spPr>
          <a:xfrm>
            <a:off x="879475" y="3195286"/>
            <a:ext cx="7346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ZapfDingbats" pitchFamily="82" charset="2"/>
              <a:buNone/>
            </a:pPr>
            <a:r>
              <a:rPr lang="en-US" altLang="zh-CN" b="1" dirty="0">
                <a:latin typeface="Courier New" pitchFamily="-109" charset="0"/>
              </a:rPr>
              <a:t>c</a:t>
            </a:r>
            <a:r>
              <a:rPr lang="en-US" altLang="zh-CN" sz="1800" b="1" dirty="0">
                <a:latin typeface="Courier New" pitchFamily="-109" charset="0"/>
              </a:rPr>
              <a:t>hild</a:t>
            </a:r>
            <a:r>
              <a:rPr lang="en-US" altLang="zh-CN" b="1" dirty="0">
                <a:latin typeface="Courier New" pitchFamily="-109" charset="0"/>
              </a:rPr>
              <a:t>-&gt;PCB[</a:t>
            </a:r>
            <a:r>
              <a:rPr lang="en-US" altLang="zh-CN" b="1" dirty="0" err="1">
                <a:latin typeface="Courier New" pitchFamily="-109" charset="0"/>
              </a:rPr>
              <a:t>return_value_register</a:t>
            </a:r>
            <a:r>
              <a:rPr lang="en-US" altLang="zh-CN" b="1" dirty="0">
                <a:latin typeface="Courier New" pitchFamily="-109" charset="0"/>
              </a:rPr>
              <a:t>]</a:t>
            </a:r>
            <a:r>
              <a:rPr lang="zh-CN" altLang="en-US" b="1" dirty="0">
                <a:latin typeface="Courier New" pitchFamily="-109" charset="0"/>
              </a:rPr>
              <a:t> </a:t>
            </a:r>
            <a:r>
              <a:rPr lang="en-US" altLang="zh-CN" b="1" dirty="0">
                <a:latin typeface="Courier New" pitchFamily="-109" charset="0"/>
              </a:rPr>
              <a:t>=</a:t>
            </a:r>
            <a:r>
              <a:rPr lang="zh-CN" altLang="en-US" b="1" dirty="0">
                <a:latin typeface="Courier New" pitchFamily="-109" charset="0"/>
              </a:rPr>
              <a:t> </a:t>
            </a:r>
            <a:r>
              <a:rPr lang="en-US" altLang="zh-CN" b="1" dirty="0">
                <a:latin typeface="Courier New" pitchFamily="-109" charset="0"/>
              </a:rPr>
              <a:t>0;</a:t>
            </a:r>
          </a:p>
          <a:p>
            <a:pPr lvl="1"/>
            <a:r>
              <a:rPr lang="en-US" altLang="zh-CN" b="1" dirty="0">
                <a:latin typeface="Courier New" pitchFamily="-109" charset="0"/>
              </a:rPr>
              <a:t>parent-&gt;PCB[</a:t>
            </a:r>
            <a:r>
              <a:rPr lang="en-US" altLang="zh-CN" b="1" dirty="0" err="1">
                <a:latin typeface="Courier New" pitchFamily="-109" charset="0"/>
              </a:rPr>
              <a:t>return_value_register</a:t>
            </a:r>
            <a:r>
              <a:rPr lang="en-US" altLang="zh-CN" b="1" dirty="0">
                <a:latin typeface="Courier New" pitchFamily="-109" charset="0"/>
              </a:rPr>
              <a:t>]</a:t>
            </a:r>
            <a:r>
              <a:rPr lang="zh-CN" altLang="en-US" b="1" dirty="0">
                <a:latin typeface="Courier New" pitchFamily="-109" charset="0"/>
              </a:rPr>
              <a:t> </a:t>
            </a:r>
            <a:r>
              <a:rPr lang="en-US" altLang="zh-CN" b="1" dirty="0">
                <a:latin typeface="Courier New" pitchFamily="-109" charset="0"/>
              </a:rPr>
              <a:t>=</a:t>
            </a:r>
            <a:r>
              <a:rPr lang="zh-CN" altLang="en-US" b="1" dirty="0">
                <a:latin typeface="Courier New" pitchFamily="-109" charset="0"/>
              </a:rPr>
              <a:t> </a:t>
            </a:r>
            <a:r>
              <a:rPr lang="en-US" altLang="zh-CN" b="1" dirty="0" err="1">
                <a:latin typeface="Courier New" pitchFamily="-109" charset="0"/>
              </a:rPr>
              <a:t>child_pid</a:t>
            </a:r>
            <a:r>
              <a:rPr lang="en-US" altLang="zh-CN" b="1" dirty="0">
                <a:latin typeface="Courier New" pitchFamily="-109" charset="0"/>
              </a:rPr>
              <a:t>;</a:t>
            </a:r>
            <a:endParaRPr lang="en-US" sz="1800" b="1" dirty="0">
              <a:latin typeface="Courier New" pitchFamily="-10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EA26C-4744-DDC8-4DBE-D9C9C7E19740}"/>
              </a:ext>
            </a:extLst>
          </p:cNvPr>
          <p:cNvSpPr txBox="1"/>
          <p:nvPr/>
        </p:nvSpPr>
        <p:spPr>
          <a:xfrm>
            <a:off x="755163" y="5687212"/>
            <a:ext cx="7745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https://stackoverflow.com/questions/8857830/fork-implementation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sz="1600" dirty="0">
                <a:latin typeface="Malgun Gothic" panose="020B0503020000020004" pitchFamily="34" charset="-127"/>
                <a:ea typeface="Malgun Gothic" panose="020B0503020000020004" pitchFamily="34" charset="-127"/>
                <a:hlinkClick r:id="rId3"/>
              </a:rPr>
              <a:t>https://en.wikipedia.org/wiki/X86_calling_conventions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4721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Creation: Unix (2)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80070"/>
            <a:ext cx="8352861" cy="5501258"/>
          </a:xfrm>
        </p:spPr>
        <p:txBody>
          <a:bodyPr>
            <a:normAutofit/>
          </a:bodyPr>
          <a:lstStyle/>
          <a:p>
            <a:r>
              <a:rPr lang="en-US" dirty="0"/>
              <a:t>Wait a second. How do we actually start a new program?</a:t>
            </a:r>
          </a:p>
          <a:p>
            <a:pPr lvl="1">
              <a:buFont typeface="ZapfDingbats" pitchFamily="82" charset="2"/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-109" charset="0"/>
              </a:rPr>
              <a:t>int exec(char *prog, char *</a:t>
            </a:r>
            <a:r>
              <a:rPr lang="en-US" sz="1800" b="1" dirty="0" err="1">
                <a:solidFill>
                  <a:srgbClr val="FF9900"/>
                </a:solidFill>
                <a:latin typeface="Courier New" pitchFamily="-109" charset="0"/>
              </a:rPr>
              <a:t>argv</a:t>
            </a:r>
            <a:r>
              <a:rPr lang="en-US" sz="1800" b="1" dirty="0">
                <a:solidFill>
                  <a:srgbClr val="FF9900"/>
                </a:solidFill>
                <a:latin typeface="Courier New" pitchFamily="-109" charset="0"/>
              </a:rPr>
              <a:t>[])</a:t>
            </a:r>
          </a:p>
          <a:p>
            <a:r>
              <a:rPr lang="en-US" dirty="0"/>
              <a:t>exec()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Stops</a:t>
            </a:r>
            <a:r>
              <a:rPr lang="en-US" dirty="0"/>
              <a:t> the current process</a:t>
            </a:r>
          </a:p>
          <a:p>
            <a:pPr lvl="1"/>
            <a:r>
              <a:rPr lang="en-US" dirty="0"/>
              <a:t>Loads the program “prog” into the process’ address space</a:t>
            </a:r>
          </a:p>
          <a:p>
            <a:pPr lvl="1"/>
            <a:r>
              <a:rPr lang="en-US" dirty="0"/>
              <a:t>Initializes hardware context and </a:t>
            </a:r>
            <a:r>
              <a:rPr lang="en-US" dirty="0" err="1"/>
              <a:t>args</a:t>
            </a:r>
            <a:r>
              <a:rPr lang="en-US" dirty="0"/>
              <a:t> for the new program</a:t>
            </a:r>
          </a:p>
          <a:p>
            <a:pPr lvl="1"/>
            <a:r>
              <a:rPr lang="en-US" dirty="0"/>
              <a:t>Places the PCB onto the ready queue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Note: It </a:t>
            </a:r>
            <a:r>
              <a:rPr lang="en-US" b="1" dirty="0">
                <a:solidFill>
                  <a:srgbClr val="FF0000"/>
                </a:solidFill>
              </a:rPr>
              <a:t>does not</a:t>
            </a:r>
            <a:r>
              <a:rPr lang="en-US" dirty="0">
                <a:solidFill>
                  <a:srgbClr val="FF0000"/>
                </a:solidFill>
              </a:rPr>
              <a:t> create a new process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no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new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PID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D60093"/>
                </a:solidFill>
              </a:rPr>
              <a:t>What does it mean for exec to return?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ABDCC7B-C98A-5140-AC89-7EEAE7675E1F}" type="slidenum">
              <a:rPr lang="en-US"/>
              <a:pPr/>
              <a:t>36</a:t>
            </a:fld>
            <a:endParaRPr lang="en-US"/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 Creation: Unix (3)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521826" cy="4273123"/>
          </a:xfrm>
        </p:spPr>
        <p:txBody>
          <a:bodyPr>
            <a:normAutofit/>
          </a:bodyPr>
          <a:lstStyle/>
          <a:p>
            <a:r>
              <a:rPr lang="en-US" dirty="0"/>
              <a:t>fork() is used to create a new process</a:t>
            </a:r>
            <a:r>
              <a:rPr lang="en-US" altLang="zh-CN" dirty="0"/>
              <a:t>;</a:t>
            </a:r>
            <a:r>
              <a:rPr lang="en-US" dirty="0"/>
              <a:t> exec is used to load a program into the address space</a:t>
            </a:r>
          </a:p>
          <a:p>
            <a:r>
              <a:rPr lang="en-US" dirty="0"/>
              <a:t>What happens if you run “exec csh” in your shell?</a:t>
            </a:r>
          </a:p>
          <a:p>
            <a:r>
              <a:rPr lang="en-US" dirty="0"/>
              <a:t>What happens if you run “exec ls” in your shell? Try it.</a:t>
            </a:r>
          </a:p>
          <a:p>
            <a:r>
              <a:rPr lang="en-US" dirty="0"/>
              <a:t>fork() can return an error. Why might this happen?</a:t>
            </a:r>
          </a:p>
          <a:p>
            <a:pPr lvl="1"/>
            <a:r>
              <a:rPr lang="en-US" dirty="0"/>
              <a:t>Cannot create child process (return to parent). 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68FC2ED-F46B-1641-8CCF-E092E192475D}" type="slidenum">
              <a:rPr lang="en-US"/>
              <a:pPr/>
              <a:t>37</a:t>
            </a:fld>
            <a:endParaRPr lang="en-US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2BB2-D4CC-034D-AEE4-FC594602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073BF-9F13-2E02-FFCD-2B817585F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60699-02CA-E8C9-983D-117287D0D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8339F-EC55-1C80-B34D-62A1995A6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DF5B32B-1E8E-A910-2B5A-B20687F9D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5" y="1079921"/>
            <a:ext cx="8905461" cy="4698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DC49D2-B98B-36EF-7347-A0AE00814E42}"/>
              </a:ext>
            </a:extLst>
          </p:cNvPr>
          <p:cNvSpPr txBox="1"/>
          <p:nvPr/>
        </p:nvSpPr>
        <p:spPr>
          <a:xfrm>
            <a:off x="1654865" y="5377968"/>
            <a:ext cx="6310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exec()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overrides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current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process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completely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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If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it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runs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successfully,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it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never</a:t>
            </a:r>
            <a:r>
              <a:rPr lang="zh-CN" altLang="en-US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returns!</a:t>
            </a:r>
            <a:endParaRPr lang="en-US" sz="2000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299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C8B8-E30B-C326-50DF-70DF4D7C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Creation: </a:t>
            </a:r>
            <a:r>
              <a:rPr lang="en-US" altLang="zh-CN" dirty="0"/>
              <a:t>fork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27AB-B2C8-2052-9F5A-ED5906564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878400"/>
            <a:ext cx="8402557" cy="4177086"/>
          </a:xfrm>
        </p:spPr>
        <p:txBody>
          <a:bodyPr/>
          <a:lstStyle/>
          <a:p>
            <a:r>
              <a:rPr lang="en-US" dirty="0">
                <a:solidFill>
                  <a:srgbClr val="D60093"/>
                </a:solidFill>
              </a:rPr>
              <a:t>Why does Windows have </a:t>
            </a:r>
            <a:r>
              <a:rPr lang="en-US" dirty="0" err="1">
                <a:solidFill>
                  <a:srgbClr val="D60093"/>
                </a:solidFill>
              </a:rPr>
              <a:t>CreateProcess</a:t>
            </a:r>
            <a:r>
              <a:rPr lang="en-US" dirty="0">
                <a:solidFill>
                  <a:srgbClr val="D60093"/>
                </a:solidFill>
              </a:rPr>
              <a:t> while Unix uses fork/exec?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Comparing fork() and </a:t>
            </a:r>
            <a:r>
              <a:rPr lang="en-US" dirty="0" err="1">
                <a:solidFill>
                  <a:srgbClr val="0000FF"/>
                </a:solidFill>
              </a:rPr>
              <a:t>CreateProcess</a:t>
            </a:r>
            <a:r>
              <a:rPr lang="en-US" dirty="0">
                <a:solidFill>
                  <a:srgbClr val="0000FF"/>
                </a:solidFill>
              </a:rPr>
              <a:t>()</a:t>
            </a:r>
            <a:r>
              <a:rPr lang="en-US" dirty="0">
                <a:solidFill>
                  <a:srgbClr val="D60093"/>
                </a:solidFill>
              </a:rPr>
              <a:t>?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Which is more convenient to use?</a:t>
            </a:r>
          </a:p>
          <a:p>
            <a:pPr lvl="1"/>
            <a:r>
              <a:rPr lang="en-US" dirty="0">
                <a:solidFill>
                  <a:srgbClr val="D60093"/>
                </a:solidFill>
              </a:rPr>
              <a:t>Which is more efficient?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03874-E4E6-715C-2F9A-1C4059F320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8A213-61A7-91A6-CA25-F1F465AD7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716D156E-5D9F-D4F2-E3EF-69D282464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78" y="3322786"/>
            <a:ext cx="7772400" cy="107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493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Termination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>
          <a:xfrm>
            <a:off x="323999" y="878400"/>
            <a:ext cx="8283287" cy="41306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good processes must come to an end. But how?</a:t>
            </a:r>
          </a:p>
          <a:p>
            <a:pPr lvl="1"/>
            <a:r>
              <a:rPr lang="en-US" dirty="0">
                <a:solidFill>
                  <a:srgbClr val="009900"/>
                </a:solidFill>
              </a:rPr>
              <a:t>Unix: exit(int status),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Windows: ExitProcess(int status)</a:t>
            </a:r>
          </a:p>
          <a:p>
            <a:r>
              <a:rPr lang="en-US" dirty="0"/>
              <a:t>Essentially, free resources and terminate</a:t>
            </a:r>
          </a:p>
          <a:p>
            <a:pPr lvl="1"/>
            <a:r>
              <a:rPr lang="en-US" dirty="0"/>
              <a:t>Terminate all threads (next lecture)</a:t>
            </a:r>
          </a:p>
          <a:p>
            <a:pPr lvl="1"/>
            <a:r>
              <a:rPr lang="en-US" dirty="0"/>
              <a:t>Close open files, network connections</a:t>
            </a:r>
          </a:p>
          <a:p>
            <a:pPr lvl="1"/>
            <a:r>
              <a:rPr lang="en-US" dirty="0"/>
              <a:t>Allocated memory (and VM pages out on disk)</a:t>
            </a:r>
          </a:p>
          <a:p>
            <a:pPr lvl="1"/>
            <a:r>
              <a:rPr lang="en-US" dirty="0"/>
              <a:t>Remove PCB from kernel data structures, delete</a:t>
            </a:r>
          </a:p>
          <a:p>
            <a:r>
              <a:rPr lang="en-US" dirty="0"/>
              <a:t>Note that a process does not </a:t>
            </a:r>
            <a:r>
              <a:rPr lang="en-US" dirty="0">
                <a:solidFill>
                  <a:srgbClr val="0000FF"/>
                </a:solidFill>
              </a:rPr>
              <a:t>need</a:t>
            </a:r>
            <a:r>
              <a:rPr lang="en-US" dirty="0"/>
              <a:t> to clean up itself</a:t>
            </a:r>
          </a:p>
          <a:p>
            <a:pPr lvl="1"/>
            <a:r>
              <a:rPr lang="en-US" dirty="0"/>
              <a:t>Why does the OS have to do it?</a:t>
            </a:r>
          </a:p>
          <a:p>
            <a:endParaRPr lang="en-US" dirty="0"/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7F3782D-E067-2A47-8A65-D7FE98325D48}" type="slidenum">
              <a:rPr lang="en-US"/>
              <a:pPr/>
              <a:t>40</a:t>
            </a:fld>
            <a:endParaRPr lang="en-US"/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AF33-3089-6E7E-58A6-7CA111FD3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658382" cy="5501258"/>
          </a:xfrm>
        </p:spPr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exit()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Unix:</a:t>
            </a:r>
          </a:p>
          <a:p>
            <a:pPr lvl="1"/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terminated</a:t>
            </a:r>
            <a:r>
              <a:rPr lang="zh-CN" altLang="en-US" dirty="0"/>
              <a:t> </a:t>
            </a:r>
            <a:r>
              <a:rPr lang="en-US" altLang="zh-CN" dirty="0"/>
              <a:t>(next</a:t>
            </a:r>
            <a:r>
              <a:rPr lang="zh-CN" altLang="en-US" dirty="0"/>
              <a:t> </a:t>
            </a:r>
            <a:r>
              <a:rPr lang="en-US" altLang="zh-CN" dirty="0"/>
              <a:t>lecture)</a:t>
            </a:r>
            <a:endParaRPr lang="en-HK" altLang="zh-CN" dirty="0"/>
          </a:p>
          <a:p>
            <a:pPr lvl="1"/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files,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connections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closed;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de-allocated</a:t>
            </a:r>
            <a:endParaRPr lang="en-HK" altLang="zh-CN" dirty="0"/>
          </a:p>
          <a:p>
            <a:pPr lvl="1"/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PCB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remains</a:t>
            </a:r>
            <a:r>
              <a:rPr lang="zh-CN" altLang="en-US" dirty="0"/>
              <a:t> </a:t>
            </a:r>
            <a:r>
              <a:rPr lang="en-US" altLang="zh-CN" dirty="0"/>
              <a:t>in the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</a:p>
          <a:p>
            <a:pPr lvl="2"/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allow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parent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exit</a:t>
            </a:r>
            <a:r>
              <a:rPr lang="zh-CN" altLang="en-US" dirty="0"/>
              <a:t> </a:t>
            </a:r>
            <a:r>
              <a:rPr lang="en-US" altLang="zh-CN" dirty="0"/>
              <a:t>status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wait()</a:t>
            </a:r>
            <a:r>
              <a:rPr lang="zh-CN" altLang="en-US" dirty="0"/>
              <a:t> </a:t>
            </a:r>
            <a:r>
              <a:rPr lang="en-US" altLang="zh-CN" dirty="0"/>
              <a:t>variant</a:t>
            </a:r>
          </a:p>
          <a:p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parent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remove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PCB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completely</a:t>
            </a:r>
            <a:r>
              <a:rPr lang="zh-CN" altLang="en-US" dirty="0"/>
              <a:t> </a:t>
            </a:r>
            <a:r>
              <a:rPr lang="en-US" altLang="zh-CN" dirty="0"/>
              <a:t>terminate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process,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reap</a:t>
            </a:r>
          </a:p>
          <a:p>
            <a:pPr lvl="2"/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calling</a:t>
            </a:r>
            <a:r>
              <a:rPr lang="zh-CN" altLang="en-US" dirty="0"/>
              <a:t> </a:t>
            </a:r>
            <a:r>
              <a:rPr lang="en-US" altLang="zh-CN" dirty="0"/>
              <a:t>wait()</a:t>
            </a:r>
          </a:p>
          <a:p>
            <a:r>
              <a:rPr lang="en-US" altLang="zh-CN" dirty="0"/>
              <a:t>Died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yet</a:t>
            </a:r>
            <a:r>
              <a:rPr lang="zh-CN" altLang="en-US" dirty="0"/>
              <a:t> </a:t>
            </a:r>
            <a:r>
              <a:rPr lang="en-US" altLang="zh-CN" dirty="0"/>
              <a:t>reaped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zombie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7F3782D-E067-2A47-8A65-D7FE98325D48}" type="slidenum">
              <a:rPr lang="en-US"/>
              <a:pPr/>
              <a:t>41</a:t>
            </a:fld>
            <a:endParaRPr lang="en-US"/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pic>
        <p:nvPicPr>
          <p:cNvPr id="2050" name="Picture 2" descr="股票散户高清图片_股票散户素材模板在线设计-千库编辑">
            <a:extLst>
              <a:ext uri="{FF2B5EF4-FFF2-40B4-BE49-F238E27FC236}">
                <a16:creationId xmlns:a16="http://schemas.microsoft.com/office/drawing/2014/main" id="{8321A0E6-AF6B-FB1A-ED49-1D9E91546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84" y="3429000"/>
            <a:ext cx="1805407" cy="180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35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 a second…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52252" cy="4747148"/>
          </a:xfrm>
        </p:spPr>
        <p:txBody>
          <a:bodyPr>
            <a:noAutofit/>
          </a:bodyPr>
          <a:lstStyle/>
          <a:p>
            <a:r>
              <a:rPr lang="en-US" dirty="0"/>
              <a:t>Often it is convenient to pause until a child process has finished</a:t>
            </a:r>
          </a:p>
          <a:p>
            <a:pPr lvl="1"/>
            <a:r>
              <a:rPr lang="en-US" dirty="0"/>
              <a:t>Think of executing commands in a shell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009900"/>
                </a:solidFill>
              </a:rPr>
              <a:t>wait()</a:t>
            </a:r>
            <a:r>
              <a:rPr lang="en-US" dirty="0"/>
              <a:t> (</a:t>
            </a:r>
            <a:r>
              <a:rPr lang="en-US" dirty="0">
                <a:solidFill>
                  <a:srgbClr val="0000FF"/>
                </a:solidFill>
              </a:rPr>
              <a:t>WaitForSingleObject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Suspends the current process until a child process ends</a:t>
            </a:r>
          </a:p>
          <a:p>
            <a:pPr lvl="1"/>
            <a:r>
              <a:rPr lang="en-US" dirty="0"/>
              <a:t>waitpid() suspends until the specified child process ends</a:t>
            </a:r>
          </a:p>
          <a:p>
            <a:r>
              <a:rPr lang="en-US" dirty="0"/>
              <a:t>Unix: Every process must be reaped by a parent</a:t>
            </a:r>
          </a:p>
          <a:p>
            <a:pPr lvl="1"/>
            <a:r>
              <a:rPr lang="en-US" dirty="0"/>
              <a:t>What happens if a parent process exits before a child?</a:t>
            </a:r>
          </a:p>
          <a:p>
            <a:pPr lvl="1"/>
            <a:r>
              <a:rPr lang="en-US" dirty="0"/>
              <a:t>What do you think a “zombie” process is?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CFD8A55-2668-454D-A52C-9C4D0D5C310F}" type="slidenum">
              <a:rPr lang="en-US"/>
              <a:pPr/>
              <a:t>42</a:t>
            </a:fld>
            <a:endParaRPr lang="en-US"/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Unix Shells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CD861D1-ADCD-DB47-BEA3-1A0A31FEC14A}" type="slidenum">
              <a:rPr lang="en-US"/>
              <a:pPr/>
              <a:t>43</a:t>
            </a:fld>
            <a:endParaRPr lang="en-US"/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1027" y="1106000"/>
            <a:ext cx="79755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while (1) {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char *cmd = read_command();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int child_pid = fork();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if (child_pid == 0) {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D60093"/>
                </a:solidFill>
                <a:latin typeface="Courier New" pitchFamily="-109" charset="0"/>
              </a:rPr>
              <a:t>		</a:t>
            </a:r>
            <a:r>
              <a:rPr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Manipulate STDIN/OUT/ERR file descriptors for pipes, redirection, etc.</a:t>
            </a:r>
            <a:r>
              <a:rPr lang="zh-CN" altLang="en-US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	</a:t>
            </a:r>
            <a:endParaRPr lang="en-US" b="1" i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exec(cmd);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panic(“exec failed”);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} else {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		waitpid(child_pid);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}</a:t>
            </a:r>
          </a:p>
          <a:p>
            <a:pPr latinLnBrk="0"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}</a:t>
            </a:r>
          </a:p>
          <a:p>
            <a:pPr latinLnBrk="0"/>
            <a:endParaRPr lang="en-US" dirty="0"/>
          </a:p>
          <a:p>
            <a:pPr latinLnBrk="0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F28D2-365A-BBF5-199D-D9AF95C21FC8}"/>
              </a:ext>
            </a:extLst>
          </p:cNvPr>
          <p:cNvSpPr txBox="1"/>
          <p:nvPr/>
        </p:nvSpPr>
        <p:spPr>
          <a:xfrm>
            <a:off x="824948" y="5752000"/>
            <a:ext cx="668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https://www.bell-labs.com/usr/dmr/www/hist.html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51465-B2F3-47A2-8B7A-B36D12FB25CA}"/>
              </a:ext>
            </a:extLst>
          </p:cNvPr>
          <p:cNvSpPr txBox="1"/>
          <p:nvPr/>
        </p:nvSpPr>
        <p:spPr>
          <a:xfrm>
            <a:off x="824948" y="5476154"/>
            <a:ext cx="728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evolution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of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Unix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time-sharing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system,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Dennis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M.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Ritchie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 Summary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7924800" cy="4572000"/>
          </a:xfrm>
        </p:spPr>
        <p:txBody>
          <a:bodyPr>
            <a:noAutofit/>
          </a:bodyPr>
          <a:lstStyle/>
          <a:p>
            <a:r>
              <a:rPr lang="en-US" dirty="0"/>
              <a:t>What are the units of execution?</a:t>
            </a:r>
            <a:r>
              <a:rPr lang="zh-CN" alt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Processes</a:t>
            </a:r>
          </a:p>
          <a:p>
            <a:r>
              <a:rPr lang="en-US" dirty="0"/>
              <a:t>How are those units of execution represented?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Process Control Blocks (PCBs)</a:t>
            </a:r>
          </a:p>
          <a:p>
            <a:r>
              <a:rPr lang="en-US" dirty="0"/>
              <a:t>How is work scheduled in the CPU?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Process states, process queues, context switches</a:t>
            </a:r>
          </a:p>
          <a:p>
            <a:r>
              <a:rPr lang="en-US" dirty="0"/>
              <a:t>What are the possible execution states of a process?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Running, ready, waiting</a:t>
            </a:r>
          </a:p>
          <a:p>
            <a:r>
              <a:rPr lang="en-US" dirty="0"/>
              <a:t>How does a process move from one state to another?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Scheduling, I/O, creation, termination</a:t>
            </a:r>
          </a:p>
          <a:p>
            <a:r>
              <a:rPr lang="en-US" dirty="0"/>
              <a:t>How are processes created?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CreateProcess (Windows), fork/exec (Unix)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D30A04B-59F5-244B-BE8F-880E6D6029AB}" type="slidenum">
              <a:rPr lang="en-US"/>
              <a:pPr/>
              <a:t>44</a:t>
            </a:fld>
            <a:endParaRPr lang="en-US"/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9978" y="5015779"/>
            <a:ext cx="7695439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Physical memory </a:t>
            </a:r>
          </a:p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(RAM)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Copy-On-Write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7642503" cy="577245"/>
          </a:xfrm>
        </p:spPr>
        <p:txBody>
          <a:bodyPr/>
          <a:lstStyle/>
          <a:p>
            <a:r>
              <a:rPr lang="en-US" i="1" dirty="0">
                <a:solidFill>
                  <a:srgbClr val="0000FF"/>
                </a:solidFill>
              </a:rPr>
              <a:t>Lazy</a:t>
            </a:r>
            <a:r>
              <a:rPr lang="en-US" dirty="0"/>
              <a:t> copy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429019" y="3732049"/>
            <a:ext cx="1600200" cy="70554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429019" y="3884449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 = 30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429019" y="2893849"/>
            <a:ext cx="1600200" cy="838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429019" y="3046249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 = 20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429019" y="2131849"/>
            <a:ext cx="16002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1429019" y="2208049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 = 10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5210701" y="3769126"/>
            <a:ext cx="1600200" cy="70554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5210701" y="3921526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 = 30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210701" y="2930926"/>
            <a:ext cx="1600200" cy="838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210701" y="3083326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 = 20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210701" y="2168926"/>
            <a:ext cx="16002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5210701" y="2245126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 = 10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2851677" y="5016418"/>
            <a:ext cx="989785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10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906607" y="5015779"/>
            <a:ext cx="916258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210701" y="5015779"/>
            <a:ext cx="906877" cy="762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30</a:t>
            </a:r>
          </a:p>
        </p:txBody>
      </p:sp>
      <p:cxnSp>
        <p:nvCxnSpPr>
          <p:cNvPr id="28" name="Straight Arrow Connector 27"/>
          <p:cNvCxnSpPr>
            <a:stCxn id="13" idx="3"/>
            <a:endCxn id="23" idx="0"/>
          </p:cNvCxnSpPr>
          <p:nvPr/>
        </p:nvCxnSpPr>
        <p:spPr>
          <a:xfrm>
            <a:off x="3029219" y="2512849"/>
            <a:ext cx="317351" cy="2503569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1"/>
          </p:cNvCxnSpPr>
          <p:nvPr/>
        </p:nvCxnSpPr>
        <p:spPr>
          <a:xfrm flipH="1">
            <a:off x="3346570" y="2549926"/>
            <a:ext cx="1864131" cy="2465853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3"/>
            <a:endCxn id="24" idx="0"/>
          </p:cNvCxnSpPr>
          <p:nvPr/>
        </p:nvCxnSpPr>
        <p:spPr>
          <a:xfrm>
            <a:off x="3029219" y="3312949"/>
            <a:ext cx="1335517" cy="170283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9" idx="3"/>
            <a:endCxn id="25" idx="0"/>
          </p:cNvCxnSpPr>
          <p:nvPr/>
        </p:nvCxnSpPr>
        <p:spPr>
          <a:xfrm>
            <a:off x="3029219" y="4084819"/>
            <a:ext cx="2634921" cy="930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0" idx="1"/>
          </p:cNvCxnSpPr>
          <p:nvPr/>
        </p:nvCxnSpPr>
        <p:spPr>
          <a:xfrm flipH="1">
            <a:off x="4358006" y="3267992"/>
            <a:ext cx="852695" cy="174778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7" idx="2"/>
            <a:endCxn id="25" idx="0"/>
          </p:cNvCxnSpPr>
          <p:nvPr/>
        </p:nvCxnSpPr>
        <p:spPr>
          <a:xfrm flipH="1">
            <a:off x="5664140" y="4474666"/>
            <a:ext cx="346661" cy="5411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0347" y="1711476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Proc. A’s address 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7045" y="1705868"/>
            <a:ext cx="259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Proc. B’s address space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510782" y="2577381"/>
            <a:ext cx="1061218" cy="3535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685219" y="221437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fork()</a:t>
            </a:r>
          </a:p>
        </p:txBody>
      </p:sp>
    </p:spTree>
    <p:extLst>
      <p:ext uri="{BB962C8B-B14F-4D97-AF65-F5344CB8AC3E}">
        <p14:creationId xmlns:p14="http://schemas.microsoft.com/office/powerpoint/2010/main" val="4173522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9978" y="5131298"/>
            <a:ext cx="7695439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Physical memory </a:t>
            </a:r>
          </a:p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(RAM)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Copy-On-Write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00" y="878400"/>
            <a:ext cx="7642503" cy="577245"/>
          </a:xfrm>
        </p:spPr>
        <p:txBody>
          <a:bodyPr/>
          <a:lstStyle/>
          <a:p>
            <a:r>
              <a:rPr lang="en-US" i="1" dirty="0">
                <a:solidFill>
                  <a:srgbClr val="0000FF"/>
                </a:solidFill>
              </a:rPr>
              <a:t>Lazy</a:t>
            </a:r>
            <a:r>
              <a:rPr lang="en-US" dirty="0"/>
              <a:t> copy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429019" y="3847568"/>
            <a:ext cx="1600200" cy="70554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429019" y="3999968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 = 30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429019" y="3009368"/>
            <a:ext cx="1600200" cy="838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429019" y="3161768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 = 20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429019" y="2247368"/>
            <a:ext cx="16002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1429019" y="2323568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 = 10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5210701" y="3884645"/>
            <a:ext cx="1600200" cy="70554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5210701" y="4037045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 = 40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210701" y="3046445"/>
            <a:ext cx="1600200" cy="838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210701" y="3198845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 = 20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210701" y="2284445"/>
            <a:ext cx="16002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5210701" y="2360645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 = 10</a:t>
            </a: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2851677" y="5131937"/>
            <a:ext cx="989785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10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906607" y="5131298"/>
            <a:ext cx="916258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210701" y="5131298"/>
            <a:ext cx="906877" cy="762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30</a:t>
            </a:r>
          </a:p>
        </p:txBody>
      </p:sp>
      <p:cxnSp>
        <p:nvCxnSpPr>
          <p:cNvPr id="28" name="Straight Arrow Connector 27"/>
          <p:cNvCxnSpPr>
            <a:stCxn id="13" idx="3"/>
            <a:endCxn id="23" idx="0"/>
          </p:cNvCxnSpPr>
          <p:nvPr/>
        </p:nvCxnSpPr>
        <p:spPr>
          <a:xfrm>
            <a:off x="3029219" y="2628368"/>
            <a:ext cx="317351" cy="2503569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1"/>
          </p:cNvCxnSpPr>
          <p:nvPr/>
        </p:nvCxnSpPr>
        <p:spPr>
          <a:xfrm flipH="1">
            <a:off x="3346570" y="2665445"/>
            <a:ext cx="1864131" cy="2465853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3"/>
            <a:endCxn id="24" idx="0"/>
          </p:cNvCxnSpPr>
          <p:nvPr/>
        </p:nvCxnSpPr>
        <p:spPr>
          <a:xfrm>
            <a:off x="3029219" y="3428468"/>
            <a:ext cx="1335517" cy="170283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9" idx="3"/>
            <a:endCxn id="25" idx="0"/>
          </p:cNvCxnSpPr>
          <p:nvPr/>
        </p:nvCxnSpPr>
        <p:spPr>
          <a:xfrm>
            <a:off x="3029219" y="4200338"/>
            <a:ext cx="2634921" cy="930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0" idx="1"/>
          </p:cNvCxnSpPr>
          <p:nvPr/>
        </p:nvCxnSpPr>
        <p:spPr>
          <a:xfrm flipH="1">
            <a:off x="4358006" y="3383511"/>
            <a:ext cx="852695" cy="174778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7" idx="2"/>
            <a:endCxn id="32" idx="0"/>
          </p:cNvCxnSpPr>
          <p:nvPr/>
        </p:nvCxnSpPr>
        <p:spPr>
          <a:xfrm>
            <a:off x="6010801" y="4590185"/>
            <a:ext cx="800100" cy="5417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0347" y="1826995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Proc. A’s address 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7045" y="1821387"/>
            <a:ext cx="259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Proc. B’s address space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510782" y="2692900"/>
            <a:ext cx="1061218" cy="3535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685219" y="232988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fork()</a:t>
            </a:r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6357462" y="5131937"/>
            <a:ext cx="906877" cy="762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708522627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3150" id="{E94D436E-0DFA-ED4E-AAA2-2332FAA45A4C}" vid="{31E95165-3AAC-6A46-A69D-D6F5D51C8C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33325</TotalTime>
  <Words>4919</Words>
  <Application>Microsoft Macintosh PowerPoint</Application>
  <PresentationFormat>On-screen Show (4:3)</PresentationFormat>
  <Paragraphs>672</Paragraphs>
  <Slides>46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굴림</vt:lpstr>
      <vt:lpstr>HY견고딕</vt:lpstr>
      <vt:lpstr>Malgun Gothic</vt:lpstr>
      <vt:lpstr>Malgun Gothic</vt:lpstr>
      <vt:lpstr>ZapfDingbats</vt:lpstr>
      <vt:lpstr>Arial</vt:lpstr>
      <vt:lpstr>Calibri</vt:lpstr>
      <vt:lpstr>Courier New</vt:lpstr>
      <vt:lpstr>Helvetica Neue</vt:lpstr>
      <vt:lpstr>Monotype Sorts</vt:lpstr>
      <vt:lpstr>Times New Roman</vt:lpstr>
      <vt:lpstr>Wingdings</vt:lpstr>
      <vt:lpstr>2_양식_공청회_발표자료-총괄-양식</vt:lpstr>
      <vt:lpstr>CSCI3150 Introduction to  Operating Systems</vt:lpstr>
      <vt:lpstr>Processes</vt:lpstr>
      <vt:lpstr>Users, Programs</vt:lpstr>
      <vt:lpstr>The Process</vt:lpstr>
      <vt:lpstr>MacOS example: Activity monitor</vt:lpstr>
      <vt:lpstr>Linux example: ps</vt:lpstr>
      <vt:lpstr>Process State</vt:lpstr>
      <vt:lpstr>Questions</vt:lpstr>
      <vt:lpstr>Process State Graph</vt:lpstr>
      <vt:lpstr>Process Components</vt:lpstr>
      <vt:lpstr>Process Components (cont.)</vt:lpstr>
      <vt:lpstr>Now how about this?</vt:lpstr>
      <vt:lpstr>PowerPoint Presentation</vt:lpstr>
      <vt:lpstr>Address in a Process</vt:lpstr>
      <vt:lpstr>A Process’s Address Space</vt:lpstr>
      <vt:lpstr>Process Data Structures</vt:lpstr>
      <vt:lpstr>PCB Data Structure</vt:lpstr>
      <vt:lpstr>struct proc (Solaris)</vt:lpstr>
      <vt:lpstr>struct proc (Solaris) (2)</vt:lpstr>
      <vt:lpstr>struct proc (Solaris) (3)</vt:lpstr>
      <vt:lpstr>Context switching</vt:lpstr>
      <vt:lpstr>State Queues</vt:lpstr>
      <vt:lpstr>State Queues</vt:lpstr>
      <vt:lpstr>PCBs and State Queues</vt:lpstr>
      <vt:lpstr>Process Creation</vt:lpstr>
      <vt:lpstr>Process Creation: Windows </vt:lpstr>
      <vt:lpstr>Process Creation: Unix</vt:lpstr>
      <vt:lpstr>fork() semantics</vt:lpstr>
      <vt:lpstr>fork()</vt:lpstr>
      <vt:lpstr>PowerPoint Presentation</vt:lpstr>
      <vt:lpstr>Duplicating Address Spaces</vt:lpstr>
      <vt:lpstr>Divergence</vt:lpstr>
      <vt:lpstr>Example Continued</vt:lpstr>
      <vt:lpstr>Why fork()?</vt:lpstr>
      <vt:lpstr>How can fork return differently?</vt:lpstr>
      <vt:lpstr>Process Creation: Unix (2)</vt:lpstr>
      <vt:lpstr>Process Creation: Unix (3)</vt:lpstr>
      <vt:lpstr>PowerPoint Presentation</vt:lpstr>
      <vt:lpstr>Process Creation: fork or not?</vt:lpstr>
      <vt:lpstr>Process Termination</vt:lpstr>
      <vt:lpstr>Process Termination</vt:lpstr>
      <vt:lpstr>wait() a second…</vt:lpstr>
      <vt:lpstr>Unix Shells</vt:lpstr>
      <vt:lpstr>Process Summary</vt:lpstr>
      <vt:lpstr>Copy-On-Write</vt:lpstr>
      <vt:lpstr>Copy-On-Write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ECE344</dc:title>
  <dc:creator>apple</dc:creator>
  <cp:lastModifiedBy>Hong Xu</cp:lastModifiedBy>
  <cp:revision>384</cp:revision>
  <cp:lastPrinted>2013-01-21T18:46:22Z</cp:lastPrinted>
  <dcterms:created xsi:type="dcterms:W3CDTF">2013-01-28T03:36:18Z</dcterms:created>
  <dcterms:modified xsi:type="dcterms:W3CDTF">2026-01-14T02:39:38Z</dcterms:modified>
</cp:coreProperties>
</file>