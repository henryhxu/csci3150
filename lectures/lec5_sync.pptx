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72" r:id="rId1"/>
    <p:sldMasterId id="2147483776" r:id="rId2"/>
  </p:sldMasterIdLst>
  <p:notesMasterIdLst>
    <p:notesMasterId r:id="rId33"/>
  </p:notesMasterIdLst>
  <p:handoutMasterIdLst>
    <p:handoutMasterId r:id="rId34"/>
  </p:handoutMasterIdLst>
  <p:sldIdLst>
    <p:sldId id="2991" r:id="rId3"/>
    <p:sldId id="257" r:id="rId4"/>
    <p:sldId id="288" r:id="rId5"/>
    <p:sldId id="289" r:id="rId6"/>
    <p:sldId id="290" r:id="rId7"/>
    <p:sldId id="291" r:id="rId8"/>
    <p:sldId id="2992" r:id="rId9"/>
    <p:sldId id="293" r:id="rId10"/>
    <p:sldId id="297" r:id="rId11"/>
    <p:sldId id="298" r:id="rId12"/>
    <p:sldId id="299" r:id="rId13"/>
    <p:sldId id="300" r:id="rId14"/>
    <p:sldId id="301" r:id="rId15"/>
    <p:sldId id="302" r:id="rId16"/>
    <p:sldId id="304" r:id="rId17"/>
    <p:sldId id="305" r:id="rId18"/>
    <p:sldId id="309" r:id="rId19"/>
    <p:sldId id="310" r:id="rId20"/>
    <p:sldId id="311" r:id="rId21"/>
    <p:sldId id="312" r:id="rId22"/>
    <p:sldId id="313" r:id="rId23"/>
    <p:sldId id="314" r:id="rId24"/>
    <p:sldId id="315" r:id="rId25"/>
    <p:sldId id="316" r:id="rId26"/>
    <p:sldId id="317" r:id="rId27"/>
    <p:sldId id="318" r:id="rId28"/>
    <p:sldId id="323" r:id="rId29"/>
    <p:sldId id="322" r:id="rId30"/>
    <p:sldId id="319" r:id="rId31"/>
    <p:sldId id="324" r:id="rId3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clrMode="gray" frameSlides="1"/>
  <p:clrMru>
    <a:srgbClr val="A3ABFF"/>
    <a:srgbClr val="567CFF"/>
    <a:srgbClr val="FFFA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61"/>
    <p:restoredTop sz="96327" autoAdjust="0"/>
  </p:normalViewPr>
  <p:slideViewPr>
    <p:cSldViewPr snapToGrid="0" snapToObjects="1">
      <p:cViewPr varScale="1">
        <p:scale>
          <a:sx n="127" d="100"/>
          <a:sy n="127" d="100"/>
        </p:scale>
        <p:origin x="2128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85FA19-4AE7-394C-8E06-B4A0FB3E5AA8}" type="datetimeFigureOut">
              <a:rPr lang="en-US" smtClean="0"/>
              <a:pPr/>
              <a:t>1/21/26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63C84F-422D-1049-B727-5B751ACDABC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2815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6991A4-6061-8E40-B3BF-9224535D7C20}" type="datetimeFigureOut">
              <a:rPr lang="en-US" smtClean="0"/>
              <a:pPr/>
              <a:t>1/21/26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639927-3662-3B4E-89DF-65C239F3E8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38770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39927-3662-3B4E-89DF-65C239F3E8BD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9048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39927-3662-3B4E-89DF-65C239F3E8BD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9907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Arial" pitchFamily="-109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Arial" pitchFamily="-109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-109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-109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Arial" pitchFamily="-109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Arial" pitchFamily="-109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-109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Arial" pitchFamily="-109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-109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-109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-109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Arial" pitchFamily="-109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Arial" pitchFamily="-109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-109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B93925B-38E1-AF43-A4D3-45BDD5444FE0}" type="slidenum">
              <a:rPr lang="en-US"/>
              <a:pPr/>
              <a:t>24</a:t>
            </a:fld>
            <a:endParaRPr lang="en-US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Arial" pitchFamily="-109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-109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-109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Arial" pitchFamily="-109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-109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39927-3662-3B4E-89DF-65C239F3E8BD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enryhxu/CSCI3150" TargetMode="External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14313" y="64880"/>
            <a:ext cx="8786812" cy="585787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501258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1pPr>
            <a:lvl2pPr latinLnBrk="0"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GB" altLang="ko-KR"/>
              <a:t>Click to edit Master text styles</a:t>
            </a:r>
          </a:p>
          <a:p>
            <a:pPr lvl="1"/>
            <a:r>
              <a:rPr lang="en-GB" altLang="ko-KR"/>
              <a:t>Second level</a:t>
            </a:r>
          </a:p>
          <a:p>
            <a:pPr lvl="2"/>
            <a:r>
              <a:rPr lang="en-GB" altLang="ko-KR"/>
              <a:t>Third level</a:t>
            </a:r>
          </a:p>
          <a:p>
            <a:pPr lvl="3"/>
            <a:r>
              <a:rPr lang="en-GB" altLang="ko-KR"/>
              <a:t>Fourth level</a:t>
            </a:r>
          </a:p>
          <a:p>
            <a:pPr lvl="4"/>
            <a:r>
              <a:rPr lang="en-GB" altLang="ko-KR"/>
              <a:t>Fifth level</a:t>
            </a:r>
            <a:endParaRPr lang="ko-KR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5BCC3F0E-9362-6D47-9781-DB401EE9B6B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en-US"/>
              <a:t>CSCI 3150</a:t>
            </a:r>
          </a:p>
        </p:txBody>
      </p:sp>
    </p:spTree>
    <p:extLst>
      <p:ext uri="{BB962C8B-B14F-4D97-AF65-F5344CB8AC3E}">
        <p14:creationId xmlns:p14="http://schemas.microsoft.com/office/powerpoint/2010/main" val="138753714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HK"/>
              <a:t>Jan 31, 2013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CSCI 3150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C3F0E-9362-6D47-9781-DB401EE9B6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631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altLang="ko-KR"/>
              <a:t>Click to edit Master subtitle style</a:t>
            </a:r>
            <a:endParaRPr lang="ko-KR" altLang="en-US" dirty="0"/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/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lang="ko-KR" altLang="en-US" sz="4000" b="1" dirty="0">
                <a:solidFill>
                  <a:schemeClr val="accent1">
                    <a:lumMod val="75000"/>
                  </a:schemeClr>
                </a:solidFill>
                <a:latin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grpSp>
        <p:nvGrpSpPr>
          <p:cNvPr id="36" name="그룹 35"/>
          <p:cNvGrpSpPr/>
          <p:nvPr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/>
        </p:nvSpPr>
        <p:spPr>
          <a:xfrm>
            <a:off x="3344285" y="5517232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Hong</a:t>
            </a:r>
            <a:r>
              <a:rPr kumimoji="1" lang="zh-CN" altLang="en-US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Xu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A47015-6912-00BC-B289-2ACFBCCB2E9B}"/>
              </a:ext>
            </a:extLst>
          </p:cNvPr>
          <p:cNvSpPr txBox="1"/>
          <p:nvPr/>
        </p:nvSpPr>
        <p:spPr>
          <a:xfrm>
            <a:off x="2351994" y="6048603"/>
            <a:ext cx="4432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Malgun Gothic" panose="020B0503020000020004" pitchFamily="34" charset="-127"/>
                <a:ea typeface="Malgun Gothic" panose="020B0503020000020004" pitchFamily="34" charset="-127"/>
                <a:hlinkClick r:id="rId2"/>
              </a:rPr>
              <a:t>https://github.com/henryhxu/CSCI3150</a:t>
            </a:r>
            <a:endParaRPr lang="en-US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1776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501258"/>
          </a:xfrm>
        </p:spPr>
        <p:txBody>
          <a:bodyPr lIns="90000"/>
          <a:lstStyle>
            <a:lvl1pPr latinLnBrk="0"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1pPr>
            <a:lvl2pPr latinLnBrk="0"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GB" altLang="ko-KR"/>
              <a:t>Click to edit Master text styles</a:t>
            </a:r>
          </a:p>
          <a:p>
            <a:pPr lvl="1"/>
            <a:r>
              <a:rPr lang="en-GB" altLang="ko-KR"/>
              <a:t>Second level</a:t>
            </a:r>
          </a:p>
          <a:p>
            <a:pPr lvl="2"/>
            <a:r>
              <a:rPr lang="en-GB" altLang="ko-KR"/>
              <a:t>Third level</a:t>
            </a:r>
          </a:p>
          <a:p>
            <a:pPr lvl="3"/>
            <a:r>
              <a:rPr lang="en-GB" altLang="ko-KR"/>
              <a:t>Fourth level</a:t>
            </a:r>
          </a:p>
          <a:p>
            <a:pPr lvl="4"/>
            <a:r>
              <a:rPr lang="en-GB" altLang="ko-KR"/>
              <a:t>Fifth level</a:t>
            </a:r>
            <a:endParaRPr lang="ko-KR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3390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GB" altLang="ko-KR"/>
              <a:t>Click to edit Master text styles</a:t>
            </a:r>
          </a:p>
        </p:txBody>
      </p:sp>
      <p:cxnSp>
        <p:nvCxnSpPr>
          <p:cNvPr id="9" name="직선 연결선 8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4688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611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00938" y="6562725"/>
            <a:ext cx="10715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fld id="{5BCC3F0E-9362-6D47-9781-DB401EE9B6B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59550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1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en-US"/>
              <a:t>CSCI 3150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8065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5" r:id="rId2"/>
  </p:sldLayoutIdLst>
  <p:hf hd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611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ko-KR" altLang="en-US" dirty="0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00938" y="6562725"/>
            <a:ext cx="10715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fld id="{5BCC3F0E-9362-6D47-9781-DB401EE9B6B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59550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1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en-US"/>
              <a:t>CSCI3150 Intro to Operating Systems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4610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</p:sldLayoutIdLst>
  <p:hf hd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1" fontAlgn="base" latinLnBrk="0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683568" y="1484786"/>
            <a:ext cx="7772400" cy="1326009"/>
          </a:xfrm>
        </p:spPr>
        <p:txBody>
          <a:bodyPr/>
          <a:lstStyle/>
          <a:p>
            <a:pPr latinLnBrk="0"/>
            <a:r>
              <a:rPr lang="en-US" altLang="zh-CN" sz="3600" dirty="0"/>
              <a:t>CSCI3150</a:t>
            </a:r>
            <a:r>
              <a:rPr lang="zh-CN" altLang="en-US" sz="3600" dirty="0"/>
              <a:t> </a:t>
            </a:r>
            <a:r>
              <a:rPr lang="en-US" altLang="zh-CN" sz="3600" dirty="0"/>
              <a:t>Introduction</a:t>
            </a:r>
            <a:r>
              <a:rPr lang="zh-CN" altLang="en-US" sz="3600" dirty="0"/>
              <a:t> </a:t>
            </a:r>
            <a:r>
              <a:rPr lang="en-US" altLang="zh-CN" sz="3600" dirty="0"/>
              <a:t>to</a:t>
            </a:r>
            <a:r>
              <a:rPr lang="zh-CN" altLang="en-US" sz="3600" dirty="0"/>
              <a:t> </a:t>
            </a:r>
            <a:r>
              <a:rPr lang="en-US" sz="3600" dirty="0"/>
              <a:t>Operating Systems</a:t>
            </a:r>
            <a:endParaRPr lang="en-US" sz="1600" b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BF8FA8-3607-FC4B-303A-4C5A91BC53F8}"/>
              </a:ext>
            </a:extLst>
          </p:cNvPr>
          <p:cNvSpPr txBox="1"/>
          <p:nvPr/>
        </p:nvSpPr>
        <p:spPr>
          <a:xfrm>
            <a:off x="683568" y="3933058"/>
            <a:ext cx="7772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Lecture </a:t>
            </a:r>
            <a:r>
              <a:rPr lang="en-US" altLang="zh-CN" sz="3600" dirty="0">
                <a:solidFill>
                  <a:prstClr val="black"/>
                </a:solidFill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5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: </a:t>
            </a:r>
            <a:r>
              <a:rPr lang="en-HK" sz="3600" dirty="0">
                <a:solidFill>
                  <a:prstClr val="black"/>
                </a:solidFill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Synch</a:t>
            </a:r>
            <a:r>
              <a:rPr lang="en-US" altLang="zh-CN" sz="3600" dirty="0" err="1">
                <a:solidFill>
                  <a:prstClr val="black"/>
                </a:solidFill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ronization</a:t>
            </a:r>
            <a:r>
              <a:rPr lang="zh-CN" altLang="en-US" sz="3600" dirty="0">
                <a:solidFill>
                  <a:prstClr val="black"/>
                </a:solidFill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solidFill>
                  <a:prstClr val="black"/>
                </a:solidFill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1: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Critical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 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Region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 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and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 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Lock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4308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Synchronization: why?</a:t>
            </a:r>
          </a:p>
        </p:txBody>
      </p:sp>
      <p:sp>
        <p:nvSpPr>
          <p:cNvPr id="4102" name="Rectangle 1027"/>
          <p:cNvSpPr>
            <a:spLocks noGrp="1" noChangeArrowheads="1"/>
          </p:cNvSpPr>
          <p:nvPr>
            <p:ph idx="1"/>
          </p:nvPr>
        </p:nvSpPr>
        <p:spPr>
          <a:xfrm>
            <a:off x="215999" y="878400"/>
            <a:ext cx="8659643" cy="1570295"/>
          </a:xfrm>
        </p:spPr>
        <p:txBody>
          <a:bodyPr>
            <a:noAutofit/>
          </a:bodyPr>
          <a:lstStyle/>
          <a:p>
            <a:pPr latinLnBrk="0"/>
            <a:r>
              <a:rPr lang="en-US" dirty="0"/>
              <a:t>A computer has </a:t>
            </a:r>
            <a:r>
              <a:rPr lang="en-US" altLang="zh-CN" dirty="0"/>
              <a:t>many</a:t>
            </a:r>
            <a:r>
              <a:rPr lang="en-US" dirty="0"/>
              <a:t> processes; each process ha</a:t>
            </a:r>
            <a:r>
              <a:rPr lang="en-US" altLang="zh-CN" dirty="0"/>
              <a:t>s</a:t>
            </a:r>
            <a:r>
              <a:rPr lang="en-US" dirty="0"/>
              <a:t> multiple threads</a:t>
            </a:r>
          </a:p>
        </p:txBody>
      </p:sp>
      <p:sp>
        <p:nvSpPr>
          <p:cNvPr id="4100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066DA2EF-3528-8440-ACF1-F5E597EF1C08}" type="slidenum">
              <a:rPr lang="en-US"/>
              <a:pPr/>
              <a:t>2</a:t>
            </a:fld>
            <a:endParaRPr lang="en-US"/>
          </a:p>
        </p:txBody>
      </p:sp>
      <p:sp>
        <p:nvSpPr>
          <p:cNvPr id="4099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 3150</a:t>
            </a:r>
            <a:endParaRPr lang="en-US" sz="1400" b="0">
              <a:latin typeface="Times New Roman" pitchFamily="-109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1732981" y="1947551"/>
            <a:ext cx="1494118" cy="1165412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Curved Connector 8"/>
          <p:cNvCxnSpPr/>
          <p:nvPr/>
        </p:nvCxnSpPr>
        <p:spPr>
          <a:xfrm rot="16200000" flipH="1">
            <a:off x="1792765" y="2455549"/>
            <a:ext cx="747062" cy="268940"/>
          </a:xfrm>
          <a:prstGeom prst="curved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urved Connector 9"/>
          <p:cNvCxnSpPr/>
          <p:nvPr/>
        </p:nvCxnSpPr>
        <p:spPr>
          <a:xfrm rot="16200000" flipH="1">
            <a:off x="2040786" y="2476467"/>
            <a:ext cx="747062" cy="227104"/>
          </a:xfrm>
          <a:prstGeom prst="curved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urved Connector 10"/>
          <p:cNvCxnSpPr/>
          <p:nvPr/>
        </p:nvCxnSpPr>
        <p:spPr>
          <a:xfrm rot="16200000" flipH="1">
            <a:off x="2267893" y="2434632"/>
            <a:ext cx="788894" cy="268942"/>
          </a:xfrm>
          <a:prstGeom prst="curved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rot="10800000" flipV="1">
            <a:off x="2796813" y="2174655"/>
            <a:ext cx="430289" cy="34066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182278" y="1935600"/>
            <a:ext cx="12751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Threads</a:t>
            </a:r>
            <a:endParaRPr lang="en-US" sz="28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cxnSp>
        <p:nvCxnSpPr>
          <p:cNvPr id="32" name="Straight Arrow Connector 31"/>
          <p:cNvCxnSpPr/>
          <p:nvPr/>
        </p:nvCxnSpPr>
        <p:spPr>
          <a:xfrm rot="10800000">
            <a:off x="2796814" y="3112963"/>
            <a:ext cx="600610" cy="2988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334678" y="3112963"/>
            <a:ext cx="12270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Process</a:t>
            </a:r>
          </a:p>
        </p:txBody>
      </p:sp>
      <p:sp>
        <p:nvSpPr>
          <p:cNvPr id="37" name="Oval 36"/>
          <p:cNvSpPr/>
          <p:nvPr/>
        </p:nvSpPr>
        <p:spPr>
          <a:xfrm>
            <a:off x="4504577" y="1905718"/>
            <a:ext cx="1494118" cy="1165412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Curved Connector 37"/>
          <p:cNvCxnSpPr/>
          <p:nvPr/>
        </p:nvCxnSpPr>
        <p:spPr>
          <a:xfrm rot="16200000" flipH="1">
            <a:off x="4564361" y="2413716"/>
            <a:ext cx="747062" cy="268940"/>
          </a:xfrm>
          <a:prstGeom prst="curved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urved Connector 38"/>
          <p:cNvCxnSpPr/>
          <p:nvPr/>
        </p:nvCxnSpPr>
        <p:spPr>
          <a:xfrm rot="16200000" flipH="1">
            <a:off x="4812382" y="2434634"/>
            <a:ext cx="747062" cy="227104"/>
          </a:xfrm>
          <a:prstGeom prst="curved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urved Connector 39"/>
          <p:cNvCxnSpPr/>
          <p:nvPr/>
        </p:nvCxnSpPr>
        <p:spPr>
          <a:xfrm rot="16200000" flipH="1">
            <a:off x="5039489" y="2392799"/>
            <a:ext cx="788894" cy="268942"/>
          </a:xfrm>
          <a:prstGeom prst="curved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6330369" y="1893767"/>
            <a:ext cx="1494118" cy="1165412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Curved Connector 45"/>
          <p:cNvCxnSpPr/>
          <p:nvPr/>
        </p:nvCxnSpPr>
        <p:spPr>
          <a:xfrm rot="16200000" flipH="1">
            <a:off x="6390153" y="2401765"/>
            <a:ext cx="747062" cy="268940"/>
          </a:xfrm>
          <a:prstGeom prst="curved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urved Connector 46"/>
          <p:cNvCxnSpPr/>
          <p:nvPr/>
        </p:nvCxnSpPr>
        <p:spPr>
          <a:xfrm rot="16200000" flipH="1">
            <a:off x="6638174" y="2422683"/>
            <a:ext cx="747062" cy="227104"/>
          </a:xfrm>
          <a:prstGeom prst="curved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urved Connector 47"/>
          <p:cNvCxnSpPr/>
          <p:nvPr/>
        </p:nvCxnSpPr>
        <p:spPr>
          <a:xfrm rot="16200000" flipH="1">
            <a:off x="6865281" y="2380848"/>
            <a:ext cx="788894" cy="268942"/>
          </a:xfrm>
          <a:prstGeom prst="curved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1079211" y="3576216"/>
            <a:ext cx="7093417" cy="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81334" y="2216488"/>
            <a:ext cx="9689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66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User</a:t>
            </a:r>
          </a:p>
          <a:p>
            <a:r>
              <a:rPr lang="en-US" sz="2400" dirty="0">
                <a:solidFill>
                  <a:srgbClr val="FF66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space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45622" y="3685840"/>
            <a:ext cx="18538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6600"/>
                </a:solidFill>
              </a:rPr>
              <a:t>Kernel space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5C02717-C0FC-D807-BBAA-5BC35DF023C9}"/>
              </a:ext>
            </a:extLst>
          </p:cNvPr>
          <p:cNvSpPr txBox="1">
            <a:spLocks/>
          </p:cNvSpPr>
          <p:nvPr/>
        </p:nvSpPr>
        <p:spPr bwMode="auto">
          <a:xfrm>
            <a:off x="289658" y="4582781"/>
            <a:ext cx="8421146" cy="13758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latinLnBrk="1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"/>
              <a:defRPr kumimoji="1" sz="2000" b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1pPr>
            <a:lvl2pPr marL="742950" indent="-285750" algn="l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100000"/>
              <a:buFont typeface="Wingdings" pitchFamily="2" charset="2"/>
              <a:buChar char=""/>
              <a:defRPr kumimoji="1" sz="18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2pPr>
            <a:lvl3pPr marL="1143000" indent="-228600" algn="l" rtl="0" eaLnBrk="1" fontAlgn="base" latinLnBrk="1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"/>
              <a:defRPr kumimoji="1" sz="16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3pPr>
            <a:lvl4pPr marL="1600200" indent="-228600" algn="l" rtl="0" eaLnBrk="1" fontAlgn="base" latinLnBrk="1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"/>
              <a:defRPr kumimoji="1" sz="14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4pPr>
            <a:lvl5pPr marL="2057400" indent="-228600" algn="l" rtl="0" eaLnBrk="1" fontAlgn="base" latinLnBrk="1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itchFamily="2" charset="2"/>
              <a:buChar char=""/>
              <a:defRPr kumimoji="1" sz="14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dirty="0"/>
              <a:t>Threads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access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the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shared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data</a:t>
            </a:r>
            <a:r>
              <a:rPr lang="en-US" altLang="zh-CN" dirty="0"/>
              <a:t>!</a:t>
            </a:r>
          </a:p>
          <a:p>
            <a:pPr lvl="1"/>
            <a:r>
              <a:rPr lang="en-US" dirty="0"/>
              <a:t>Need proper sequencing</a:t>
            </a:r>
          </a:p>
          <a:p>
            <a:r>
              <a:rPr lang="en-US" dirty="0"/>
              <a:t>Analogy: two people talking at the same time</a:t>
            </a:r>
            <a:endParaRPr lang="en-US" altLang="zh-CN" kern="0" dirty="0"/>
          </a:p>
          <a:p>
            <a:endParaRPr lang="en-US" kern="0" dirty="0">
              <a:solidFill>
                <a:srgbClr val="FF66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simple game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6000" y="878400"/>
            <a:ext cx="8629826" cy="4939218"/>
          </a:xfrm>
        </p:spPr>
        <p:txBody>
          <a:bodyPr>
            <a:noAutofit/>
          </a:bodyPr>
          <a:lstStyle/>
          <a:p>
            <a:r>
              <a:rPr lang="en-US" dirty="0"/>
              <a:t>Two volunteers to play two threads</a:t>
            </a:r>
          </a:p>
          <a:p>
            <a:pPr lvl="1"/>
            <a:r>
              <a:rPr lang="en-US" dirty="0"/>
              <a:t>Producer: produce 1 </a:t>
            </a:r>
            <a:r>
              <a:rPr lang="en-US" altLang="zh-CN" dirty="0"/>
              <a:t>cookie</a:t>
            </a:r>
            <a:r>
              <a:rPr lang="zh-CN" altLang="en-US" dirty="0"/>
              <a:t> </a:t>
            </a:r>
            <a:r>
              <a:rPr lang="en-US" dirty="0"/>
              <a:t>per iteration</a:t>
            </a:r>
          </a:p>
          <a:p>
            <a:pPr lvl="2"/>
            <a:r>
              <a:rPr lang="en-US" dirty="0"/>
              <a:t>Step1: increment the counter on the board</a:t>
            </a:r>
          </a:p>
          <a:p>
            <a:pPr lvl="2"/>
            <a:r>
              <a:rPr lang="en-US" dirty="0"/>
              <a:t>Step2: put one </a:t>
            </a:r>
            <a:r>
              <a:rPr lang="en-US" altLang="zh-CN" dirty="0"/>
              <a:t>cookie</a:t>
            </a:r>
            <a:r>
              <a:rPr lang="zh-CN" altLang="en-US" dirty="0"/>
              <a:t> </a:t>
            </a:r>
            <a:r>
              <a:rPr lang="en-US" dirty="0"/>
              <a:t>on the table</a:t>
            </a:r>
          </a:p>
          <a:p>
            <a:pPr lvl="1"/>
            <a:r>
              <a:rPr lang="en-US" dirty="0"/>
              <a:t>Consumer: </a:t>
            </a:r>
          </a:p>
          <a:p>
            <a:pPr lvl="2"/>
            <a:r>
              <a:rPr lang="en-US" dirty="0"/>
              <a:t>Step1: read </a:t>
            </a:r>
            <a:r>
              <a:rPr lang="en-US" altLang="zh-CN" dirty="0"/>
              <a:t>out</a:t>
            </a:r>
            <a:r>
              <a:rPr lang="zh-CN" altLang="en-US" dirty="0"/>
              <a:t> </a:t>
            </a:r>
            <a:r>
              <a:rPr lang="en-US" dirty="0"/>
              <a:t>the counter LOUD</a:t>
            </a:r>
            <a:r>
              <a:rPr lang="en-US" altLang="zh-CN" dirty="0"/>
              <a:t>LY</a:t>
            </a:r>
            <a:endParaRPr lang="en-US" dirty="0"/>
          </a:p>
          <a:p>
            <a:pPr lvl="2"/>
            <a:r>
              <a:rPr lang="en-US" dirty="0"/>
              <a:t>Step2a: if the counter is zero, go back to step1</a:t>
            </a:r>
          </a:p>
          <a:p>
            <a:pPr lvl="2"/>
            <a:r>
              <a:rPr lang="en-US" dirty="0"/>
              <a:t>Step2b: if the counter is nonzero, take a </a:t>
            </a:r>
            <a:r>
              <a:rPr lang="en-US" altLang="zh-CN" dirty="0"/>
              <a:t>cookie</a:t>
            </a:r>
            <a:r>
              <a:rPr lang="en-US" dirty="0"/>
              <a:t> from the table</a:t>
            </a:r>
          </a:p>
          <a:p>
            <a:pPr lvl="2"/>
            <a:r>
              <a:rPr lang="en-US" dirty="0"/>
              <a:t>Step 3: decrement counter on the board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Rule: only one should “operate” at any time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You are the OS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decide 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when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to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context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switch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1"/>
            <a:r>
              <a:rPr lang="en-US" dirty="0">
                <a:solidFill>
                  <a:srgbClr val="FF6600"/>
                </a:solidFill>
              </a:rPr>
              <a:t>Can you get them into “trouble” before </a:t>
            </a:r>
            <a:r>
              <a:rPr lang="en-US" altLang="zh-CN" dirty="0">
                <a:solidFill>
                  <a:srgbClr val="FF6600"/>
                </a:solidFill>
              </a:rPr>
              <a:t>cookie</a:t>
            </a:r>
            <a:r>
              <a:rPr lang="en-US" dirty="0">
                <a:solidFill>
                  <a:srgbClr val="FF6600"/>
                </a:solidFill>
              </a:rPr>
              <a:t>s run out?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CC3F0E-9362-6D47-9781-DB401EE9B6B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CSCI 3150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simple game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6000" y="878400"/>
            <a:ext cx="7677710" cy="4242697"/>
          </a:xfrm>
        </p:spPr>
        <p:txBody>
          <a:bodyPr/>
          <a:lstStyle/>
          <a:p>
            <a:endParaRPr lang="en-US" dirty="0"/>
          </a:p>
          <a:p>
            <a:pPr lvl="1"/>
            <a:r>
              <a:rPr lang="en-US" dirty="0"/>
              <a:t>Producer: produce 1 cookie per iteration</a:t>
            </a:r>
          </a:p>
          <a:p>
            <a:pPr lvl="2"/>
            <a:r>
              <a:rPr lang="en-US" dirty="0"/>
              <a:t>Step1: increment the counter on the board</a:t>
            </a:r>
          </a:p>
          <a:p>
            <a:pPr lvl="2"/>
            <a:r>
              <a:rPr lang="en-US" dirty="0"/>
              <a:t>Step2: put one </a:t>
            </a:r>
            <a:r>
              <a:rPr lang="en-US" altLang="zh-CN" dirty="0"/>
              <a:t>cookie</a:t>
            </a:r>
            <a:r>
              <a:rPr lang="zh-CN" altLang="en-US" dirty="0"/>
              <a:t> </a:t>
            </a:r>
            <a:r>
              <a:rPr lang="en-US" dirty="0"/>
              <a:t>on the table</a:t>
            </a:r>
          </a:p>
          <a:p>
            <a:pPr lvl="1"/>
            <a:r>
              <a:rPr lang="en-US" dirty="0"/>
              <a:t>Consumer: </a:t>
            </a:r>
          </a:p>
          <a:p>
            <a:pPr lvl="2"/>
            <a:r>
              <a:rPr lang="en-US" dirty="0"/>
              <a:t>Step1: read </a:t>
            </a:r>
            <a:r>
              <a:rPr lang="en-US" altLang="zh-CN" dirty="0"/>
              <a:t>out</a:t>
            </a:r>
            <a:r>
              <a:rPr lang="zh-CN" altLang="en-US" dirty="0"/>
              <a:t> </a:t>
            </a:r>
            <a:r>
              <a:rPr lang="en-US" dirty="0"/>
              <a:t>the counter LOUD</a:t>
            </a:r>
          </a:p>
          <a:p>
            <a:pPr lvl="2"/>
            <a:r>
              <a:rPr lang="en-US" dirty="0"/>
              <a:t>Step2a: if the counter is zero, go back to step1</a:t>
            </a:r>
          </a:p>
          <a:p>
            <a:pPr lvl="2"/>
            <a:r>
              <a:rPr lang="en-US" dirty="0"/>
              <a:t>Step2b: if the counter is nonzero, take a cookie from the table</a:t>
            </a:r>
          </a:p>
          <a:p>
            <a:pPr lvl="2"/>
            <a:r>
              <a:rPr lang="en-US" dirty="0"/>
              <a:t>Step 3: decrement counter on the board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CC3F0E-9362-6D47-9781-DB401EE9B6B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CSCI 3150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5130825" y="1937581"/>
            <a:ext cx="3974972" cy="769441"/>
            <a:chOff x="5050126" y="2723044"/>
            <a:chExt cx="3974972" cy="769441"/>
          </a:xfrm>
        </p:grpSpPr>
        <p:cxnSp>
          <p:nvCxnSpPr>
            <p:cNvPr id="8" name="Straight Arrow Connector 7"/>
            <p:cNvCxnSpPr/>
            <p:nvPr/>
          </p:nvCxnSpPr>
          <p:spPr>
            <a:xfrm rot="10800000">
              <a:off x="5050126" y="3106176"/>
              <a:ext cx="1222487" cy="1588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6272613" y="2723044"/>
              <a:ext cx="2752485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i="1" dirty="0">
                  <a:solidFill>
                    <a:srgbClr val="FF6600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Switch to consumer,</a:t>
              </a:r>
            </a:p>
            <a:p>
              <a:r>
                <a:rPr lang="en-US" sz="2200" i="1" dirty="0">
                  <a:solidFill>
                    <a:srgbClr val="FF6600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what will happen?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5290991" y="4420158"/>
            <a:ext cx="3544714" cy="769441"/>
            <a:chOff x="5050127" y="3106176"/>
            <a:chExt cx="3544714" cy="769441"/>
          </a:xfrm>
        </p:grpSpPr>
        <p:cxnSp>
          <p:nvCxnSpPr>
            <p:cNvPr id="13" name="Straight Arrow Connector 12"/>
            <p:cNvCxnSpPr/>
            <p:nvPr/>
          </p:nvCxnSpPr>
          <p:spPr>
            <a:xfrm rot="10800000">
              <a:off x="5050127" y="3106176"/>
              <a:ext cx="890782" cy="244584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5940909" y="3106176"/>
              <a:ext cx="2653932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i="1" dirty="0">
                  <a:solidFill>
                    <a:srgbClr val="FF6600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Switch to producer,</a:t>
              </a:r>
            </a:p>
            <a:p>
              <a:r>
                <a:rPr lang="en-US" sz="2200" i="1" dirty="0">
                  <a:solidFill>
                    <a:srgbClr val="FF6600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what will happen?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races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0"/>
            <a:r>
              <a:rPr lang="en-US" dirty="0"/>
              <a:t>Why are we having this problem?</a:t>
            </a:r>
          </a:p>
          <a:p>
            <a:pPr latinLnBrk="0"/>
            <a:r>
              <a:rPr lang="en-US" dirty="0"/>
              <a:t>Reason: </a:t>
            </a:r>
          </a:p>
          <a:p>
            <a:pPr lvl="1"/>
            <a:r>
              <a:rPr lang="en-US" dirty="0"/>
              <a:t>concurrency</a:t>
            </a:r>
          </a:p>
          <a:p>
            <a:pPr lvl="1"/>
            <a:r>
              <a:rPr lang="en-US" dirty="0"/>
              <a:t>data sharing</a:t>
            </a:r>
          </a:p>
          <a:p>
            <a:pPr latinLnBrk="0"/>
            <a:r>
              <a:rPr lang="en-US" dirty="0"/>
              <a:t>What are shared in this game?</a:t>
            </a:r>
          </a:p>
          <a:p>
            <a:pPr lvl="1"/>
            <a:r>
              <a:rPr lang="en-US" dirty="0"/>
              <a:t>the counter</a:t>
            </a:r>
          </a:p>
          <a:p>
            <a:pPr lvl="1"/>
            <a:r>
              <a:rPr lang="en-US" dirty="0"/>
              <a:t>the cookie</a:t>
            </a:r>
          </a:p>
          <a:p>
            <a:pPr latinLnBrk="0"/>
            <a:r>
              <a:rPr lang="en-US" dirty="0"/>
              <a:t>A </a:t>
            </a:r>
            <a:r>
              <a:rPr lang="en-US" i="1" dirty="0">
                <a:solidFill>
                  <a:srgbClr val="C00000"/>
                </a:solidFill>
              </a:rPr>
              <a:t>race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dirty="0"/>
              <a:t>occurs when </a:t>
            </a:r>
            <a:r>
              <a:rPr lang="en-US" dirty="0">
                <a:solidFill>
                  <a:srgbClr val="0000FF"/>
                </a:solidFill>
              </a:rPr>
              <a:t>correctness</a:t>
            </a:r>
            <a:r>
              <a:rPr lang="en-US" dirty="0"/>
              <a:t> of the program depends on one thread reaching point x before another thread reaches point 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CC3F0E-9362-6D47-9781-DB401EE9B6B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CSCI 3150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Shared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6000" y="878400"/>
            <a:ext cx="8689461" cy="5065200"/>
          </a:xfrm>
        </p:spPr>
        <p:txBody>
          <a:bodyPr/>
          <a:lstStyle/>
          <a:p>
            <a:pPr latinLnBrk="0"/>
            <a:r>
              <a:rPr lang="en-US" dirty="0"/>
              <a:t>The problem is that two concurrent threads (or processes) access </a:t>
            </a:r>
            <a:r>
              <a:rPr lang="en-US" dirty="0">
                <a:solidFill>
                  <a:srgbClr val="FF0000"/>
                </a:solidFill>
              </a:rPr>
              <a:t>shared resources</a:t>
            </a:r>
            <a:r>
              <a:rPr lang="en-US" dirty="0"/>
              <a:t> without </a:t>
            </a:r>
            <a:r>
              <a:rPr lang="en-US" dirty="0">
                <a:solidFill>
                  <a:srgbClr val="0000FF"/>
                </a:solidFill>
              </a:rPr>
              <a:t>synchronization (i.e. coordination)</a:t>
            </a:r>
          </a:p>
          <a:p>
            <a:pPr lvl="1"/>
            <a:r>
              <a:rPr lang="en-US" dirty="0"/>
              <a:t>Known as a </a:t>
            </a:r>
            <a:r>
              <a:rPr lang="en-US" dirty="0">
                <a:solidFill>
                  <a:srgbClr val="0000FF"/>
                </a:solidFill>
              </a:rPr>
              <a:t>race condition </a:t>
            </a:r>
            <a:r>
              <a:rPr lang="en-US" dirty="0"/>
              <a:t>(memorize this)</a:t>
            </a:r>
          </a:p>
          <a:p>
            <a:pPr latinLnBrk="0"/>
            <a:r>
              <a:rPr lang="en-US" dirty="0"/>
              <a:t>We need mechanisms to control access to shared resources in face of concurrency</a:t>
            </a:r>
          </a:p>
          <a:p>
            <a:pPr lvl="1"/>
            <a:r>
              <a:rPr lang="en-US" dirty="0"/>
              <a:t>So we can reason about how the program will operate</a:t>
            </a:r>
          </a:p>
          <a:p>
            <a:pPr latinLnBrk="0"/>
            <a:r>
              <a:rPr lang="en-US" dirty="0">
                <a:solidFill>
                  <a:srgbClr val="FF0000"/>
                </a:solidFill>
              </a:rPr>
              <a:t>Shared data structures</a:t>
            </a:r>
          </a:p>
          <a:p>
            <a:pPr lvl="1"/>
            <a:r>
              <a:rPr lang="en-US" dirty="0"/>
              <a:t>Buffers, queues, lists, hash tables, etc.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CC3F0E-9362-6D47-9781-DB401EE9B6B9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CSCI 3150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When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resources</a:t>
            </a:r>
            <a:r>
              <a:rPr lang="zh-CN" altLang="en-US" dirty="0"/>
              <a:t> </a:t>
            </a:r>
            <a:r>
              <a:rPr lang="en-US" altLang="zh-CN" dirty="0"/>
              <a:t>shared?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6000" y="878400"/>
            <a:ext cx="8689461" cy="5065200"/>
          </a:xfrm>
        </p:spPr>
        <p:txBody>
          <a:bodyPr/>
          <a:lstStyle/>
          <a:p>
            <a:pPr latinLnBrk="0"/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CC3F0E-9362-6D47-9781-DB401EE9B6B9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CSCI 3150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3881E7-1D45-1576-5ED7-BA6B011410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481" y="1436122"/>
            <a:ext cx="6920475" cy="4025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340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6000" y="878400"/>
            <a:ext cx="8609948" cy="5075139"/>
          </a:xfrm>
        </p:spPr>
        <p:txBody>
          <a:bodyPr lIns="90000">
            <a:noAutofit/>
          </a:bodyPr>
          <a:lstStyle/>
          <a:p>
            <a:r>
              <a:rPr lang="en-US" dirty="0"/>
              <a:t>Local variables are </a:t>
            </a:r>
            <a:r>
              <a:rPr lang="en-US" dirty="0">
                <a:solidFill>
                  <a:srgbClr val="0000FF"/>
                </a:solidFill>
              </a:rPr>
              <a:t>not shared </a:t>
            </a:r>
            <a:r>
              <a:rPr lang="en-US" dirty="0"/>
              <a:t>(private)</a:t>
            </a:r>
          </a:p>
          <a:p>
            <a:pPr lvl="1"/>
            <a:r>
              <a:rPr lang="en-US" altLang="zh-CN" dirty="0"/>
              <a:t>Live</a:t>
            </a:r>
            <a:r>
              <a:rPr lang="en-US" dirty="0"/>
              <a:t> </a:t>
            </a:r>
            <a:r>
              <a:rPr lang="en-US" altLang="zh-CN" dirty="0"/>
              <a:t>o</a:t>
            </a:r>
            <a:r>
              <a:rPr lang="en-US" dirty="0"/>
              <a:t>n the stack</a:t>
            </a:r>
          </a:p>
          <a:p>
            <a:pPr lvl="1"/>
            <a:r>
              <a:rPr lang="en-US" dirty="0"/>
              <a:t>Each thread has its own stack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Never pass/share/store a pointer to a local variable on the stack for thread T1 to another thread T2</a:t>
            </a:r>
          </a:p>
          <a:p>
            <a:r>
              <a:rPr lang="en-US" dirty="0"/>
              <a:t>Global variables and static objects are </a:t>
            </a:r>
            <a:r>
              <a:rPr lang="en-US" dirty="0">
                <a:solidFill>
                  <a:srgbClr val="FF0000"/>
                </a:solidFill>
              </a:rPr>
              <a:t>shared</a:t>
            </a:r>
          </a:p>
          <a:p>
            <a:pPr lvl="1"/>
            <a:r>
              <a:rPr lang="en-US" dirty="0"/>
              <a:t>Stored in the data segment, accessible by any thread</a:t>
            </a:r>
          </a:p>
          <a:p>
            <a:r>
              <a:rPr lang="en-US" dirty="0"/>
              <a:t>Dynamic objects and other heap objects are </a:t>
            </a:r>
            <a:r>
              <a:rPr lang="en-US" dirty="0">
                <a:solidFill>
                  <a:srgbClr val="FF0000"/>
                </a:solidFill>
              </a:rPr>
              <a:t>shared</a:t>
            </a:r>
          </a:p>
          <a:p>
            <a:pPr lvl="1"/>
            <a:r>
              <a:rPr lang="en-US" dirty="0"/>
              <a:t>Allocated from heap with malloc/free or new/delete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CC3F0E-9362-6D47-9781-DB401EE9B6B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CSCI 3150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834994C-767F-E125-9C43-26D3EC675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When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resources</a:t>
            </a:r>
            <a:r>
              <a:rPr lang="zh-CN" altLang="en-US" dirty="0"/>
              <a:t> </a:t>
            </a:r>
            <a:r>
              <a:rPr lang="en-US" altLang="zh-CN" dirty="0"/>
              <a:t>shared?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dirty="0"/>
              <a:t>Classic Example</a:t>
            </a:r>
          </a:p>
        </p:txBody>
      </p:sp>
      <p:sp>
        <p:nvSpPr>
          <p:cNvPr id="7174" name="Rectangle 3"/>
          <p:cNvSpPr>
            <a:spLocks noGrp="1" noChangeArrowheads="1"/>
          </p:cNvSpPr>
          <p:nvPr>
            <p:ph idx="1"/>
          </p:nvPr>
        </p:nvSpPr>
        <p:spPr>
          <a:xfrm>
            <a:off x="215999" y="878400"/>
            <a:ext cx="8785125" cy="4975748"/>
          </a:xfrm>
        </p:spPr>
        <p:txBody>
          <a:bodyPr lIns="90000">
            <a:noAutofit/>
          </a:bodyPr>
          <a:lstStyle/>
          <a:p>
            <a:pPr latinLnBrk="0"/>
            <a:r>
              <a:rPr lang="en-US" dirty="0"/>
              <a:t>Suppose we have to implement a function to handle withdrawals from a bank account:</a:t>
            </a:r>
          </a:p>
          <a:p>
            <a:pPr lvl="1">
              <a:lnSpc>
                <a:spcPct val="100000"/>
              </a:lnSpc>
              <a:buFont typeface="ZapfDingbats" pitchFamily="82" charset="2"/>
              <a:buNone/>
            </a:pPr>
            <a:r>
              <a:rPr lang="en-US" sz="18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withdraw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(account, amount) {</a:t>
            </a:r>
          </a:p>
          <a:p>
            <a:pPr lvl="2" latinLnBrk="0">
              <a:lnSpc>
                <a:spcPct val="100000"/>
              </a:lnSpc>
              <a:buFontTx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balance = </a:t>
            </a:r>
            <a:r>
              <a:rPr lang="en-US" sz="18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get_balance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(account);</a:t>
            </a:r>
          </a:p>
          <a:p>
            <a:pPr lvl="2" latinLnBrk="0">
              <a:lnSpc>
                <a:spcPct val="100000"/>
              </a:lnSpc>
              <a:buFontTx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balance = balance – amount;</a:t>
            </a:r>
          </a:p>
          <a:p>
            <a:pPr lvl="2" latinLnBrk="0">
              <a:lnSpc>
                <a:spcPct val="100000"/>
              </a:lnSpc>
              <a:buFontTx/>
              <a:buNone/>
            </a:pPr>
            <a:r>
              <a:rPr lang="en-US" sz="18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put_balance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(account, balance);</a:t>
            </a:r>
          </a:p>
          <a:p>
            <a:pPr lvl="2" latinLnBrk="0">
              <a:lnSpc>
                <a:spcPct val="100000"/>
              </a:lnSpc>
              <a:buFontTx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return amount;</a:t>
            </a:r>
          </a:p>
          <a:p>
            <a:pPr lvl="1">
              <a:lnSpc>
                <a:spcPct val="100000"/>
              </a:lnSpc>
              <a:buFont typeface="ZapfDingbats" pitchFamily="82" charset="2"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latinLnBrk="0"/>
            <a:r>
              <a:rPr lang="en-US" dirty="0"/>
              <a:t>Now suppose that you and your significant other share a bank account with a balance of $1000.</a:t>
            </a:r>
          </a:p>
          <a:p>
            <a:pPr latinLnBrk="0"/>
            <a:r>
              <a:rPr lang="en-US" dirty="0"/>
              <a:t>Then you </a:t>
            </a:r>
            <a:r>
              <a:rPr lang="en-US" u="sng" dirty="0"/>
              <a:t>each</a:t>
            </a:r>
            <a:r>
              <a:rPr lang="en-US" dirty="0"/>
              <a:t> go to separate ATM machines and simultaneously withdraw $100 from the account.</a:t>
            </a:r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68C71B8E-E7B7-4748-9589-4F1C88153215}" type="slidenum">
              <a:rPr lang="en-US"/>
              <a:pPr/>
              <a:t>9</a:t>
            </a:fld>
            <a:endParaRPr lang="en-US"/>
          </a:p>
        </p:txBody>
      </p:sp>
      <p:sp>
        <p:nvSpPr>
          <p:cNvPr id="7171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 3150</a:t>
            </a:r>
            <a:endParaRPr lang="en-US" sz="1400" b="0">
              <a:latin typeface="Times New Roman" pitchFamily="-10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Example Continued</a:t>
            </a:r>
          </a:p>
        </p:txBody>
      </p:sp>
      <p:sp>
        <p:nvSpPr>
          <p:cNvPr id="8198" name="Rectangle 3"/>
          <p:cNvSpPr>
            <a:spLocks noGrp="1" noChangeArrowheads="1"/>
          </p:cNvSpPr>
          <p:nvPr>
            <p:ph idx="1"/>
          </p:nvPr>
        </p:nvSpPr>
        <p:spPr>
          <a:xfrm>
            <a:off x="216000" y="878400"/>
            <a:ext cx="8639765" cy="4533526"/>
          </a:xfrm>
        </p:spPr>
        <p:txBody>
          <a:bodyPr>
            <a:noAutofit/>
          </a:bodyPr>
          <a:lstStyle/>
          <a:p>
            <a:pPr latinLnBrk="0"/>
            <a:r>
              <a:rPr lang="en-US" dirty="0"/>
              <a:t>We’ll represent the situation by creating a separate thread for each person to do the withdrawals</a:t>
            </a:r>
          </a:p>
          <a:p>
            <a:pPr latinLnBrk="0"/>
            <a:r>
              <a:rPr lang="en-US" dirty="0"/>
              <a:t>These threads run on the same bank ser</a:t>
            </a:r>
            <a:r>
              <a:rPr lang="en-US" altLang="zh-CN" dirty="0"/>
              <a:t>ver</a:t>
            </a:r>
            <a:r>
              <a:rPr lang="en-US" dirty="0"/>
              <a:t>:</a:t>
            </a:r>
          </a:p>
          <a:p>
            <a:pPr latinLnBrk="0"/>
            <a:endParaRPr lang="en-US" dirty="0"/>
          </a:p>
          <a:p>
            <a:pPr latinLnBrk="0"/>
            <a:endParaRPr lang="en-US" dirty="0"/>
          </a:p>
          <a:p>
            <a:pPr latinLnBrk="0"/>
            <a:endParaRPr lang="en-US" dirty="0"/>
          </a:p>
          <a:p>
            <a:pPr latinLnBrk="0">
              <a:buNone/>
            </a:pPr>
            <a:endParaRPr lang="en-US" dirty="0"/>
          </a:p>
          <a:p>
            <a:pPr latinLnBrk="0"/>
            <a:r>
              <a:rPr lang="en-US" dirty="0"/>
              <a:t>What’s the problem with this implementation?</a:t>
            </a:r>
          </a:p>
          <a:p>
            <a:pPr lvl="1"/>
            <a:r>
              <a:rPr lang="en-US" dirty="0"/>
              <a:t>Think about </a:t>
            </a:r>
            <a:r>
              <a:rPr lang="en-US" altLang="zh-CN" dirty="0"/>
              <a:t>possible</a:t>
            </a:r>
            <a:r>
              <a:rPr lang="en-US" dirty="0"/>
              <a:t> schedules of these two threads</a:t>
            </a:r>
          </a:p>
        </p:txBody>
      </p:sp>
      <p:sp>
        <p:nvSpPr>
          <p:cNvPr id="8196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B8B3C42-1A8E-084B-B5F1-7D30EE5A33E2}" type="slidenum">
              <a:rPr lang="en-US"/>
              <a:pPr/>
              <a:t>10</a:t>
            </a:fld>
            <a:endParaRPr lang="en-US"/>
          </a:p>
        </p:txBody>
      </p:sp>
      <p:sp>
        <p:nvSpPr>
          <p:cNvPr id="8195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 3150</a:t>
            </a:r>
            <a:endParaRPr lang="en-US" sz="1400" b="0">
              <a:latin typeface="Times New Roman" pitchFamily="-109" charset="0"/>
            </a:endParaRPr>
          </a:p>
        </p:txBody>
      </p:sp>
      <p:sp>
        <p:nvSpPr>
          <p:cNvPr id="8199" name="Text Box 4"/>
          <p:cNvSpPr txBox="1">
            <a:spLocks noChangeArrowheads="1"/>
          </p:cNvSpPr>
          <p:nvPr/>
        </p:nvSpPr>
        <p:spPr bwMode="auto">
          <a:xfrm>
            <a:off x="2514600" y="2590800"/>
            <a:ext cx="2209800" cy="336550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8200" name="Text Box 5"/>
          <p:cNvSpPr txBox="1">
            <a:spLocks noChangeArrowheads="1"/>
          </p:cNvSpPr>
          <p:nvPr/>
        </p:nvSpPr>
        <p:spPr bwMode="auto">
          <a:xfrm>
            <a:off x="410381" y="2436972"/>
            <a:ext cx="4038952" cy="1600438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2"/>
            </a:solidFill>
            <a:miter lim="800000"/>
            <a:headEnd/>
            <a:tailEnd type="none" w="med" len="lg"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1400" b="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withdraw (account, amount) {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1400" b="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balance = </a:t>
            </a:r>
            <a:r>
              <a:rPr lang="en-US" sz="1400" b="0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get_balance</a:t>
            </a:r>
            <a:r>
              <a:rPr lang="en-US" sz="1400" b="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(account);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1400" b="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balance = balance – amount;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1400" b="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0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put_balance</a:t>
            </a:r>
            <a:r>
              <a:rPr lang="en-US" sz="1400" b="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(account, balance);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1400" b="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amount;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1400" b="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201" name="Text Box 11"/>
          <p:cNvSpPr txBox="1">
            <a:spLocks noChangeArrowheads="1"/>
          </p:cNvSpPr>
          <p:nvPr/>
        </p:nvSpPr>
        <p:spPr bwMode="auto">
          <a:xfrm>
            <a:off x="4643713" y="2436972"/>
            <a:ext cx="4144618" cy="1600438"/>
          </a:xfrm>
          <a:prstGeom prst="rect">
            <a:avLst/>
          </a:prstGeom>
          <a:solidFill>
            <a:srgbClr val="CCFFFF"/>
          </a:solidFill>
          <a:ln w="9525">
            <a:solidFill>
              <a:schemeClr val="accent2"/>
            </a:solidFill>
            <a:miter lim="800000"/>
            <a:headEnd/>
            <a:tailEnd type="none" w="med" len="lg"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1400" b="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withdraw (account, amount) {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1400" b="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balance = </a:t>
            </a:r>
            <a:r>
              <a:rPr lang="en-US" sz="1400" b="0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get_balance</a:t>
            </a:r>
            <a:r>
              <a:rPr lang="en-US" sz="1400" b="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(account);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1400" b="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balance = balance – amount;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1400" b="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0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put_balance</a:t>
            </a:r>
            <a:r>
              <a:rPr lang="en-US" sz="1400" b="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(account, balance);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1400" b="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amount;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1400" b="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Interleaved Schedules</a:t>
            </a:r>
          </a:p>
        </p:txBody>
      </p:sp>
      <p:sp>
        <p:nvSpPr>
          <p:cNvPr id="9222" name="Rectangle 3"/>
          <p:cNvSpPr>
            <a:spLocks noGrp="1" noChangeArrowheads="1"/>
          </p:cNvSpPr>
          <p:nvPr>
            <p:ph idx="1"/>
          </p:nvPr>
        </p:nvSpPr>
        <p:spPr>
          <a:xfrm>
            <a:off x="216000" y="878400"/>
            <a:ext cx="8699399" cy="4653114"/>
          </a:xfrm>
        </p:spPr>
        <p:txBody>
          <a:bodyPr>
            <a:noAutofit/>
          </a:bodyPr>
          <a:lstStyle/>
          <a:p>
            <a:pPr latinLnBrk="0"/>
            <a:r>
              <a:rPr lang="en-US" altLang="zh-CN" dirty="0"/>
              <a:t>E</a:t>
            </a:r>
            <a:r>
              <a:rPr lang="en-US" dirty="0"/>
              <a:t>xecution of the two threads can be interleaved:</a:t>
            </a:r>
          </a:p>
          <a:p>
            <a:pPr latinLnBrk="0">
              <a:buNone/>
            </a:pPr>
            <a:endParaRPr lang="en-US" dirty="0"/>
          </a:p>
          <a:p>
            <a:pPr latinLnBrk="0"/>
            <a:endParaRPr lang="en-US" dirty="0"/>
          </a:p>
          <a:p>
            <a:pPr latinLnBrk="0"/>
            <a:endParaRPr lang="en-US" dirty="0"/>
          </a:p>
          <a:p>
            <a:pPr latinLnBrk="0"/>
            <a:endParaRPr lang="en-US" dirty="0"/>
          </a:p>
          <a:p>
            <a:pPr latinLnBrk="0"/>
            <a:endParaRPr lang="en-US" dirty="0"/>
          </a:p>
          <a:p>
            <a:pPr latinLnBrk="0"/>
            <a:endParaRPr lang="en-US" dirty="0"/>
          </a:p>
          <a:p>
            <a:pPr latinLnBrk="0"/>
            <a:r>
              <a:rPr lang="en-US" dirty="0"/>
              <a:t>What is the balance of the account now?</a:t>
            </a:r>
          </a:p>
          <a:p>
            <a:pPr latinLnBrk="0"/>
            <a:r>
              <a:rPr lang="en-US" dirty="0"/>
              <a:t>Is the bank happy with our implementation?</a:t>
            </a:r>
          </a:p>
          <a:p>
            <a:pPr lvl="1"/>
            <a:r>
              <a:rPr lang="en-US" dirty="0"/>
              <a:t>What if this is not withdraw, but deposit?</a:t>
            </a:r>
          </a:p>
        </p:txBody>
      </p:sp>
      <p:sp>
        <p:nvSpPr>
          <p:cNvPr id="9220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E5CFE7B4-0EAE-2C40-807E-DE4ECFF3BC4D}" type="slidenum">
              <a:rPr lang="en-US"/>
              <a:pPr/>
              <a:t>11</a:t>
            </a:fld>
            <a:endParaRPr lang="en-US"/>
          </a:p>
        </p:txBody>
      </p:sp>
      <p:sp>
        <p:nvSpPr>
          <p:cNvPr id="9219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 3150</a:t>
            </a:r>
            <a:endParaRPr lang="en-US" sz="1400" b="0">
              <a:latin typeface="Times New Roman" pitchFamily="-109" charset="0"/>
            </a:endParaRPr>
          </a:p>
        </p:txBody>
      </p:sp>
      <p:sp>
        <p:nvSpPr>
          <p:cNvPr id="9223" name="Text Box 4"/>
          <p:cNvSpPr txBox="1">
            <a:spLocks noChangeArrowheads="1"/>
          </p:cNvSpPr>
          <p:nvPr/>
        </p:nvSpPr>
        <p:spPr bwMode="auto">
          <a:xfrm>
            <a:off x="2514608" y="1870254"/>
            <a:ext cx="3751074" cy="701731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2"/>
            </a:solidFill>
            <a:miter lim="800000"/>
            <a:headEnd/>
            <a:tailEnd type="none" w="med" len="lg"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b="0" dirty="0">
                <a:solidFill>
                  <a:schemeClr val="accent2"/>
                </a:solidFill>
              </a:rPr>
              <a:t>balance = </a:t>
            </a:r>
            <a:r>
              <a:rPr lang="en-US" b="0" dirty="0" err="1">
                <a:solidFill>
                  <a:schemeClr val="accent2"/>
                </a:solidFill>
              </a:rPr>
              <a:t>get_balance</a:t>
            </a:r>
            <a:r>
              <a:rPr lang="en-US" b="0" dirty="0">
                <a:solidFill>
                  <a:schemeClr val="accent2"/>
                </a:solidFill>
              </a:rPr>
              <a:t>(account);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b="0" dirty="0">
                <a:solidFill>
                  <a:schemeClr val="accent2"/>
                </a:solidFill>
              </a:rPr>
              <a:t>balance = balance – amount;</a:t>
            </a:r>
            <a:endParaRPr lang="en-US" sz="1000" dirty="0"/>
          </a:p>
        </p:txBody>
      </p:sp>
      <p:sp>
        <p:nvSpPr>
          <p:cNvPr id="9224" name="Text Box 5"/>
          <p:cNvSpPr txBox="1">
            <a:spLocks noChangeArrowheads="1"/>
          </p:cNvSpPr>
          <p:nvPr/>
        </p:nvSpPr>
        <p:spPr bwMode="auto">
          <a:xfrm>
            <a:off x="2514608" y="2612499"/>
            <a:ext cx="3751074" cy="1034129"/>
          </a:xfrm>
          <a:prstGeom prst="rect">
            <a:avLst/>
          </a:prstGeom>
          <a:solidFill>
            <a:srgbClr val="CCFFFF"/>
          </a:solidFill>
          <a:ln w="9525">
            <a:solidFill>
              <a:schemeClr val="accent2"/>
            </a:solidFill>
            <a:miter lim="800000"/>
            <a:headEnd/>
            <a:tailEnd type="none" w="med" len="lg"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b="0" dirty="0">
                <a:solidFill>
                  <a:schemeClr val="accent2"/>
                </a:solidFill>
              </a:rPr>
              <a:t>balance = </a:t>
            </a:r>
            <a:r>
              <a:rPr lang="en-US" b="0" dirty="0" err="1">
                <a:solidFill>
                  <a:schemeClr val="accent2"/>
                </a:solidFill>
              </a:rPr>
              <a:t>get_balance</a:t>
            </a:r>
            <a:r>
              <a:rPr lang="en-US" b="0" dirty="0">
                <a:solidFill>
                  <a:schemeClr val="accent2"/>
                </a:solidFill>
              </a:rPr>
              <a:t>(account);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b="0" dirty="0">
                <a:solidFill>
                  <a:schemeClr val="accent2"/>
                </a:solidFill>
              </a:rPr>
              <a:t>balance = balance – amount;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b="0" dirty="0" err="1">
                <a:solidFill>
                  <a:schemeClr val="accent2"/>
                </a:solidFill>
              </a:rPr>
              <a:t>put_balance</a:t>
            </a:r>
            <a:r>
              <a:rPr lang="en-US" b="0" dirty="0">
                <a:solidFill>
                  <a:schemeClr val="accent2"/>
                </a:solidFill>
              </a:rPr>
              <a:t>(account, balance);</a:t>
            </a:r>
          </a:p>
        </p:txBody>
      </p:sp>
      <p:sp>
        <p:nvSpPr>
          <p:cNvPr id="9225" name="Text Box 6"/>
          <p:cNvSpPr txBox="1">
            <a:spLocks noChangeArrowheads="1"/>
          </p:cNvSpPr>
          <p:nvPr/>
        </p:nvSpPr>
        <p:spPr bwMode="auto">
          <a:xfrm>
            <a:off x="2514608" y="3692550"/>
            <a:ext cx="3751074" cy="369332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2"/>
            </a:solidFill>
            <a:miter lim="800000"/>
            <a:headEnd/>
            <a:tailEnd type="none" w="med" len="lg"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b="0" dirty="0" err="1">
                <a:solidFill>
                  <a:schemeClr val="accent2"/>
                </a:solidFill>
              </a:rPr>
              <a:t>put_balance</a:t>
            </a:r>
            <a:r>
              <a:rPr lang="en-US" b="0" dirty="0">
                <a:solidFill>
                  <a:schemeClr val="accent2"/>
                </a:solidFill>
              </a:rPr>
              <a:t>(account, balance);</a:t>
            </a:r>
          </a:p>
        </p:txBody>
      </p:sp>
      <p:sp>
        <p:nvSpPr>
          <p:cNvPr id="9226" name="Line 7"/>
          <p:cNvSpPr>
            <a:spLocks noChangeShapeType="1"/>
          </p:cNvSpPr>
          <p:nvPr/>
        </p:nvSpPr>
        <p:spPr bwMode="auto">
          <a:xfrm>
            <a:off x="2355576" y="2090530"/>
            <a:ext cx="0" cy="19812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stealth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227" name="Text Box 8"/>
          <p:cNvSpPr txBox="1">
            <a:spLocks noChangeArrowheads="1"/>
          </p:cNvSpPr>
          <p:nvPr/>
        </p:nvSpPr>
        <p:spPr bwMode="auto">
          <a:xfrm>
            <a:off x="739501" y="2623930"/>
            <a:ext cx="1616075" cy="923330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 latinLnBrk="0">
              <a:spcBef>
                <a:spcPct val="50000"/>
              </a:spcBef>
            </a:pPr>
            <a:r>
              <a:rPr lang="en-US" dirty="0">
                <a:solidFill>
                  <a:srgbClr val="0099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Execution sequence seen by CPU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1FCB5CD-3C9F-243C-54C1-9EEE2B10F6F2}"/>
              </a:ext>
            </a:extLst>
          </p:cNvPr>
          <p:cNvGrpSpPr/>
          <p:nvPr/>
        </p:nvGrpSpPr>
        <p:grpSpPr>
          <a:xfrm>
            <a:off x="6265682" y="2622437"/>
            <a:ext cx="2450936" cy="990600"/>
            <a:chOff x="6424706" y="3427504"/>
            <a:chExt cx="2450936" cy="990600"/>
          </a:xfrm>
        </p:grpSpPr>
        <p:sp>
          <p:nvSpPr>
            <p:cNvPr id="9228" name="Line 10"/>
            <p:cNvSpPr>
              <a:spLocks noChangeShapeType="1"/>
            </p:cNvSpPr>
            <p:nvPr/>
          </p:nvSpPr>
          <p:spPr bwMode="auto">
            <a:xfrm flipH="1" flipV="1">
              <a:off x="6424706" y="3427504"/>
              <a:ext cx="509494" cy="382495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stealth" w="med" len="lg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29" name="Line 11"/>
            <p:cNvSpPr>
              <a:spLocks noChangeShapeType="1"/>
            </p:cNvSpPr>
            <p:nvPr/>
          </p:nvSpPr>
          <p:spPr bwMode="auto">
            <a:xfrm flipH="1">
              <a:off x="6424706" y="3809999"/>
              <a:ext cx="509494" cy="608105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stealth" w="med" len="lg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30" name="Text Box 12"/>
            <p:cNvSpPr txBox="1">
              <a:spLocks noChangeArrowheads="1"/>
            </p:cNvSpPr>
            <p:nvPr/>
          </p:nvSpPr>
          <p:spPr bwMode="auto">
            <a:xfrm>
              <a:off x="6934199" y="3657600"/>
              <a:ext cx="1941443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med" len="lg"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dirty="0">
                  <a:solidFill>
                    <a:srgbClr val="009900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Context switch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/>
              <a:t>How Interleaved Can It Get?</a:t>
            </a:r>
          </a:p>
        </p:txBody>
      </p:sp>
      <p:sp>
        <p:nvSpPr>
          <p:cNvPr id="12295" name="Rectangle 16"/>
          <p:cNvSpPr>
            <a:spLocks noGrp="1" noChangeArrowheads="1"/>
          </p:cNvSpPr>
          <p:nvPr>
            <p:ph idx="1"/>
          </p:nvPr>
        </p:nvSpPr>
        <p:spPr>
          <a:xfrm>
            <a:off x="216000" y="878400"/>
            <a:ext cx="8629826" cy="4227756"/>
          </a:xfrm>
        </p:spPr>
        <p:txBody>
          <a:bodyPr>
            <a:noAutofit/>
          </a:bodyPr>
          <a:lstStyle/>
          <a:p>
            <a:r>
              <a:rPr lang="en-US" dirty="0"/>
              <a:t>We'll assume that the only </a:t>
            </a:r>
            <a:r>
              <a:rPr lang="en-US" dirty="0">
                <a:solidFill>
                  <a:srgbClr val="00B0F0"/>
                </a:solidFill>
              </a:rPr>
              <a:t>atomic</a:t>
            </a:r>
            <a:r>
              <a:rPr lang="en-US" dirty="0"/>
              <a:t> operations are reads and writes of words</a:t>
            </a:r>
          </a:p>
          <a:p>
            <a:pPr lvl="1"/>
            <a:r>
              <a:rPr lang="en-US" dirty="0"/>
              <a:t>Some architectures don't even give you that!</a:t>
            </a:r>
          </a:p>
          <a:p>
            <a:r>
              <a:rPr lang="en-US" dirty="0"/>
              <a:t>We‘ll assume that a </a:t>
            </a:r>
            <a:r>
              <a:rPr lang="en-US" dirty="0">
                <a:solidFill>
                  <a:srgbClr val="FF0000"/>
                </a:solidFill>
              </a:rPr>
              <a:t>context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switch can occur at any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time</a:t>
            </a:r>
          </a:p>
          <a:p>
            <a:r>
              <a:rPr lang="en-US" dirty="0"/>
              <a:t>We‘ll assume that </a:t>
            </a:r>
            <a:r>
              <a:rPr lang="en-US" dirty="0">
                <a:solidFill>
                  <a:srgbClr val="FF0000"/>
                </a:solidFill>
              </a:rPr>
              <a:t>you can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delay a thread as long as you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like</a:t>
            </a:r>
            <a:r>
              <a:rPr lang="en-US" altLang="zh-CN" dirty="0">
                <a:solidFill>
                  <a:srgbClr val="FF0000"/>
                </a:solidFill>
              </a:rPr>
              <a:t>,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provided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that</a:t>
            </a:r>
            <a:r>
              <a:rPr lang="en-US" dirty="0">
                <a:solidFill>
                  <a:srgbClr val="FF0000"/>
                </a:solidFill>
              </a:rPr>
              <a:t> it's not delayed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forever</a:t>
            </a:r>
          </a:p>
        </p:txBody>
      </p:sp>
      <p:sp>
        <p:nvSpPr>
          <p:cNvPr id="12292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D1BB097-1107-714D-A075-59F07804F720}" type="slidenum">
              <a:rPr lang="en-US"/>
              <a:pPr/>
              <a:t>12</a:t>
            </a:fld>
            <a:endParaRPr lang="en-US"/>
          </a:p>
        </p:txBody>
      </p:sp>
      <p:sp>
        <p:nvSpPr>
          <p:cNvPr id="12291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 3150</a:t>
            </a:r>
            <a:endParaRPr lang="en-US" sz="1400" b="0">
              <a:latin typeface="Times New Roman" pitchFamily="-109" charset="0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4995514" y="2839279"/>
            <a:ext cx="3505201" cy="2624554"/>
            <a:chOff x="5638799" y="3505201"/>
            <a:chExt cx="3878729" cy="2624554"/>
          </a:xfrm>
        </p:grpSpPr>
        <p:sp>
          <p:nvSpPr>
            <p:cNvPr id="12296" name="Text Box 4"/>
            <p:cNvSpPr txBox="1">
              <a:spLocks noChangeArrowheads="1"/>
            </p:cNvSpPr>
            <p:nvPr/>
          </p:nvSpPr>
          <p:spPr bwMode="auto">
            <a:xfrm>
              <a:off x="5638799" y="3505201"/>
              <a:ext cx="3878729" cy="338554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accent2"/>
              </a:solidFill>
              <a:miter lim="800000"/>
              <a:headEnd/>
              <a:tailEnd type="none" w="med" len="lg"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20000"/>
                </a:spcBef>
                <a:buClr>
                  <a:schemeClr val="tx1"/>
                </a:buClr>
                <a:buSzPct val="50000"/>
                <a:buFont typeface="Monotype Sorts" pitchFamily="-109" charset="2"/>
                <a:buNone/>
              </a:pPr>
              <a:r>
                <a:rPr lang="en-US" sz="1600" b="0" dirty="0">
                  <a:solidFill>
                    <a:schemeClr val="accent2"/>
                  </a:solidFill>
                </a:rPr>
                <a:t>............... </a:t>
              </a:r>
              <a:r>
                <a:rPr lang="en-US" sz="1600" b="0" dirty="0" err="1">
                  <a:solidFill>
                    <a:schemeClr val="accent2"/>
                  </a:solidFill>
                </a:rPr>
                <a:t>get_balance</a:t>
              </a:r>
              <a:r>
                <a:rPr lang="en-US" sz="1600" b="0" dirty="0">
                  <a:solidFill>
                    <a:schemeClr val="accent2"/>
                  </a:solidFill>
                </a:rPr>
                <a:t>(account);</a:t>
              </a:r>
            </a:p>
          </p:txBody>
        </p:sp>
        <p:sp>
          <p:nvSpPr>
            <p:cNvPr id="12297" name="Text Box 5"/>
            <p:cNvSpPr txBox="1">
              <a:spLocks noChangeArrowheads="1"/>
            </p:cNvSpPr>
            <p:nvPr/>
          </p:nvSpPr>
          <p:spPr bwMode="auto">
            <a:xfrm>
              <a:off x="5638799" y="5410201"/>
              <a:ext cx="3878729" cy="3385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accent2"/>
              </a:solidFill>
              <a:miter lim="800000"/>
              <a:headEnd/>
              <a:tailEnd type="none" w="med" len="lg"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20000"/>
                </a:spcBef>
                <a:buClr>
                  <a:schemeClr val="tx1"/>
                </a:buClr>
                <a:buSzPct val="50000"/>
                <a:buFont typeface="Monotype Sorts" pitchFamily="-109" charset="2"/>
                <a:buNone/>
              </a:pPr>
              <a:r>
                <a:rPr lang="en-US" sz="1600" b="0" dirty="0" err="1">
                  <a:solidFill>
                    <a:schemeClr val="accent2"/>
                  </a:solidFill>
                </a:rPr>
                <a:t>put_balance</a:t>
              </a:r>
              <a:r>
                <a:rPr lang="en-US" sz="1600" b="0" dirty="0">
                  <a:solidFill>
                    <a:schemeClr val="accent2"/>
                  </a:solidFill>
                </a:rPr>
                <a:t>(account, balance);</a:t>
              </a:r>
            </a:p>
          </p:txBody>
        </p:sp>
        <p:sp>
          <p:nvSpPr>
            <p:cNvPr id="12298" name="Text Box 6"/>
            <p:cNvSpPr txBox="1">
              <a:spLocks noChangeArrowheads="1"/>
            </p:cNvSpPr>
            <p:nvPr/>
          </p:nvSpPr>
          <p:spPr bwMode="auto">
            <a:xfrm>
              <a:off x="5638799" y="5791201"/>
              <a:ext cx="3878729" cy="338554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accent2"/>
              </a:solidFill>
              <a:miter lim="800000"/>
              <a:headEnd/>
              <a:tailEnd type="none" w="med" len="lg"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r>
                <a:rPr lang="en-US" sz="1600" b="0" dirty="0" err="1">
                  <a:solidFill>
                    <a:schemeClr val="accent2"/>
                  </a:solidFill>
                </a:rPr>
                <a:t>put_balance</a:t>
              </a:r>
              <a:r>
                <a:rPr lang="en-US" sz="1600" b="0" dirty="0">
                  <a:solidFill>
                    <a:schemeClr val="accent2"/>
                  </a:solidFill>
                </a:rPr>
                <a:t>(account, balance);</a:t>
              </a:r>
            </a:p>
          </p:txBody>
        </p:sp>
        <p:sp>
          <p:nvSpPr>
            <p:cNvPr id="12299" name="Text Box 7"/>
            <p:cNvSpPr txBox="1">
              <a:spLocks noChangeArrowheads="1"/>
            </p:cNvSpPr>
            <p:nvPr/>
          </p:nvSpPr>
          <p:spPr bwMode="auto">
            <a:xfrm>
              <a:off x="5638799" y="5029201"/>
              <a:ext cx="3878729" cy="338554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accent2"/>
              </a:solidFill>
              <a:miter lim="800000"/>
              <a:headEnd/>
              <a:tailEnd type="none" w="med" len="lg"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20000"/>
                </a:spcBef>
                <a:buClr>
                  <a:schemeClr val="tx1"/>
                </a:buClr>
                <a:buSzPct val="50000"/>
                <a:buFont typeface="Monotype Sorts" pitchFamily="-109" charset="2"/>
                <a:buNone/>
              </a:pPr>
              <a:r>
                <a:rPr lang="en-US" sz="1600" b="0" dirty="0">
                  <a:solidFill>
                    <a:schemeClr val="accent2"/>
                  </a:solidFill>
                </a:rPr>
                <a:t>balance = balance – amount;</a:t>
              </a:r>
              <a:endParaRPr lang="en-US" sz="900" dirty="0"/>
            </a:p>
          </p:txBody>
        </p:sp>
        <p:sp>
          <p:nvSpPr>
            <p:cNvPr id="12300" name="Text Box 8"/>
            <p:cNvSpPr txBox="1">
              <a:spLocks noChangeArrowheads="1"/>
            </p:cNvSpPr>
            <p:nvPr/>
          </p:nvSpPr>
          <p:spPr bwMode="auto">
            <a:xfrm>
              <a:off x="5638799" y="4648201"/>
              <a:ext cx="3878729" cy="3385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accent2"/>
              </a:solidFill>
              <a:miter lim="800000"/>
              <a:headEnd/>
              <a:tailEnd type="none" w="med" len="lg"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20000"/>
                </a:spcBef>
                <a:buClr>
                  <a:schemeClr val="tx1"/>
                </a:buClr>
                <a:buSzPct val="50000"/>
                <a:buFont typeface="Monotype Sorts" pitchFamily="-109" charset="2"/>
                <a:buNone/>
              </a:pPr>
              <a:r>
                <a:rPr lang="en-US" sz="1600" b="0" dirty="0">
                  <a:solidFill>
                    <a:schemeClr val="accent2"/>
                  </a:solidFill>
                </a:rPr>
                <a:t>balance = balance – amount;</a:t>
              </a:r>
              <a:endParaRPr lang="en-US" sz="900" dirty="0"/>
            </a:p>
          </p:txBody>
        </p:sp>
        <p:sp>
          <p:nvSpPr>
            <p:cNvPr id="12301" name="Text Box 9"/>
            <p:cNvSpPr txBox="1">
              <a:spLocks noChangeArrowheads="1"/>
            </p:cNvSpPr>
            <p:nvPr/>
          </p:nvSpPr>
          <p:spPr bwMode="auto">
            <a:xfrm>
              <a:off x="5638799" y="3886201"/>
              <a:ext cx="3878729" cy="3385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accent2"/>
              </a:solidFill>
              <a:miter lim="800000"/>
              <a:headEnd/>
              <a:tailEnd type="none" w="med" len="lg"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20000"/>
                </a:spcBef>
                <a:buClr>
                  <a:schemeClr val="tx1"/>
                </a:buClr>
                <a:buSzPct val="50000"/>
                <a:buFont typeface="Monotype Sorts" pitchFamily="-109" charset="2"/>
                <a:buNone/>
              </a:pPr>
              <a:r>
                <a:rPr lang="en-US" sz="1600" b="0" dirty="0">
                  <a:solidFill>
                    <a:schemeClr val="accent2"/>
                  </a:solidFill>
                </a:rPr>
                <a:t>balance = </a:t>
              </a:r>
              <a:r>
                <a:rPr lang="en-US" sz="1600" b="0" dirty="0" err="1">
                  <a:solidFill>
                    <a:schemeClr val="accent2"/>
                  </a:solidFill>
                </a:rPr>
                <a:t>get_balance</a:t>
              </a:r>
              <a:r>
                <a:rPr lang="en-US" sz="1600" b="0" dirty="0">
                  <a:solidFill>
                    <a:schemeClr val="accent2"/>
                  </a:solidFill>
                </a:rPr>
                <a:t>(account);</a:t>
              </a:r>
            </a:p>
          </p:txBody>
        </p:sp>
        <p:sp>
          <p:nvSpPr>
            <p:cNvPr id="12302" name="Text Box 11"/>
            <p:cNvSpPr txBox="1">
              <a:spLocks noChangeArrowheads="1"/>
            </p:cNvSpPr>
            <p:nvPr/>
          </p:nvSpPr>
          <p:spPr bwMode="auto">
            <a:xfrm>
              <a:off x="5638799" y="4267201"/>
              <a:ext cx="3878729" cy="338554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accent2"/>
              </a:solidFill>
              <a:miter lim="800000"/>
              <a:headEnd/>
              <a:tailEnd type="none" w="med" len="lg"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20000"/>
                </a:spcBef>
                <a:buClr>
                  <a:schemeClr val="tx1"/>
                </a:buClr>
                <a:buSzPct val="50000"/>
                <a:buFont typeface="Monotype Sorts" pitchFamily="-109" charset="2"/>
                <a:buNone/>
              </a:pPr>
              <a:r>
                <a:rPr lang="en-US" sz="1600" b="0" dirty="0">
                  <a:solidFill>
                    <a:schemeClr val="accent2"/>
                  </a:solidFill>
                </a:rPr>
                <a:t>balance = .................................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Mutual Exclusion</a:t>
            </a:r>
          </a:p>
        </p:txBody>
      </p:sp>
      <p:sp>
        <p:nvSpPr>
          <p:cNvPr id="13318" name="Rectangle 3"/>
          <p:cNvSpPr>
            <a:spLocks noGrp="1" noChangeArrowheads="1"/>
          </p:cNvSpPr>
          <p:nvPr>
            <p:ph idx="1"/>
          </p:nvPr>
        </p:nvSpPr>
        <p:spPr>
          <a:xfrm>
            <a:off x="216000" y="878400"/>
            <a:ext cx="8639765" cy="4428938"/>
          </a:xfrm>
        </p:spPr>
        <p:txBody>
          <a:bodyPr lIns="90000">
            <a:noAutofit/>
          </a:bodyPr>
          <a:lstStyle/>
          <a:p>
            <a:pPr latinLnBrk="0"/>
            <a:r>
              <a:rPr lang="en-US" dirty="0"/>
              <a:t>We want to use </a:t>
            </a:r>
            <a:r>
              <a:rPr lang="en-US" dirty="0">
                <a:solidFill>
                  <a:srgbClr val="FF3300"/>
                </a:solidFill>
              </a:rPr>
              <a:t>mutual exclusion </a:t>
            </a:r>
            <a:r>
              <a:rPr lang="en-US" dirty="0"/>
              <a:t>to synchronize access to shared resources</a:t>
            </a:r>
          </a:p>
          <a:p>
            <a:pPr lvl="1"/>
            <a:r>
              <a:rPr lang="en-US" dirty="0"/>
              <a:t>This allows us to have larger atomic </a:t>
            </a:r>
            <a:r>
              <a:rPr lang="en-US" altLang="zh-CN" dirty="0"/>
              <a:t>code</a:t>
            </a:r>
            <a:r>
              <a:rPr lang="zh-CN" altLang="en-US" dirty="0"/>
              <a:t> </a:t>
            </a:r>
            <a:r>
              <a:rPr lang="en-US" dirty="0"/>
              <a:t>blocks</a:t>
            </a:r>
          </a:p>
          <a:p>
            <a:pPr latinLnBrk="0"/>
            <a:r>
              <a:rPr lang="en-US" dirty="0"/>
              <a:t>Code that uses mutual exclusion to synchronize its execution is called a </a:t>
            </a:r>
            <a:r>
              <a:rPr lang="en-US" dirty="0">
                <a:solidFill>
                  <a:srgbClr val="FF3300"/>
                </a:solidFill>
              </a:rPr>
              <a:t>critical region</a:t>
            </a:r>
            <a:r>
              <a:rPr lang="en-US" altLang="zh-CN" dirty="0">
                <a:solidFill>
                  <a:srgbClr val="FF3300"/>
                </a:solidFill>
              </a:rPr>
              <a:t>,</a:t>
            </a:r>
            <a:r>
              <a:rPr lang="en-US" dirty="0">
                <a:solidFill>
                  <a:srgbClr val="FF3300"/>
                </a:solidFill>
              </a:rPr>
              <a:t> or critical section</a:t>
            </a:r>
          </a:p>
          <a:p>
            <a:pPr lvl="1"/>
            <a:r>
              <a:rPr lang="en-US" dirty="0"/>
              <a:t>Only one thread at a time can execute in the critical region</a:t>
            </a:r>
          </a:p>
          <a:p>
            <a:pPr lvl="1"/>
            <a:r>
              <a:rPr lang="en-US" dirty="0"/>
              <a:t>All other threads are forced to wait on entry</a:t>
            </a:r>
          </a:p>
          <a:p>
            <a:pPr lvl="1"/>
            <a:r>
              <a:rPr lang="en-US" dirty="0"/>
              <a:t>When a thread leaves a critical region, another can enter</a:t>
            </a:r>
          </a:p>
          <a:p>
            <a:pPr lvl="1"/>
            <a:r>
              <a:rPr lang="en-US" dirty="0"/>
              <a:t>Example: </a:t>
            </a:r>
            <a:r>
              <a:rPr lang="en-US" dirty="0">
                <a:solidFill>
                  <a:srgbClr val="0000FF"/>
                </a:solidFill>
              </a:rPr>
              <a:t>sharing your bathroom with </a:t>
            </a:r>
            <a:r>
              <a:rPr lang="en-US" altLang="zh-CN" dirty="0">
                <a:solidFill>
                  <a:srgbClr val="0000FF"/>
                </a:solidFill>
              </a:rPr>
              <a:t>a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room</a:t>
            </a:r>
            <a:r>
              <a:rPr lang="en-US" dirty="0">
                <a:solidFill>
                  <a:srgbClr val="0000FF"/>
                </a:solidFill>
              </a:rPr>
              <a:t>mate</a:t>
            </a:r>
          </a:p>
        </p:txBody>
      </p:sp>
      <p:sp>
        <p:nvSpPr>
          <p:cNvPr id="13316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E9EF8397-0900-3349-B280-98EA07CD141E}" type="slidenum">
              <a:rPr lang="en-US"/>
              <a:pPr/>
              <a:t>13</a:t>
            </a:fld>
            <a:endParaRPr lang="en-US"/>
          </a:p>
        </p:txBody>
      </p:sp>
      <p:sp>
        <p:nvSpPr>
          <p:cNvPr id="13315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 3150</a:t>
            </a:r>
            <a:endParaRPr lang="en-US" sz="1400" b="0">
              <a:latin typeface="Times New Roman" pitchFamily="-109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/>
            </a:pPr>
            <a:r>
              <a:rPr lang="en-US" dirty="0"/>
              <a:t>Critical Region Requirements (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dirty="0"/>
              <a:t>thread and process)</a:t>
            </a:r>
          </a:p>
        </p:txBody>
      </p:sp>
      <p:sp>
        <p:nvSpPr>
          <p:cNvPr id="14342" name="Rectangle 3"/>
          <p:cNvSpPr>
            <a:spLocks noGrp="1" noChangeArrowheads="1"/>
          </p:cNvSpPr>
          <p:nvPr>
            <p:ph idx="1"/>
          </p:nvPr>
        </p:nvSpPr>
        <p:spPr>
          <a:xfrm>
            <a:off x="215999" y="878400"/>
            <a:ext cx="8639765" cy="5174530"/>
          </a:xfrm>
        </p:spPr>
        <p:txBody>
          <a:bodyPr>
            <a:noAutofit/>
          </a:bodyPr>
          <a:lstStyle/>
          <a:p>
            <a:r>
              <a:rPr lang="en-US" sz="2000" dirty="0"/>
              <a:t>Mutual exclusion (mutex</a:t>
            </a:r>
            <a:r>
              <a:rPr lang="en-US" sz="2162" dirty="0"/>
              <a:t>)</a:t>
            </a:r>
          </a:p>
          <a:p>
            <a:pPr lvl="1"/>
            <a:r>
              <a:rPr lang="en-US" dirty="0"/>
              <a:t>No other thread </a:t>
            </a:r>
            <a:r>
              <a:rPr lang="en-US" altLang="zh-CN" dirty="0"/>
              <a:t>can</a:t>
            </a:r>
            <a:r>
              <a:rPr lang="en-US" dirty="0"/>
              <a:t> execute </a:t>
            </a:r>
            <a:r>
              <a:rPr lang="en-US" altLang="zh-CN" dirty="0"/>
              <a:t>in</a:t>
            </a:r>
            <a:r>
              <a:rPr lang="en-US" dirty="0"/>
              <a:t> the critical region while a thread is in it</a:t>
            </a:r>
          </a:p>
          <a:p>
            <a:r>
              <a:rPr lang="en-US" sz="2000" dirty="0"/>
              <a:t>Progress</a:t>
            </a:r>
            <a:endParaRPr lang="en-US" dirty="0"/>
          </a:p>
          <a:p>
            <a:pPr lvl="1"/>
            <a:r>
              <a:rPr lang="en-US" dirty="0"/>
              <a:t>A thread in the critical region will eventually leave</a:t>
            </a:r>
          </a:p>
          <a:p>
            <a:pPr lvl="1"/>
            <a:r>
              <a:rPr lang="en-US" sz="1800" dirty="0"/>
              <a:t>If thread T is not in the critical region, T cannot prevent </a:t>
            </a:r>
            <a:r>
              <a:rPr lang="en-US" altLang="zh-CN" sz="1800" dirty="0"/>
              <a:t>another</a:t>
            </a:r>
            <a:r>
              <a:rPr lang="en-US" sz="1800" dirty="0"/>
              <a:t> thread S from entering the critical region</a:t>
            </a:r>
          </a:p>
          <a:p>
            <a:r>
              <a:rPr lang="en-US" sz="2000" dirty="0"/>
              <a:t>Bounded waiting (no starvation)</a:t>
            </a:r>
          </a:p>
          <a:p>
            <a:pPr lvl="1"/>
            <a:r>
              <a:rPr lang="en-US" sz="1800" dirty="0"/>
              <a:t>If thread T is waiting on the critical region, </a:t>
            </a:r>
            <a:r>
              <a:rPr lang="en-US" altLang="zh-CN" dirty="0"/>
              <a:t>it</a:t>
            </a:r>
            <a:r>
              <a:rPr lang="en-US" sz="1800" dirty="0"/>
              <a:t> </a:t>
            </a:r>
            <a:r>
              <a:rPr lang="en-US" altLang="zh-CN" sz="1800" dirty="0"/>
              <a:t>will</a:t>
            </a:r>
            <a:r>
              <a:rPr lang="en-US" sz="1800" dirty="0"/>
              <a:t> </a:t>
            </a:r>
            <a:r>
              <a:rPr lang="en-US" altLang="zh-CN" sz="1800" dirty="0"/>
              <a:t>not</a:t>
            </a:r>
            <a:r>
              <a:rPr lang="zh-CN" altLang="en-US" sz="1800" dirty="0"/>
              <a:t> </a:t>
            </a:r>
            <a:r>
              <a:rPr lang="en-US" altLang="zh-CN" sz="1800" dirty="0"/>
              <a:t>wait</a:t>
            </a:r>
            <a:r>
              <a:rPr lang="zh-CN" altLang="en-US" sz="1800" dirty="0"/>
              <a:t> </a:t>
            </a:r>
            <a:r>
              <a:rPr lang="en-US" altLang="zh-CN" sz="1800" dirty="0"/>
              <a:t>indefinitely</a:t>
            </a:r>
            <a:endParaRPr lang="en-US" sz="1800" dirty="0"/>
          </a:p>
          <a:p>
            <a:r>
              <a:rPr lang="en-US" sz="2000" dirty="0"/>
              <a:t>No assumption</a:t>
            </a:r>
          </a:p>
          <a:p>
            <a:pPr lvl="1"/>
            <a:r>
              <a:rPr lang="en-US" dirty="0"/>
              <a:t>No assumption may be made about the speed or number of CPUs</a:t>
            </a:r>
          </a:p>
        </p:txBody>
      </p:sp>
      <p:sp>
        <p:nvSpPr>
          <p:cNvPr id="14340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89FE3F9-59EF-6041-9EDC-8248640BC95D}" type="slidenum">
              <a:rPr lang="en-US"/>
              <a:pPr/>
              <a:t>14</a:t>
            </a:fld>
            <a:endParaRPr lang="en-US"/>
          </a:p>
        </p:txBody>
      </p:sp>
      <p:sp>
        <p:nvSpPr>
          <p:cNvPr id="14339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 3150</a:t>
            </a:r>
            <a:endParaRPr lang="en-US" sz="1400" b="0">
              <a:latin typeface="Times New Roman" pitchFamily="-109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Critical Region Illustrated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CC3F0E-9362-6D47-9781-DB401EE9B6B9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CSCI 3150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202" y="1842552"/>
            <a:ext cx="7657353" cy="373050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7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Mechanisms For Building Critical </a:t>
            </a:r>
            <a:r>
              <a:rPr lang="en-US" altLang="zh-CN" dirty="0"/>
              <a:t>Regions</a:t>
            </a:r>
            <a:endParaRPr lang="en-US" dirty="0"/>
          </a:p>
        </p:txBody>
      </p:sp>
      <p:sp>
        <p:nvSpPr>
          <p:cNvPr id="16390" name="Rectangle 3"/>
          <p:cNvSpPr>
            <a:spLocks noGrp="1" noChangeArrowheads="1"/>
          </p:cNvSpPr>
          <p:nvPr>
            <p:ph idx="1"/>
          </p:nvPr>
        </p:nvSpPr>
        <p:spPr>
          <a:xfrm>
            <a:off x="216000" y="878400"/>
            <a:ext cx="8590070" cy="4711488"/>
          </a:xfrm>
        </p:spPr>
        <p:txBody>
          <a:bodyPr>
            <a:noAutofit/>
          </a:bodyPr>
          <a:lstStyle/>
          <a:p>
            <a:pPr latinLnBrk="0"/>
            <a:r>
              <a:rPr lang="en-US" sz="2000" dirty="0"/>
              <a:t>Atomic read/write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Can</a:t>
            </a:r>
            <a:r>
              <a:rPr lang="en-US" dirty="0">
                <a:solidFill>
                  <a:srgbClr val="FF0000"/>
                </a:solidFill>
              </a:rPr>
              <a:t>not be </a:t>
            </a:r>
            <a:r>
              <a:rPr lang="en-US" altLang="zh-CN" dirty="0">
                <a:solidFill>
                  <a:srgbClr val="FF0000"/>
                </a:solidFill>
              </a:rPr>
              <a:t>“</a:t>
            </a:r>
            <a:r>
              <a:rPr lang="en-US" dirty="0">
                <a:solidFill>
                  <a:srgbClr val="FF0000"/>
                </a:solidFill>
              </a:rPr>
              <a:t>interrupted</a:t>
            </a:r>
            <a:r>
              <a:rPr lang="en-US" altLang="zh-CN" dirty="0">
                <a:solidFill>
                  <a:srgbClr val="FF0000"/>
                </a:solidFill>
              </a:rPr>
              <a:t>”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when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running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-&gt;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“All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or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nothing”</a:t>
            </a:r>
            <a:endParaRPr lang="en-US" sz="1800" dirty="0"/>
          </a:p>
          <a:p>
            <a:pPr latinLnBrk="0"/>
            <a:r>
              <a:rPr lang="en-US" sz="2000" dirty="0"/>
              <a:t>Locks</a:t>
            </a:r>
          </a:p>
          <a:p>
            <a:pPr lvl="1"/>
            <a:r>
              <a:rPr lang="en-US" sz="1800" dirty="0"/>
              <a:t>Primitive, minimal semantics, used to build others</a:t>
            </a:r>
          </a:p>
          <a:p>
            <a:pPr latinLnBrk="0"/>
            <a:r>
              <a:rPr lang="en-US" sz="2000" dirty="0"/>
              <a:t>Semaphores</a:t>
            </a:r>
          </a:p>
          <a:p>
            <a:pPr lvl="1"/>
            <a:r>
              <a:rPr lang="en-US" sz="1800" dirty="0"/>
              <a:t>Basic, easy to get the hang of, but hard to program with</a:t>
            </a:r>
          </a:p>
          <a:p>
            <a:pPr latinLnBrk="0"/>
            <a:r>
              <a:rPr lang="en-US" sz="2000" dirty="0"/>
              <a:t>Monitors</a:t>
            </a:r>
          </a:p>
          <a:p>
            <a:pPr lvl="1"/>
            <a:r>
              <a:rPr lang="en-US" sz="1800" dirty="0"/>
              <a:t>High-level, requires language support, operations implicit</a:t>
            </a:r>
          </a:p>
          <a:p>
            <a:pPr latinLnBrk="0"/>
            <a:r>
              <a:rPr lang="en-US" sz="2000" dirty="0"/>
              <a:t>Messages</a:t>
            </a:r>
          </a:p>
          <a:p>
            <a:pPr lvl="1"/>
            <a:r>
              <a:rPr lang="en-US" sz="1800" dirty="0"/>
              <a:t>Simple model of communication and synchronization</a:t>
            </a:r>
          </a:p>
          <a:p>
            <a:pPr lvl="1"/>
            <a:r>
              <a:rPr lang="en-US" sz="1800" dirty="0"/>
              <a:t>Direct application to distributed systems</a:t>
            </a:r>
          </a:p>
        </p:txBody>
      </p:sp>
      <p:sp>
        <p:nvSpPr>
          <p:cNvPr id="16388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6E74F948-1F00-D14C-83E1-B403D23C6307}" type="slidenum">
              <a:rPr lang="en-US"/>
              <a:pPr/>
              <a:t>16</a:t>
            </a:fld>
            <a:endParaRPr lang="en-US"/>
          </a:p>
        </p:txBody>
      </p:sp>
      <p:sp>
        <p:nvSpPr>
          <p:cNvPr id="16387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 3150</a:t>
            </a:r>
            <a:endParaRPr lang="en-US" sz="1400" b="0">
              <a:latin typeface="Times New Roman" pitchFamily="-109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Locks</a:t>
            </a:r>
          </a:p>
        </p:txBody>
      </p:sp>
      <p:sp>
        <p:nvSpPr>
          <p:cNvPr id="20486" name="Rectangle 3"/>
          <p:cNvSpPr>
            <a:spLocks noGrp="1" noChangeArrowheads="1"/>
          </p:cNvSpPr>
          <p:nvPr>
            <p:ph idx="1"/>
          </p:nvPr>
        </p:nvSpPr>
        <p:spPr>
          <a:xfrm>
            <a:off x="215999" y="878400"/>
            <a:ext cx="8570191" cy="4572000"/>
          </a:xfrm>
        </p:spPr>
        <p:txBody>
          <a:bodyPr/>
          <a:lstStyle/>
          <a:p>
            <a:r>
              <a:rPr lang="en-US" dirty="0"/>
              <a:t>A lock is an object in memory providing two operations</a:t>
            </a:r>
          </a:p>
          <a:p>
            <a:pPr lvl="1"/>
            <a:r>
              <a:rPr lang="en-US" dirty="0">
                <a:solidFill>
                  <a:srgbClr val="FF3300"/>
                </a:solidFill>
              </a:rPr>
              <a:t>acquire()</a:t>
            </a:r>
            <a:r>
              <a:rPr lang="en-US" dirty="0"/>
              <a:t>: before entering the critical region</a:t>
            </a:r>
          </a:p>
          <a:p>
            <a:pPr lvl="1"/>
            <a:r>
              <a:rPr lang="en-US" dirty="0">
                <a:solidFill>
                  <a:srgbClr val="FF3300"/>
                </a:solidFill>
              </a:rPr>
              <a:t>release()</a:t>
            </a:r>
            <a:r>
              <a:rPr lang="en-US" dirty="0"/>
              <a:t>: after leaving a critical region</a:t>
            </a:r>
          </a:p>
          <a:p>
            <a:r>
              <a:rPr lang="en-US" dirty="0"/>
              <a:t>Threads </a:t>
            </a:r>
            <a:r>
              <a:rPr lang="en-US" dirty="0">
                <a:solidFill>
                  <a:srgbClr val="FF3300"/>
                </a:solidFill>
              </a:rPr>
              <a:t>pair </a:t>
            </a:r>
            <a:r>
              <a:rPr lang="en-US" dirty="0"/>
              <a:t>the acquire() and release()</a:t>
            </a:r>
            <a:r>
              <a:rPr lang="zh-CN" altLang="en-US" dirty="0"/>
              <a:t> </a:t>
            </a:r>
            <a:r>
              <a:rPr lang="en-US" altLang="zh-CN" dirty="0"/>
              <a:t>calls</a:t>
            </a:r>
            <a:endParaRPr lang="en-US" dirty="0"/>
          </a:p>
          <a:p>
            <a:pPr lvl="1"/>
            <a:r>
              <a:rPr lang="en-US" dirty="0"/>
              <a:t>Between acquire()/release(), the thread </a:t>
            </a:r>
            <a:r>
              <a:rPr lang="en-US" dirty="0">
                <a:solidFill>
                  <a:srgbClr val="FF3300"/>
                </a:solidFill>
              </a:rPr>
              <a:t>holds</a:t>
            </a:r>
            <a:r>
              <a:rPr lang="en-US" dirty="0"/>
              <a:t> the lock</a:t>
            </a:r>
          </a:p>
          <a:p>
            <a:pPr lvl="1"/>
            <a:r>
              <a:rPr lang="en-US" dirty="0"/>
              <a:t>acquire() does not return until any previous holder releases</a:t>
            </a:r>
          </a:p>
          <a:p>
            <a:pPr lvl="1"/>
            <a:r>
              <a:rPr lang="en-US" dirty="0"/>
              <a:t>What can happen if the calls are </a:t>
            </a:r>
            <a:r>
              <a:rPr lang="en-US" b="1" dirty="0">
                <a:solidFill>
                  <a:srgbClr val="FF0000"/>
                </a:solidFill>
              </a:rPr>
              <a:t>not paired</a:t>
            </a:r>
            <a:r>
              <a:rPr lang="en-US" dirty="0"/>
              <a:t>?</a:t>
            </a:r>
          </a:p>
          <a:p>
            <a:r>
              <a:rPr lang="en-US" dirty="0"/>
              <a:t>Locks can spin (a spinlock) or block (a mutex)</a:t>
            </a:r>
          </a:p>
        </p:txBody>
      </p:sp>
      <p:sp>
        <p:nvSpPr>
          <p:cNvPr id="20484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410CFD1-0E48-A049-9170-BCD1C044658D}" type="slidenum">
              <a:rPr lang="en-US"/>
              <a:pPr/>
              <a:t>17</a:t>
            </a:fld>
            <a:endParaRPr lang="en-US"/>
          </a:p>
        </p:txBody>
      </p:sp>
      <p:sp>
        <p:nvSpPr>
          <p:cNvPr id="20483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 3150</a:t>
            </a:r>
            <a:endParaRPr lang="en-US" sz="1400" b="0">
              <a:latin typeface="Times New Roman" pitchFamily="-109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Using Locks</a:t>
            </a:r>
          </a:p>
        </p:txBody>
      </p:sp>
      <p:sp>
        <p:nvSpPr>
          <p:cNvPr id="21508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B4994FC-0F54-9840-8398-57CB2971676E}" type="slidenum">
              <a:rPr lang="en-US"/>
              <a:pPr/>
              <a:t>18</a:t>
            </a:fld>
            <a:endParaRPr lang="en-US"/>
          </a:p>
        </p:txBody>
      </p:sp>
      <p:sp>
        <p:nvSpPr>
          <p:cNvPr id="21507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 3150</a:t>
            </a:r>
            <a:endParaRPr lang="en-US" sz="1400" b="0">
              <a:latin typeface="Times New Roman" pitchFamily="-109" charset="0"/>
            </a:endParaRPr>
          </a:p>
        </p:txBody>
      </p:sp>
      <p:sp>
        <p:nvSpPr>
          <p:cNvPr id="21511" name="Text Box 4"/>
          <p:cNvSpPr txBox="1">
            <a:spLocks noChangeArrowheads="1"/>
          </p:cNvSpPr>
          <p:nvPr/>
        </p:nvSpPr>
        <p:spPr bwMode="auto">
          <a:xfrm>
            <a:off x="284170" y="1325217"/>
            <a:ext cx="3657600" cy="2551468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 type="none" w="med" len="lg"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1700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withdraw (account, amount) {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1700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   </a:t>
            </a:r>
            <a:r>
              <a:rPr lang="en-US" sz="170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acquire(lock);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1700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   </a:t>
            </a:r>
            <a:r>
              <a:rPr lang="en-US" sz="1700" b="0" dirty="0">
                <a:solidFill>
                  <a:srgbClr val="FF33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balance = </a:t>
            </a:r>
            <a:r>
              <a:rPr lang="en-US" sz="1700" b="0" dirty="0" err="1">
                <a:solidFill>
                  <a:srgbClr val="FF33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get_balance</a:t>
            </a:r>
            <a:r>
              <a:rPr lang="en-US" sz="1700" b="0" dirty="0">
                <a:solidFill>
                  <a:srgbClr val="FF33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(account);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1700" b="0" dirty="0">
                <a:solidFill>
                  <a:srgbClr val="FF33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   balance = balance – amount;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1700" b="0" dirty="0">
                <a:solidFill>
                  <a:srgbClr val="FF33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   </a:t>
            </a:r>
            <a:r>
              <a:rPr lang="en-US" sz="1700" b="0" dirty="0" err="1">
                <a:solidFill>
                  <a:srgbClr val="FF33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put_balance</a:t>
            </a:r>
            <a:r>
              <a:rPr lang="en-US" sz="1700" b="0" dirty="0">
                <a:solidFill>
                  <a:srgbClr val="FF33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(account, balance);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1700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   </a:t>
            </a:r>
            <a:r>
              <a:rPr lang="en-US" sz="170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release(lock);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1700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   return amount;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1700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}</a:t>
            </a:r>
            <a:endParaRPr lang="en-US" sz="17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21512" name="Text Box 5"/>
          <p:cNvSpPr txBox="1">
            <a:spLocks noChangeArrowheads="1"/>
          </p:cNvSpPr>
          <p:nvPr/>
        </p:nvSpPr>
        <p:spPr bwMode="auto">
          <a:xfrm>
            <a:off x="5214730" y="868017"/>
            <a:ext cx="3520440" cy="966418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2"/>
            </a:solidFill>
            <a:miter lim="800000"/>
            <a:headEnd/>
            <a:tailEnd type="none" w="med" len="lg"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160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acquire(lock);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1600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balance = get_balance(account);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1600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balance = balance – amount;</a:t>
            </a:r>
            <a:endParaRPr lang="en-US" sz="9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21513" name="Text Box 6"/>
          <p:cNvSpPr txBox="1">
            <a:spLocks noChangeArrowheads="1"/>
          </p:cNvSpPr>
          <p:nvPr/>
        </p:nvSpPr>
        <p:spPr bwMode="auto">
          <a:xfrm>
            <a:off x="5214730" y="3154017"/>
            <a:ext cx="3520440" cy="1261884"/>
          </a:xfrm>
          <a:prstGeom prst="rect">
            <a:avLst/>
          </a:prstGeom>
          <a:solidFill>
            <a:srgbClr val="CCFFFF"/>
          </a:solidFill>
          <a:ln w="9525">
            <a:solidFill>
              <a:schemeClr val="accent2"/>
            </a:solidFill>
            <a:miter lim="800000"/>
            <a:headEnd/>
            <a:tailEnd type="none" w="med" len="lg"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1600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balance = get_balance(account);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1600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balance = balance – amount;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1600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put_balance(account, balance);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160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release(lock);</a:t>
            </a:r>
          </a:p>
        </p:txBody>
      </p:sp>
      <p:sp>
        <p:nvSpPr>
          <p:cNvPr id="21514" name="Text Box 8"/>
          <p:cNvSpPr txBox="1">
            <a:spLocks noChangeArrowheads="1"/>
          </p:cNvSpPr>
          <p:nvPr/>
        </p:nvSpPr>
        <p:spPr bwMode="auto">
          <a:xfrm>
            <a:off x="5214730" y="1934817"/>
            <a:ext cx="3520440" cy="338554"/>
          </a:xfrm>
          <a:prstGeom prst="rect">
            <a:avLst/>
          </a:prstGeom>
          <a:solidFill>
            <a:srgbClr val="CCFFFF"/>
          </a:solidFill>
          <a:ln w="9525">
            <a:solidFill>
              <a:schemeClr val="accent2"/>
            </a:solidFill>
            <a:miter lim="800000"/>
            <a:headEnd/>
            <a:tailEnd type="none" w="med" len="lg"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160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acquire(lock);</a:t>
            </a:r>
          </a:p>
        </p:txBody>
      </p:sp>
      <p:sp>
        <p:nvSpPr>
          <p:cNvPr id="21515" name="Text Box 10"/>
          <p:cNvSpPr txBox="1">
            <a:spLocks noChangeArrowheads="1"/>
          </p:cNvSpPr>
          <p:nvPr/>
        </p:nvSpPr>
        <p:spPr bwMode="auto">
          <a:xfrm>
            <a:off x="5214730" y="2392017"/>
            <a:ext cx="3520440" cy="634020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2"/>
            </a:solidFill>
            <a:miter lim="800000"/>
            <a:headEnd/>
            <a:tailEnd type="none" w="med" len="lg"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1600" b="0" dirty="0" err="1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put_balance</a:t>
            </a:r>
            <a:r>
              <a:rPr lang="en-US" sz="1600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(account, balance);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sz="160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release(lock);</a:t>
            </a:r>
          </a:p>
        </p:txBody>
      </p:sp>
      <p:sp>
        <p:nvSpPr>
          <p:cNvPr id="21516" name="Line 11"/>
          <p:cNvSpPr>
            <a:spLocks noChangeShapeType="1"/>
          </p:cNvSpPr>
          <p:nvPr/>
        </p:nvSpPr>
        <p:spPr bwMode="auto">
          <a:xfrm>
            <a:off x="4986130" y="868017"/>
            <a:ext cx="0" cy="35052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stealth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17" name="Text Box 12"/>
          <p:cNvSpPr txBox="1">
            <a:spLocks noChangeArrowheads="1"/>
          </p:cNvSpPr>
          <p:nvPr/>
        </p:nvSpPr>
        <p:spPr bwMode="auto">
          <a:xfrm>
            <a:off x="3988870" y="2163417"/>
            <a:ext cx="990600" cy="646331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>
                <a:solidFill>
                  <a:srgbClr val="0099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Critical Region</a:t>
            </a:r>
          </a:p>
        </p:txBody>
      </p:sp>
      <p:sp>
        <p:nvSpPr>
          <p:cNvPr id="21518" name="AutoShape 14"/>
          <p:cNvSpPr>
            <a:spLocks/>
          </p:cNvSpPr>
          <p:nvPr/>
        </p:nvSpPr>
        <p:spPr bwMode="auto">
          <a:xfrm>
            <a:off x="3974320" y="1934817"/>
            <a:ext cx="76200" cy="1219200"/>
          </a:xfrm>
          <a:prstGeom prst="rightBrace">
            <a:avLst>
              <a:gd name="adj1" fmla="val 54167"/>
              <a:gd name="adj2" fmla="val 50000"/>
            </a:avLst>
          </a:prstGeom>
          <a:noFill/>
          <a:ln w="9525">
            <a:solidFill>
              <a:schemeClr val="accent2"/>
            </a:solidFill>
            <a:round/>
            <a:headEnd/>
            <a:tailEnd type="none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200FF2-12B5-2B45-3F98-2EF3AF961EBD}"/>
              </a:ext>
            </a:extLst>
          </p:cNvPr>
          <p:cNvSpPr txBox="1"/>
          <p:nvPr/>
        </p:nvSpPr>
        <p:spPr>
          <a:xfrm>
            <a:off x="447266" y="4709488"/>
            <a:ext cx="7750966" cy="108171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D60093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What happens when blue tries to acquire the lock?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D60093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Why is the “return” outside the critical region? Is this OK?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D60093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What happens when a third thread calls acquire?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Implementing Locks (1)</a:t>
            </a:r>
          </a:p>
        </p:txBody>
      </p:sp>
      <p:sp>
        <p:nvSpPr>
          <p:cNvPr id="22533" name="Rectangle 6"/>
          <p:cNvSpPr>
            <a:spLocks noGrp="1" noChangeArrowheads="1"/>
          </p:cNvSpPr>
          <p:nvPr>
            <p:ph idx="1"/>
          </p:nvPr>
        </p:nvSpPr>
        <p:spPr>
          <a:xfrm>
            <a:off x="215999" y="878400"/>
            <a:ext cx="8619887" cy="4800600"/>
          </a:xfrm>
          <a:noFill/>
        </p:spPr>
        <p:txBody>
          <a:bodyPr>
            <a:noAutofit/>
          </a:bodyPr>
          <a:lstStyle/>
          <a:p>
            <a:pPr latinLnBrk="0"/>
            <a:r>
              <a:rPr lang="en-US" dirty="0"/>
              <a:t>How do we implement locks?  Here is one attempt:</a:t>
            </a:r>
          </a:p>
          <a:p>
            <a:pPr latinLnBrk="0"/>
            <a:endParaRPr lang="en-US" dirty="0"/>
          </a:p>
          <a:p>
            <a:pPr latinLnBrk="0"/>
            <a:endParaRPr lang="en-US" dirty="0"/>
          </a:p>
          <a:p>
            <a:pPr latinLnBrk="0"/>
            <a:endParaRPr lang="en-US" dirty="0"/>
          </a:p>
          <a:p>
            <a:pPr latinLnBrk="0"/>
            <a:endParaRPr lang="en-US" dirty="0"/>
          </a:p>
          <a:p>
            <a:pPr marL="0" indent="0" latinLnBrk="0">
              <a:buNone/>
            </a:pPr>
            <a:endParaRPr lang="en-US" dirty="0"/>
          </a:p>
          <a:p>
            <a:pPr marL="0" indent="0" latinLnBrk="0">
              <a:buNone/>
            </a:pPr>
            <a:endParaRPr lang="en-US" dirty="0"/>
          </a:p>
          <a:p>
            <a:pPr latinLnBrk="0"/>
            <a:endParaRPr lang="en-US" dirty="0"/>
          </a:p>
          <a:p>
            <a:pPr latinLnBrk="0"/>
            <a:r>
              <a:rPr lang="en-US" dirty="0"/>
              <a:t>This is called a </a:t>
            </a:r>
            <a:r>
              <a:rPr lang="en-US" dirty="0">
                <a:solidFill>
                  <a:srgbClr val="FF3300"/>
                </a:solidFill>
              </a:rPr>
              <a:t>spinlock</a:t>
            </a:r>
            <a:r>
              <a:rPr lang="en-US" dirty="0"/>
              <a:t> because a thread spins waiting for the lock to be released</a:t>
            </a:r>
          </a:p>
          <a:p>
            <a:pPr lvl="1"/>
            <a:r>
              <a:rPr lang="en-US" dirty="0"/>
              <a:t>Does this work?</a:t>
            </a:r>
          </a:p>
        </p:txBody>
      </p:sp>
      <p:sp>
        <p:nvSpPr>
          <p:cNvPr id="22532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8053042C-C875-4F48-ABDE-04023719311E}" type="slidenum">
              <a:rPr lang="en-US"/>
              <a:pPr/>
              <a:t>19</a:t>
            </a:fld>
            <a:endParaRPr lang="en-US"/>
          </a:p>
        </p:txBody>
      </p:sp>
      <p:sp>
        <p:nvSpPr>
          <p:cNvPr id="22531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 3150</a:t>
            </a:r>
            <a:endParaRPr lang="en-US" sz="1400" b="0">
              <a:latin typeface="Times New Roman" pitchFamily="-109" charset="0"/>
            </a:endParaRPr>
          </a:p>
        </p:txBody>
      </p:sp>
      <p:sp>
        <p:nvSpPr>
          <p:cNvPr id="2" name="Text Box 5">
            <a:extLst>
              <a:ext uri="{FF2B5EF4-FFF2-40B4-BE49-F238E27FC236}">
                <a16:creationId xmlns:a16="http://schemas.microsoft.com/office/drawing/2014/main" id="{CD0B3053-4A97-66C9-60DC-8839B01FB0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1092" y="1487555"/>
            <a:ext cx="4175038" cy="3360921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 type="none" w="med" len="lg"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b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struct lock {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b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   int held = 0;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b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}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b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void </a:t>
            </a:r>
            <a:r>
              <a:rPr lang="en-US" b="0">
                <a:solidFill>
                  <a:srgbClr val="0000FF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acquire</a:t>
            </a:r>
            <a:r>
              <a:rPr lang="en-US" b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(lock) {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b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   while (lock-&gt;held);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b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   lock-&gt;held = 1;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b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}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b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void </a:t>
            </a:r>
            <a:r>
              <a:rPr lang="en-US" b="0">
                <a:solidFill>
                  <a:srgbClr val="0000FF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release</a:t>
            </a:r>
            <a:r>
              <a:rPr lang="en-US" b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(lock) {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b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   lock-&gt;held = 0;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b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}</a:t>
            </a:r>
            <a:endParaRPr lang="en-US" sz="100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" name="AutoShape 7">
            <a:extLst>
              <a:ext uri="{FF2B5EF4-FFF2-40B4-BE49-F238E27FC236}">
                <a16:creationId xmlns:a16="http://schemas.microsoft.com/office/drawing/2014/main" id="{23BAA34B-8EC8-F1D4-459E-33D54453E112}"/>
              </a:ext>
            </a:extLst>
          </p:cNvPr>
          <p:cNvSpPr>
            <a:spLocks/>
          </p:cNvSpPr>
          <p:nvPr/>
        </p:nvSpPr>
        <p:spPr bwMode="auto">
          <a:xfrm>
            <a:off x="5635487" y="2405267"/>
            <a:ext cx="2769290" cy="685800"/>
          </a:xfrm>
          <a:prstGeom prst="borderCallout2">
            <a:avLst>
              <a:gd name="adj1" fmla="val 16667"/>
              <a:gd name="adj2" fmla="val -3449"/>
              <a:gd name="adj3" fmla="val 16667"/>
              <a:gd name="adj4" fmla="val -40014"/>
              <a:gd name="adj5" fmla="val 73843"/>
              <a:gd name="adj6" fmla="val -78019"/>
            </a:avLst>
          </a:prstGeom>
          <a:noFill/>
          <a:ln w="9525">
            <a:solidFill>
              <a:schemeClr val="accent2"/>
            </a:solidFill>
            <a:miter lim="800000"/>
            <a:headEnd type="none" w="med" len="lg"/>
            <a:tailEnd type="stealth" w="med" len="lg"/>
          </a:ln>
        </p:spPr>
        <p:txBody>
          <a:bodyPr anchor="ctr">
            <a:prstTxWarp prst="textNoShape">
              <a:avLst/>
            </a:prstTxWarp>
          </a:bodyPr>
          <a:lstStyle/>
          <a:p>
            <a:r>
              <a:rPr lang="en-US" b="0" dirty="0">
                <a:solidFill>
                  <a:srgbClr val="D60093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busy-wait (spin-wait) for lock to be released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Implementing Locks (2)</a:t>
            </a:r>
          </a:p>
        </p:txBody>
      </p:sp>
      <p:sp>
        <p:nvSpPr>
          <p:cNvPr id="23558" name="Rectangle 3"/>
          <p:cNvSpPr>
            <a:spLocks noGrp="1" noChangeArrowheads="1"/>
          </p:cNvSpPr>
          <p:nvPr>
            <p:ph idx="1"/>
          </p:nvPr>
        </p:nvSpPr>
        <p:spPr>
          <a:xfrm>
            <a:off x="216000" y="878400"/>
            <a:ext cx="8659643" cy="1538326"/>
          </a:xfrm>
        </p:spPr>
        <p:txBody>
          <a:bodyPr/>
          <a:lstStyle/>
          <a:p>
            <a:pPr latinLnBrk="0"/>
            <a:r>
              <a:rPr lang="en-US" dirty="0"/>
              <a:t>No</a:t>
            </a:r>
            <a:r>
              <a:rPr lang="en-US" altLang="zh-CN" dirty="0"/>
              <a:t>!</a:t>
            </a:r>
            <a:r>
              <a:rPr lang="en-US" dirty="0"/>
              <a:t> Two independent threads may both notice that a lock has been released and thereby acquire it.</a:t>
            </a:r>
          </a:p>
        </p:txBody>
      </p:sp>
      <p:sp>
        <p:nvSpPr>
          <p:cNvPr id="23556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2ECEA1DB-796E-F847-A58B-BC6A5B008F73}" type="slidenum">
              <a:rPr lang="en-US"/>
              <a:pPr/>
              <a:t>20</a:t>
            </a:fld>
            <a:endParaRPr lang="en-US"/>
          </a:p>
        </p:txBody>
      </p:sp>
      <p:sp>
        <p:nvSpPr>
          <p:cNvPr id="23555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 3150</a:t>
            </a:r>
            <a:endParaRPr lang="en-US" sz="1400" b="0">
              <a:latin typeface="Times New Roman" pitchFamily="-109" charset="0"/>
            </a:endParaRPr>
          </a:p>
        </p:txBody>
      </p:sp>
      <p:sp>
        <p:nvSpPr>
          <p:cNvPr id="23559" name="Text Box 4"/>
          <p:cNvSpPr txBox="1">
            <a:spLocks noChangeArrowheads="1"/>
          </p:cNvSpPr>
          <p:nvPr/>
        </p:nvSpPr>
        <p:spPr bwMode="auto">
          <a:xfrm>
            <a:off x="1156253" y="2272751"/>
            <a:ext cx="3429000" cy="3360921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 type="none" w="med" len="lg"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b="0" dirty="0" err="1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struct</a:t>
            </a: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lock {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   </a:t>
            </a:r>
            <a:r>
              <a:rPr lang="en-US" b="0" dirty="0" err="1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int</a:t>
            </a: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held = 0;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}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void </a:t>
            </a:r>
            <a:r>
              <a:rPr lang="en-US" b="0" dirty="0">
                <a:solidFill>
                  <a:srgbClr val="0000FF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acquire</a:t>
            </a: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(lock) {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   while (lock-&gt;held);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   lock-&gt;held = 1;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}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void </a:t>
            </a:r>
            <a:r>
              <a:rPr lang="en-US" b="0" dirty="0">
                <a:solidFill>
                  <a:srgbClr val="0000FF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release</a:t>
            </a: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(lock) {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   lock-&gt;held = 0;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}</a:t>
            </a:r>
            <a:endParaRPr lang="en-US" sz="10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23560" name="AutoShape 5"/>
          <p:cNvSpPr>
            <a:spLocks/>
          </p:cNvSpPr>
          <p:nvPr/>
        </p:nvSpPr>
        <p:spPr bwMode="auto">
          <a:xfrm>
            <a:off x="4860239" y="3034751"/>
            <a:ext cx="3683690" cy="685800"/>
          </a:xfrm>
          <a:prstGeom prst="borderCallout2">
            <a:avLst>
              <a:gd name="adj1" fmla="val 16667"/>
              <a:gd name="adj2" fmla="val -2500"/>
              <a:gd name="adj3" fmla="val 16667"/>
              <a:gd name="adj4" fmla="val -16981"/>
              <a:gd name="adj5" fmla="val 131787"/>
              <a:gd name="adj6" fmla="val -67549"/>
            </a:avLst>
          </a:prstGeom>
          <a:noFill/>
          <a:ln w="9525">
            <a:solidFill>
              <a:schemeClr val="accent2"/>
            </a:solidFill>
            <a:miter lim="800000"/>
            <a:headEnd type="none" w="med" len="lg"/>
            <a:tailEnd type="stealth" w="med" len="lg"/>
          </a:ln>
        </p:spPr>
        <p:txBody>
          <a:bodyPr anchor="ctr">
            <a:prstTxWarp prst="textNoShape">
              <a:avLst/>
            </a:prstTxWarp>
          </a:bodyPr>
          <a:lstStyle/>
          <a:p>
            <a:r>
              <a:rPr lang="en-US" b="0" dirty="0">
                <a:solidFill>
                  <a:srgbClr val="D60093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A context switch can occur here, causing a race condition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Implementing Locks (3)</a:t>
            </a:r>
          </a:p>
        </p:txBody>
      </p:sp>
      <p:sp>
        <p:nvSpPr>
          <p:cNvPr id="24582" name="Rectangle 3"/>
          <p:cNvSpPr>
            <a:spLocks noGrp="1" noChangeArrowheads="1"/>
          </p:cNvSpPr>
          <p:nvPr>
            <p:ph idx="1"/>
          </p:nvPr>
        </p:nvSpPr>
        <p:spPr>
          <a:xfrm>
            <a:off x="216000" y="878400"/>
            <a:ext cx="8679522" cy="4419600"/>
          </a:xfrm>
        </p:spPr>
        <p:txBody>
          <a:bodyPr>
            <a:noAutofit/>
          </a:bodyPr>
          <a:lstStyle/>
          <a:p>
            <a:pPr latinLnBrk="0"/>
            <a:r>
              <a:rPr lang="en-US" altLang="zh-CN" dirty="0"/>
              <a:t>T</a:t>
            </a:r>
            <a:r>
              <a:rPr lang="en-US" dirty="0"/>
              <a:t>he implementation of locks</a:t>
            </a:r>
            <a:r>
              <a:rPr lang="zh-CN" altLang="en-US" dirty="0"/>
              <a:t> </a:t>
            </a:r>
            <a:r>
              <a:rPr lang="en-US" dirty="0"/>
              <a:t>has critical sections, too</a:t>
            </a:r>
          </a:p>
          <a:p>
            <a:pPr lvl="1"/>
            <a:r>
              <a:rPr lang="en-US" dirty="0"/>
              <a:t>The implementation of acquire/release must be </a:t>
            </a:r>
            <a:r>
              <a:rPr lang="en-US" dirty="0">
                <a:solidFill>
                  <a:srgbClr val="FF3300"/>
                </a:solidFill>
              </a:rPr>
              <a:t>atomic</a:t>
            </a:r>
          </a:p>
          <a:p>
            <a:pPr lvl="1"/>
            <a:r>
              <a:rPr lang="en-US" dirty="0"/>
              <a:t>“</a:t>
            </a:r>
            <a:r>
              <a:rPr lang="en-US" altLang="zh-CN" dirty="0"/>
              <a:t>A</a:t>
            </a:r>
            <a:r>
              <a:rPr lang="en-US" dirty="0"/>
              <a:t>ll or nothing”</a:t>
            </a:r>
          </a:p>
          <a:p>
            <a:pPr lvl="1"/>
            <a:r>
              <a:rPr lang="en-US" dirty="0"/>
              <a:t>How do we stop the recursion?</a:t>
            </a:r>
          </a:p>
          <a:p>
            <a:pPr latinLnBrk="0"/>
            <a:r>
              <a:rPr lang="en-US" dirty="0"/>
              <a:t>Need help from </a:t>
            </a:r>
            <a:r>
              <a:rPr lang="en-US" u="sng" dirty="0"/>
              <a:t>hardware</a:t>
            </a:r>
          </a:p>
          <a:p>
            <a:pPr lvl="1"/>
            <a:r>
              <a:rPr lang="en-US" dirty="0"/>
              <a:t>Atomic instructions (e.g., test-and-set)</a:t>
            </a:r>
          </a:p>
          <a:p>
            <a:pPr lvl="1"/>
            <a:r>
              <a:rPr lang="en-US" dirty="0"/>
              <a:t>Disable/enable interrupts (prevents context switches)</a:t>
            </a:r>
          </a:p>
        </p:txBody>
      </p:sp>
      <p:sp>
        <p:nvSpPr>
          <p:cNvPr id="24580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A6E14533-0240-B64D-9C62-0C4AB5C85C3B}" type="slidenum">
              <a:rPr lang="en-US"/>
              <a:pPr/>
              <a:t>21</a:t>
            </a:fld>
            <a:endParaRPr lang="en-US"/>
          </a:p>
        </p:txBody>
      </p:sp>
      <p:sp>
        <p:nvSpPr>
          <p:cNvPr id="24579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 3150</a:t>
            </a:r>
            <a:endParaRPr lang="en-US" sz="1400" b="0">
              <a:latin typeface="Times New Roman" pitchFamily="-109" charset="0"/>
            </a:endParaRPr>
          </a:p>
        </p:txBody>
      </p:sp>
      <p:pic>
        <p:nvPicPr>
          <p:cNvPr id="2" name="Picture 2" descr="The best Huh? memes :) Memedroid">
            <a:extLst>
              <a:ext uri="{FF2B5EF4-FFF2-40B4-BE49-F238E27FC236}">
                <a16:creationId xmlns:a16="http://schemas.microsoft.com/office/drawing/2014/main" id="{EBABF37A-0A13-76C1-AA5D-E16E925308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1849" y="1560000"/>
            <a:ext cx="1626323" cy="901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5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45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45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Atomic Instructions: Test-And-Set</a:t>
            </a:r>
          </a:p>
        </p:txBody>
      </p:sp>
      <p:sp>
        <p:nvSpPr>
          <p:cNvPr id="25606" name="Rectangle 3"/>
          <p:cNvSpPr>
            <a:spLocks noGrp="1" noChangeArrowheads="1"/>
          </p:cNvSpPr>
          <p:nvPr>
            <p:ph idx="1"/>
          </p:nvPr>
        </p:nvSpPr>
        <p:spPr>
          <a:xfrm>
            <a:off x="216000" y="878400"/>
            <a:ext cx="8609948" cy="4876800"/>
          </a:xfrm>
        </p:spPr>
        <p:txBody>
          <a:bodyPr>
            <a:noAutofit/>
          </a:bodyPr>
          <a:lstStyle/>
          <a:p>
            <a:r>
              <a:rPr lang="en-US" dirty="0"/>
              <a:t>The semantics of test-and-set are:</a:t>
            </a:r>
          </a:p>
          <a:p>
            <a:pPr lvl="1"/>
            <a:r>
              <a:rPr lang="en-US" dirty="0"/>
              <a:t>Record the old value</a:t>
            </a:r>
          </a:p>
          <a:p>
            <a:pPr lvl="1"/>
            <a:r>
              <a:rPr lang="en-US" dirty="0"/>
              <a:t>Set the value to </a:t>
            </a:r>
            <a:r>
              <a:rPr lang="en-US" dirty="0">
                <a:solidFill>
                  <a:srgbClr val="FF0000"/>
                </a:solidFill>
              </a:rPr>
              <a:t>TRUE</a:t>
            </a:r>
          </a:p>
          <a:p>
            <a:pPr lvl="1"/>
            <a:r>
              <a:rPr lang="en-US" dirty="0"/>
              <a:t>Return the old value </a:t>
            </a:r>
          </a:p>
          <a:p>
            <a:r>
              <a:rPr lang="en-US" dirty="0"/>
              <a:t>Hardware executes it </a:t>
            </a:r>
            <a:r>
              <a:rPr lang="en-US" b="1" dirty="0">
                <a:solidFill>
                  <a:srgbClr val="FF0000"/>
                </a:solidFill>
              </a:rPr>
              <a:t>atomically</a:t>
            </a:r>
            <a:r>
              <a:rPr lang="en-US" dirty="0"/>
              <a:t>!</a:t>
            </a:r>
          </a:p>
          <a:p>
            <a:r>
              <a:rPr lang="en-US" dirty="0"/>
              <a:t>When executing test-and-set on “flag”</a:t>
            </a:r>
          </a:p>
          <a:p>
            <a:pPr lvl="1"/>
            <a:r>
              <a:rPr lang="en-US" dirty="0"/>
              <a:t>What is th</a:t>
            </a:r>
            <a:r>
              <a:rPr lang="en-US" altLang="zh-CN" dirty="0"/>
              <a:t>e</a:t>
            </a:r>
            <a:r>
              <a:rPr lang="zh-CN" altLang="en-US" dirty="0"/>
              <a:t> </a:t>
            </a:r>
            <a:r>
              <a:rPr lang="en-US" dirty="0">
                <a:solidFill>
                  <a:srgbClr val="0000FF"/>
                </a:solidFill>
              </a:rPr>
              <a:t>value of flag</a:t>
            </a:r>
            <a:r>
              <a:rPr lang="en-US" dirty="0"/>
              <a:t> afterwards if it was initially False?</a:t>
            </a:r>
          </a:p>
          <a:p>
            <a:pPr lvl="1"/>
            <a:r>
              <a:rPr lang="en-US" dirty="0"/>
              <a:t>What is the </a:t>
            </a:r>
            <a:r>
              <a:rPr lang="en-US" dirty="0">
                <a:solidFill>
                  <a:srgbClr val="0000FF"/>
                </a:solidFill>
              </a:rPr>
              <a:t>return result</a:t>
            </a:r>
            <a:r>
              <a:rPr lang="en-US" dirty="0"/>
              <a:t> if flag was initially False?</a:t>
            </a:r>
          </a:p>
        </p:txBody>
      </p:sp>
      <p:sp>
        <p:nvSpPr>
          <p:cNvPr id="25604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E797659D-BFEB-E74B-A44D-D63FBDFA0448}" type="slidenum">
              <a:rPr lang="en-US"/>
              <a:pPr/>
              <a:t>22</a:t>
            </a:fld>
            <a:endParaRPr lang="en-US"/>
          </a:p>
        </p:txBody>
      </p:sp>
      <p:sp>
        <p:nvSpPr>
          <p:cNvPr id="25603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 3150</a:t>
            </a:r>
            <a:endParaRPr lang="en-US" sz="1400" b="0">
              <a:latin typeface="Times New Roman" pitchFamily="-109" charset="0"/>
            </a:endParaRPr>
          </a:p>
        </p:txBody>
      </p:sp>
      <p:sp>
        <p:nvSpPr>
          <p:cNvPr id="2" name="Text Box 5">
            <a:extLst>
              <a:ext uri="{FF2B5EF4-FFF2-40B4-BE49-F238E27FC236}">
                <a16:creationId xmlns:a16="http://schemas.microsoft.com/office/drawing/2014/main" id="{7062980C-2655-2298-53AE-EC99FAAC58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4783" y="1326637"/>
            <a:ext cx="3723217" cy="1698927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 type="none" w="med" len="lg"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bool </a:t>
            </a:r>
            <a:r>
              <a:rPr lang="en-US" b="0" dirty="0" err="1">
                <a:solidFill>
                  <a:srgbClr val="0000FF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test_and_set</a:t>
            </a: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(bool *flag) {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   bool old = *flag;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   *flag = True;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   return old;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Using Test-And-Set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idx="1"/>
          </p:nvPr>
        </p:nvSpPr>
        <p:spPr>
          <a:xfrm>
            <a:off x="215999" y="878400"/>
            <a:ext cx="8460861" cy="4648200"/>
          </a:xfrm>
        </p:spPr>
        <p:txBody>
          <a:bodyPr>
            <a:noAutofit/>
          </a:bodyPr>
          <a:lstStyle/>
          <a:p>
            <a:r>
              <a:rPr lang="en-US" sz="2000" dirty="0"/>
              <a:t>Here is our lock implementation with test-and-set:</a:t>
            </a:r>
          </a:p>
          <a:p>
            <a:pPr>
              <a:buNone/>
            </a:pP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>
              <a:solidFill>
                <a:srgbClr val="D60093"/>
              </a:solidFill>
            </a:endParaRPr>
          </a:p>
          <a:p>
            <a:r>
              <a:rPr lang="en-US" sz="2000" dirty="0">
                <a:solidFill>
                  <a:srgbClr val="D60093"/>
                </a:solidFill>
              </a:rPr>
              <a:t>When will the while return?  What is the value of held? </a:t>
            </a:r>
          </a:p>
          <a:p>
            <a:r>
              <a:rPr lang="en-US" sz="2000" dirty="0">
                <a:solidFill>
                  <a:srgbClr val="D60093"/>
                </a:solidFill>
              </a:rPr>
              <a:t>Does it work? What about multiprocessors?</a:t>
            </a:r>
          </a:p>
        </p:txBody>
      </p:sp>
      <p:sp>
        <p:nvSpPr>
          <p:cNvPr id="26628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6923D4CC-30E6-1042-B2BE-019F3F116C60}" type="slidenum">
              <a:rPr lang="en-US"/>
              <a:pPr/>
              <a:t>23</a:t>
            </a:fld>
            <a:endParaRPr lang="en-US"/>
          </a:p>
        </p:txBody>
      </p:sp>
      <p:sp>
        <p:nvSpPr>
          <p:cNvPr id="26627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 3150</a:t>
            </a:r>
            <a:endParaRPr lang="en-US" sz="1400" b="0">
              <a:latin typeface="Times New Roman" pitchFamily="-109" charset="0"/>
            </a:endParaRPr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id="{04A23D46-41E1-0AAE-DFE7-6D0A34065C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3532" y="1410270"/>
            <a:ext cx="4405793" cy="3028522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 type="none" w="med" len="lg"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struct lock {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   int held = 0;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}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void </a:t>
            </a:r>
            <a:r>
              <a:rPr lang="en-US" b="0" dirty="0">
                <a:solidFill>
                  <a:srgbClr val="0000FF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acquire</a:t>
            </a: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(lock) {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   while (</a:t>
            </a:r>
            <a:r>
              <a:rPr lang="en-US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test-and-set(&amp;lock-&gt;held)</a:t>
            </a: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);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}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void </a:t>
            </a:r>
            <a:r>
              <a:rPr lang="en-US" b="0" dirty="0">
                <a:solidFill>
                  <a:srgbClr val="0000FF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release</a:t>
            </a: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(lock) {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   lock-&gt;held = 0;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}</a:t>
            </a:r>
            <a:endParaRPr lang="en-US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Problems with Spinlocks</a:t>
            </a:r>
          </a:p>
        </p:txBody>
      </p:sp>
      <p:sp>
        <p:nvSpPr>
          <p:cNvPr id="27654" name="Rectangle 3"/>
          <p:cNvSpPr>
            <a:spLocks noGrp="1" noChangeArrowheads="1"/>
          </p:cNvSpPr>
          <p:nvPr>
            <p:ph idx="1"/>
          </p:nvPr>
        </p:nvSpPr>
        <p:spPr>
          <a:xfrm>
            <a:off x="216000" y="878399"/>
            <a:ext cx="8629826" cy="5333557"/>
          </a:xfrm>
        </p:spPr>
        <p:txBody>
          <a:bodyPr lIns="90000">
            <a:noAutofit/>
          </a:bodyPr>
          <a:lstStyle/>
          <a:p>
            <a:r>
              <a:rPr lang="en-US" dirty="0"/>
              <a:t>The problem with spinlocks is that they are wasteful</a:t>
            </a:r>
          </a:p>
          <a:p>
            <a:pPr lvl="1"/>
            <a:r>
              <a:rPr lang="en-US" dirty="0"/>
              <a:t>If a thread is spinning on a lock, then the thread holding the lock cannot make progress</a:t>
            </a:r>
          </a:p>
          <a:p>
            <a:r>
              <a:rPr lang="en-US" dirty="0"/>
              <a:t>Solution 1:</a:t>
            </a:r>
          </a:p>
          <a:p>
            <a:pPr lvl="1"/>
            <a:r>
              <a:rPr lang="en-US" dirty="0"/>
              <a:t>If cannot get the lock, call thread_yield to give up the CPU </a:t>
            </a:r>
          </a:p>
          <a:p>
            <a:r>
              <a:rPr lang="en-US" dirty="0"/>
              <a:t>Solution 2: sleep and wakeup</a:t>
            </a:r>
          </a:p>
          <a:p>
            <a:pPr lvl="1"/>
            <a:r>
              <a:rPr lang="en-US" dirty="0"/>
              <a:t>When blocked, go to sleep</a:t>
            </a:r>
          </a:p>
          <a:p>
            <a:pPr lvl="1"/>
            <a:r>
              <a:rPr lang="en-US" dirty="0"/>
              <a:t>Wakeup when it is OK to retry entering the critical region</a:t>
            </a:r>
          </a:p>
        </p:txBody>
      </p:sp>
      <p:sp>
        <p:nvSpPr>
          <p:cNvPr id="27652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9F05579-266A-044E-87CA-4FC0408014BB}" type="slidenum">
              <a:rPr lang="en-US"/>
              <a:pPr/>
              <a:t>24</a:t>
            </a:fld>
            <a:endParaRPr lang="en-US"/>
          </a:p>
        </p:txBody>
      </p:sp>
      <p:sp>
        <p:nvSpPr>
          <p:cNvPr id="27651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 3150</a:t>
            </a:r>
            <a:endParaRPr lang="en-US" sz="1400" b="0">
              <a:latin typeface="Times New Roman" pitchFamily="-109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Disabling Interrupts</a:t>
            </a:r>
          </a:p>
        </p:txBody>
      </p:sp>
      <p:sp>
        <p:nvSpPr>
          <p:cNvPr id="28678" name="Rectangle 3"/>
          <p:cNvSpPr>
            <a:spLocks noGrp="1" noChangeArrowheads="1"/>
          </p:cNvSpPr>
          <p:nvPr>
            <p:ph idx="1"/>
          </p:nvPr>
        </p:nvSpPr>
        <p:spPr>
          <a:xfrm>
            <a:off x="216000" y="878400"/>
            <a:ext cx="8699400" cy="4481513"/>
          </a:xfrm>
        </p:spPr>
        <p:txBody>
          <a:bodyPr>
            <a:noAutofit/>
          </a:bodyPr>
          <a:lstStyle/>
          <a:p>
            <a:r>
              <a:rPr lang="en-US" dirty="0"/>
              <a:t>Another implementation of acquire/release is to disable interrupts:</a:t>
            </a:r>
          </a:p>
          <a:p>
            <a:endParaRPr lang="en-US" dirty="0"/>
          </a:p>
          <a:p>
            <a:pPr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Note that there is no state associated with the lock</a:t>
            </a:r>
          </a:p>
          <a:p>
            <a:r>
              <a:rPr lang="en-US" dirty="0">
                <a:solidFill>
                  <a:srgbClr val="D60093"/>
                </a:solidFill>
              </a:rPr>
              <a:t>Can two threads disable interrupts simultaneously?</a:t>
            </a:r>
          </a:p>
        </p:txBody>
      </p:sp>
      <p:sp>
        <p:nvSpPr>
          <p:cNvPr id="28676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5BBE97F1-C262-4A4B-A910-95EA7D7916A1}" type="slidenum">
              <a:rPr lang="en-US"/>
              <a:pPr/>
              <a:t>25</a:t>
            </a:fld>
            <a:endParaRPr lang="en-US"/>
          </a:p>
        </p:txBody>
      </p:sp>
      <p:sp>
        <p:nvSpPr>
          <p:cNvPr id="28675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 3150</a:t>
            </a:r>
            <a:endParaRPr lang="en-US" sz="1400" b="0">
              <a:latin typeface="Times New Roman" pitchFamily="-109" charset="0"/>
            </a:endParaRPr>
          </a:p>
        </p:txBody>
      </p:sp>
      <p:sp>
        <p:nvSpPr>
          <p:cNvPr id="28679" name="Text Box 4"/>
          <p:cNvSpPr txBox="1">
            <a:spLocks noChangeArrowheads="1"/>
          </p:cNvSpPr>
          <p:nvPr/>
        </p:nvSpPr>
        <p:spPr bwMode="auto">
          <a:xfrm>
            <a:off x="2556721" y="1460988"/>
            <a:ext cx="4101995" cy="2696123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 type="none" w="med" len="lg"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b="0" dirty="0" err="1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struct</a:t>
            </a: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lock {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}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void </a:t>
            </a:r>
            <a:r>
              <a:rPr lang="en-US" b="0" dirty="0">
                <a:solidFill>
                  <a:srgbClr val="0000FF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acquire</a:t>
            </a: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(lock) {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   </a:t>
            </a:r>
            <a:r>
              <a:rPr lang="en-US" b="0" i="1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disable interrupts</a:t>
            </a: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;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}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void </a:t>
            </a:r>
            <a:r>
              <a:rPr lang="en-US" b="0" dirty="0">
                <a:solidFill>
                  <a:srgbClr val="0000FF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release</a:t>
            </a: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(lock) {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   </a:t>
            </a:r>
            <a:r>
              <a:rPr lang="en-US" b="0" i="1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enable interrupts</a:t>
            </a: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;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}</a:t>
            </a:r>
            <a:endParaRPr lang="en-US" sz="10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On Disabling Interrupts</a:t>
            </a:r>
          </a:p>
        </p:txBody>
      </p:sp>
      <p:sp>
        <p:nvSpPr>
          <p:cNvPr id="29702" name="Rectangle 3"/>
          <p:cNvSpPr>
            <a:spLocks noGrp="1" noChangeArrowheads="1"/>
          </p:cNvSpPr>
          <p:nvPr>
            <p:ph idx="1"/>
          </p:nvPr>
        </p:nvSpPr>
        <p:spPr>
          <a:xfrm>
            <a:off x="216000" y="878400"/>
            <a:ext cx="8649704" cy="4648200"/>
          </a:xfrm>
        </p:spPr>
        <p:txBody>
          <a:bodyPr>
            <a:noAutofit/>
          </a:bodyPr>
          <a:lstStyle/>
          <a:p>
            <a:pPr latinLnBrk="0"/>
            <a:r>
              <a:rPr lang="en-US" dirty="0"/>
              <a:t>Disabling interrupts blocks notifications of external events that could trigger a context switch (e.g., timer)</a:t>
            </a:r>
          </a:p>
          <a:p>
            <a:pPr latinLnBrk="0"/>
            <a:r>
              <a:rPr lang="en-US" dirty="0"/>
              <a:t>In a “real” system, this is only available to the kernel</a:t>
            </a:r>
          </a:p>
          <a:p>
            <a:pPr lvl="1"/>
            <a:r>
              <a:rPr lang="en-US" dirty="0"/>
              <a:t>Why?</a:t>
            </a:r>
          </a:p>
          <a:p>
            <a:pPr latinLnBrk="0"/>
            <a:r>
              <a:rPr lang="en-US" dirty="0">
                <a:solidFill>
                  <a:srgbClr val="FF3300"/>
                </a:solidFill>
              </a:rPr>
              <a:t>Disabling interrupts is insufficient on a multiprocessor</a:t>
            </a:r>
          </a:p>
          <a:p>
            <a:pPr lvl="1"/>
            <a:r>
              <a:rPr lang="en-US" dirty="0"/>
              <a:t>Back to atomic instructions</a:t>
            </a:r>
          </a:p>
        </p:txBody>
      </p:sp>
      <p:sp>
        <p:nvSpPr>
          <p:cNvPr id="29700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D60B4A6-9B36-8B44-A072-98248B48FCFB}" type="slidenum">
              <a:rPr lang="en-US"/>
              <a:pPr/>
              <a:t>26</a:t>
            </a:fld>
            <a:endParaRPr lang="en-US"/>
          </a:p>
        </p:txBody>
      </p:sp>
      <p:sp>
        <p:nvSpPr>
          <p:cNvPr id="29699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 3150</a:t>
            </a:r>
            <a:endParaRPr lang="en-US" sz="1400" b="0">
              <a:latin typeface="Times New Roman" pitchFamily="-109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Critical regions without hardware support?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6000" y="878400"/>
            <a:ext cx="8600009" cy="4587692"/>
          </a:xfrm>
        </p:spPr>
        <p:txBody>
          <a:bodyPr>
            <a:noAutofit/>
          </a:bodyPr>
          <a:lstStyle/>
          <a:p>
            <a:pPr latinLnBrk="0"/>
            <a:r>
              <a:rPr lang="en-US" dirty="0"/>
              <a:t>So far, we have seen how to implement critical regions (lock) with hardware support</a:t>
            </a:r>
          </a:p>
          <a:p>
            <a:pPr lvl="1"/>
            <a:r>
              <a:rPr lang="en-US" dirty="0"/>
              <a:t>Atomic instruction</a:t>
            </a:r>
          </a:p>
          <a:p>
            <a:pPr lvl="1"/>
            <a:r>
              <a:rPr lang="en-US" dirty="0"/>
              <a:t>Disabling interrupts</a:t>
            </a:r>
          </a:p>
          <a:p>
            <a:pPr latinLnBrk="0"/>
            <a:r>
              <a:rPr lang="en-US" dirty="0"/>
              <a:t>Can we implement lock </a:t>
            </a:r>
            <a:r>
              <a:rPr lang="en-US" b="1" i="1" dirty="0">
                <a:solidFill>
                  <a:srgbClr val="FF0000"/>
                </a:solidFill>
              </a:rPr>
              <a:t>without </a:t>
            </a:r>
            <a:r>
              <a:rPr lang="en-US" dirty="0"/>
              <a:t>HW support?</a:t>
            </a:r>
          </a:p>
          <a:p>
            <a:pPr lvl="1"/>
            <a:r>
              <a:rPr lang="en-US" dirty="0"/>
              <a:t>Software only solution</a:t>
            </a:r>
          </a:p>
          <a:p>
            <a:pPr latinLnBrk="0"/>
            <a:r>
              <a:rPr lang="en-US" dirty="0"/>
              <a:t>Yes, but…</a:t>
            </a:r>
          </a:p>
          <a:p>
            <a:pPr lvl="1"/>
            <a:r>
              <a:rPr lang="en-US" dirty="0"/>
              <a:t>Complicated (easy to make mistake)</a:t>
            </a:r>
          </a:p>
          <a:p>
            <a:pPr lvl="1"/>
            <a:r>
              <a:rPr lang="en-US" dirty="0"/>
              <a:t>Poor performance</a:t>
            </a:r>
          </a:p>
          <a:p>
            <a:pPr lvl="1"/>
            <a:r>
              <a:rPr lang="en-US" dirty="0">
                <a:solidFill>
                  <a:srgbClr val="FF6600"/>
                </a:solidFill>
              </a:rPr>
              <a:t>Production OSes use hardware support</a:t>
            </a:r>
          </a:p>
          <a:p>
            <a:pPr latinLnBrk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CC3F0E-9362-6D47-9781-DB401EE9B6B9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CSCI 3150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Mutex without hardware support: Peterson's Algorithm</a:t>
            </a:r>
          </a:p>
        </p:txBody>
      </p:sp>
      <p:sp>
        <p:nvSpPr>
          <p:cNvPr id="18435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CSCI 3150</a:t>
            </a:r>
            <a:endParaRPr lang="en-US" sz="1400" b="0">
              <a:latin typeface="Times New Roman" pitchFamily="-109" charset="0"/>
            </a:endParaRPr>
          </a:p>
        </p:txBody>
      </p:sp>
      <p:sp>
        <p:nvSpPr>
          <p:cNvPr id="1843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3273804-65F2-5249-8B2C-FCC1AE995CA2}" type="slidenum">
              <a:rPr lang="en-US"/>
              <a:pPr/>
              <a:t>28</a:t>
            </a:fld>
            <a:endParaRPr lang="en-US"/>
          </a:p>
        </p:txBody>
      </p:sp>
      <p:sp>
        <p:nvSpPr>
          <p:cNvPr id="18438" name="Text Box 3"/>
          <p:cNvSpPr txBox="1">
            <a:spLocks noChangeArrowheads="1"/>
          </p:cNvSpPr>
          <p:nvPr/>
        </p:nvSpPr>
        <p:spPr bwMode="auto">
          <a:xfrm>
            <a:off x="523069" y="2112846"/>
            <a:ext cx="3429000" cy="2308323"/>
          </a:xfrm>
          <a:prstGeom prst="rect">
            <a:avLst/>
          </a:prstGeom>
          <a:solidFill>
            <a:srgbClr val="CCFFFF"/>
          </a:solidFill>
          <a:ln w="9525">
            <a:solidFill>
              <a:schemeClr val="accent2"/>
            </a:solidFill>
            <a:miter lim="800000"/>
            <a:headEnd/>
            <a:tailEnd type="none" w="med" len="lg"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while (true) {</a:t>
            </a:r>
            <a:b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</a:b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   try1 = true;</a:t>
            </a:r>
            <a:b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</a:b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   turn = 2;</a:t>
            </a:r>
            <a:b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</a:b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   while (try2 &amp;&amp; turn != 1) ;</a:t>
            </a:r>
            <a:b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</a:b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   </a:t>
            </a:r>
            <a:r>
              <a:rPr lang="en-US" b="0" i="1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critical section</a:t>
            </a:r>
            <a:b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</a:b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   try1 = false;</a:t>
            </a:r>
            <a:b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</a:b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   </a:t>
            </a:r>
            <a:r>
              <a:rPr lang="en-US" b="0" i="1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outside of critical section</a:t>
            </a:r>
            <a:b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</a:b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}</a:t>
            </a:r>
            <a:endParaRPr lang="en-US" sz="10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8439" name="Text Box 4"/>
          <p:cNvSpPr txBox="1">
            <a:spLocks noChangeArrowheads="1"/>
          </p:cNvSpPr>
          <p:nvPr/>
        </p:nvSpPr>
        <p:spPr bwMode="auto">
          <a:xfrm>
            <a:off x="4942669" y="2112846"/>
            <a:ext cx="3429000" cy="2308324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2"/>
            </a:solidFill>
            <a:miter lim="800000"/>
            <a:headEnd/>
            <a:tailEnd type="none" w="med" len="lg"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while (true) {</a:t>
            </a:r>
            <a:b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</a:b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   try2 = true;</a:t>
            </a:r>
            <a:b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</a:b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   turn = 1;</a:t>
            </a:r>
            <a:b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</a:b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   while (try1 &amp;&amp; turn != 2) ;</a:t>
            </a:r>
            <a:b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</a:b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   </a:t>
            </a:r>
            <a:r>
              <a:rPr lang="en-US" b="0" i="1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critical section</a:t>
            </a:r>
            <a:b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</a:b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   try2 = false;</a:t>
            </a:r>
            <a:b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</a:b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   </a:t>
            </a:r>
            <a:r>
              <a:rPr lang="en-US" b="0" i="1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outside of critical section</a:t>
            </a:r>
            <a:b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</a:b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}</a:t>
            </a:r>
            <a:endParaRPr lang="en-US" sz="10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8440" name="Text Box 5"/>
          <p:cNvSpPr txBox="1">
            <a:spLocks noChangeArrowheads="1"/>
          </p:cNvSpPr>
          <p:nvPr/>
        </p:nvSpPr>
        <p:spPr bwMode="auto">
          <a:xfrm>
            <a:off x="2694769" y="1352342"/>
            <a:ext cx="3429000" cy="701731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 type="none" w="med" len="lg"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int turn = 1;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bool try1 = false, try2 = false;</a:t>
            </a:r>
            <a:endParaRPr lang="en-US" sz="10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8441" name="Rectangle 9"/>
          <p:cNvSpPr>
            <a:spLocks noChangeArrowheads="1"/>
          </p:cNvSpPr>
          <p:nvPr/>
        </p:nvSpPr>
        <p:spPr bwMode="auto">
          <a:xfrm>
            <a:off x="326219" y="4958927"/>
            <a:ext cx="8655050" cy="1015663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 anchor="ctr">
            <a:prstTxWarp prst="textNoShape">
              <a:avLst/>
            </a:prstTxWarp>
            <a:spAutoFit/>
          </a:bodyPr>
          <a:lstStyle/>
          <a:p>
            <a:pPr>
              <a:buFontTx/>
              <a:buChar char="•"/>
            </a:pPr>
            <a:r>
              <a:rPr lang="en-US" sz="2000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Does it work?</a:t>
            </a:r>
          </a:p>
          <a:p>
            <a:pPr lvl="1">
              <a:buFontTx/>
              <a:buChar char="•"/>
            </a:pPr>
            <a:r>
              <a:rPr lang="en-US" sz="200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Yes!</a:t>
            </a:r>
            <a:endParaRPr lang="en-US" sz="2000" b="0" dirty="0">
              <a:solidFill>
                <a:schemeClr val="accent2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>
              <a:buFontTx/>
              <a:buChar char="•"/>
            </a:pPr>
            <a:r>
              <a:rPr lang="en-US" sz="2000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Try all possible interleavings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rot="16200000" flipV="1">
            <a:off x="1674433" y="3459067"/>
            <a:ext cx="1430162" cy="9617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49857" y="4604205"/>
            <a:ext cx="7515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Has thread 2 executed “try2=true?”. If not, I am safe. If yes, let’s see…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rot="16200000" flipV="1">
            <a:off x="2427322" y="3492290"/>
            <a:ext cx="1055594" cy="5207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783669" y="4280437"/>
            <a:ext cx="6360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Did I execute “turn=2” before thread 2 executed “turn=1”?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Summarize Where We Are</a:t>
            </a:r>
          </a:p>
        </p:txBody>
      </p:sp>
      <p:sp>
        <p:nvSpPr>
          <p:cNvPr id="30726" name="Rectangle 3"/>
          <p:cNvSpPr>
            <a:spLocks noGrp="1" noChangeArrowheads="1"/>
          </p:cNvSpPr>
          <p:nvPr>
            <p:ph idx="1"/>
          </p:nvPr>
        </p:nvSpPr>
        <p:spPr>
          <a:xfrm>
            <a:off x="216000" y="878400"/>
            <a:ext cx="8490678" cy="2437413"/>
          </a:xfrm>
        </p:spPr>
        <p:txBody>
          <a:bodyPr>
            <a:noAutofit/>
          </a:bodyPr>
          <a:lstStyle/>
          <a:p>
            <a:r>
              <a:rPr lang="en-US" sz="2200" dirty="0"/>
              <a:t>Goal: Use </a:t>
            </a:r>
            <a:r>
              <a:rPr lang="en-US" sz="2200" dirty="0">
                <a:solidFill>
                  <a:srgbClr val="FF3300"/>
                </a:solidFill>
              </a:rPr>
              <a:t>mutual exclusion</a:t>
            </a:r>
            <a:r>
              <a:rPr lang="en-US" sz="2200" dirty="0"/>
              <a:t> to protect </a:t>
            </a:r>
            <a:r>
              <a:rPr lang="en-US" sz="2200" dirty="0">
                <a:solidFill>
                  <a:srgbClr val="FF3300"/>
                </a:solidFill>
              </a:rPr>
              <a:t>critical sections</a:t>
            </a:r>
            <a:r>
              <a:rPr lang="en-US" sz="2200" dirty="0"/>
              <a:t> of code that access </a:t>
            </a:r>
            <a:r>
              <a:rPr lang="en-US" sz="2200" dirty="0">
                <a:solidFill>
                  <a:srgbClr val="FF3300"/>
                </a:solidFill>
              </a:rPr>
              <a:t>shared resources</a:t>
            </a:r>
          </a:p>
          <a:p>
            <a:r>
              <a:rPr lang="en-US" sz="2200" dirty="0"/>
              <a:t>Method: Use locks (spinlocks or disable interrupts)</a:t>
            </a:r>
          </a:p>
          <a:p>
            <a:r>
              <a:rPr lang="en-US" sz="2200" dirty="0"/>
              <a:t>Problem: Critical sections can be long</a:t>
            </a:r>
          </a:p>
        </p:txBody>
      </p:sp>
      <p:sp>
        <p:nvSpPr>
          <p:cNvPr id="30724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6D08E3EC-2FA0-A64B-B4B0-E43A5909F79F}" type="slidenum">
              <a:rPr lang="en-US"/>
              <a:pPr/>
              <a:t>29</a:t>
            </a:fld>
            <a:endParaRPr lang="en-US"/>
          </a:p>
        </p:txBody>
      </p:sp>
      <p:sp>
        <p:nvSpPr>
          <p:cNvPr id="30723" name="Footer Placeholder 4"/>
          <p:cNvSpPr>
            <a:spLocks noGrp="1"/>
          </p:cNvSpPr>
          <p:nvPr>
            <p:ph type="ftr" sz="quarter" idx="3"/>
          </p:nvPr>
        </p:nvSpPr>
        <p:spPr>
          <a:noFill/>
        </p:spPr>
        <p:txBody>
          <a:bodyPr/>
          <a:lstStyle/>
          <a:p>
            <a:r>
              <a:rPr lang="en-US"/>
              <a:t>CSCI 3150</a:t>
            </a:r>
            <a:endParaRPr lang="en-US" sz="1400" b="0">
              <a:latin typeface="Times New Roman" pitchFamily="-109" charset="0"/>
            </a:endParaRPr>
          </a:p>
        </p:txBody>
      </p:sp>
      <p:sp>
        <p:nvSpPr>
          <p:cNvPr id="30727" name="Text Box 4"/>
          <p:cNvSpPr txBox="1">
            <a:spLocks noChangeArrowheads="1"/>
          </p:cNvSpPr>
          <p:nvPr/>
        </p:nvSpPr>
        <p:spPr bwMode="auto">
          <a:xfrm>
            <a:off x="3581400" y="3747054"/>
            <a:ext cx="1905000" cy="1751915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 type="none" w="med" len="lg"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acquire(lock)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b="0" dirty="0">
                <a:solidFill>
                  <a:srgbClr val="FF33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…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b="0" i="1" dirty="0">
                <a:solidFill>
                  <a:srgbClr val="FF33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Critical section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b="0" dirty="0">
                <a:solidFill>
                  <a:srgbClr val="FF33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…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release(lock)</a:t>
            </a:r>
          </a:p>
        </p:txBody>
      </p:sp>
      <p:sp>
        <p:nvSpPr>
          <p:cNvPr id="30728" name="Text Box 5"/>
          <p:cNvSpPr txBox="1">
            <a:spLocks noChangeArrowheads="1"/>
          </p:cNvSpPr>
          <p:nvPr/>
        </p:nvSpPr>
        <p:spPr bwMode="auto">
          <a:xfrm>
            <a:off x="5257800" y="3594654"/>
            <a:ext cx="2057400" cy="369332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endParaRPr 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0729" name="Text Box 6"/>
          <p:cNvSpPr txBox="1">
            <a:spLocks noChangeArrowheads="1"/>
          </p:cNvSpPr>
          <p:nvPr/>
        </p:nvSpPr>
        <p:spPr bwMode="auto">
          <a:xfrm>
            <a:off x="5908830" y="3614860"/>
            <a:ext cx="3124200" cy="2142125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latinLnBrk="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Disabling Interrupts:</a:t>
            </a: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</a:p>
          <a:p>
            <a:pPr latinLnBrk="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Char char="l"/>
            </a:pP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Should not disable interrupts for long periods of time</a:t>
            </a:r>
          </a:p>
          <a:p>
            <a:pPr latinLnBrk="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Char char="l"/>
            </a:pP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Can miss or delay important events (e.g., timer, I/O)</a:t>
            </a:r>
          </a:p>
        </p:txBody>
      </p:sp>
      <p:sp>
        <p:nvSpPr>
          <p:cNvPr id="30730" name="Text Box 8"/>
          <p:cNvSpPr txBox="1">
            <a:spLocks noChangeArrowheads="1"/>
          </p:cNvSpPr>
          <p:nvPr/>
        </p:nvSpPr>
        <p:spPr bwMode="auto">
          <a:xfrm>
            <a:off x="477077" y="3204261"/>
            <a:ext cx="2716696" cy="3083921"/>
          </a:xfrm>
          <a:prstGeom prst="rect">
            <a:avLst/>
          </a:prstGeom>
          <a:noFill/>
          <a:ln w="9525">
            <a:noFill/>
            <a:miter lim="800000"/>
            <a:headEnd/>
            <a:tailEnd type="none" w="med" len="lg"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latinLnBrk="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None/>
            </a:pPr>
            <a:r>
              <a:rPr lang="en-US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Spinlocks:</a:t>
            </a: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</a:p>
          <a:p>
            <a:pPr latinLnBrk="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Char char="l"/>
            </a:pP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Threads waiting to acquire lock spin in test-and-set loop</a:t>
            </a:r>
          </a:p>
          <a:p>
            <a:pPr latinLnBrk="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Char char="l"/>
            </a:pP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Wastes CPU cycles</a:t>
            </a:r>
          </a:p>
          <a:p>
            <a:pPr latinLnBrk="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Char char="l"/>
            </a:pP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Longer the CS, the longer the spin</a:t>
            </a:r>
          </a:p>
          <a:p>
            <a:pPr latinLnBrk="0">
              <a:spcBef>
                <a:spcPct val="20000"/>
              </a:spcBef>
              <a:buClr>
                <a:schemeClr val="tx1"/>
              </a:buClr>
              <a:buSzPct val="50000"/>
              <a:buFont typeface="Monotype Sorts" pitchFamily="-109" charset="2"/>
              <a:buChar char="l"/>
            </a:pPr>
            <a:r>
              <a:rPr lang="en-US" b="0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Greater the chance for lock holder to be interrupted</a:t>
            </a:r>
          </a:p>
        </p:txBody>
      </p:sp>
      <p:sp>
        <p:nvSpPr>
          <p:cNvPr id="30731" name="AutoShape 9"/>
          <p:cNvSpPr>
            <a:spLocks/>
          </p:cNvSpPr>
          <p:nvPr/>
        </p:nvSpPr>
        <p:spPr bwMode="auto">
          <a:xfrm>
            <a:off x="5638800" y="3670854"/>
            <a:ext cx="228600" cy="1752600"/>
          </a:xfrm>
          <a:prstGeom prst="rightBrace">
            <a:avLst>
              <a:gd name="adj1" fmla="val 63889"/>
              <a:gd name="adj2" fmla="val 50000"/>
            </a:avLst>
          </a:prstGeom>
          <a:noFill/>
          <a:ln w="9525">
            <a:solidFill>
              <a:schemeClr val="accent2"/>
            </a:solidFill>
            <a:round/>
            <a:headEnd/>
            <a:tailEnd type="none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0732" name="AutoShape 10"/>
          <p:cNvSpPr>
            <a:spLocks/>
          </p:cNvSpPr>
          <p:nvPr/>
        </p:nvSpPr>
        <p:spPr bwMode="auto">
          <a:xfrm>
            <a:off x="3124200" y="3670854"/>
            <a:ext cx="228600" cy="1752600"/>
          </a:xfrm>
          <a:prstGeom prst="leftBrace">
            <a:avLst>
              <a:gd name="adj1" fmla="val 63889"/>
              <a:gd name="adj2" fmla="val 50000"/>
            </a:avLst>
          </a:prstGeom>
          <a:noFill/>
          <a:ln w="9525">
            <a:solidFill>
              <a:schemeClr val="accent2"/>
            </a:solidFill>
            <a:round/>
            <a:headEnd/>
            <a:tailEnd type="none" w="med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Takeaway</a:t>
            </a:r>
            <a:r>
              <a:rPr lang="zh-CN" altLang="en-US" dirty="0"/>
              <a:t> </a:t>
            </a:r>
            <a:r>
              <a:rPr lang="en-US" dirty="0"/>
              <a:t>from this lecture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6000" y="878400"/>
            <a:ext cx="8679522" cy="2411452"/>
          </a:xfrm>
        </p:spPr>
        <p:txBody>
          <a:bodyPr>
            <a:noAutofit/>
          </a:bodyPr>
          <a:lstStyle/>
          <a:p>
            <a:pPr latinLnBrk="0"/>
            <a:r>
              <a:rPr lang="en-US" dirty="0"/>
              <a:t>When you have </a:t>
            </a:r>
            <a:r>
              <a:rPr lang="en-US" dirty="0">
                <a:solidFill>
                  <a:srgbClr val="FF0000"/>
                </a:solidFill>
              </a:rPr>
              <a:t>concurrency</a:t>
            </a:r>
            <a:r>
              <a:rPr lang="zh-CN" altLang="en-US" b="1" i="1" dirty="0">
                <a:solidFill>
                  <a:srgbClr val="FF0000"/>
                </a:solidFill>
              </a:rPr>
              <a:t> </a:t>
            </a:r>
            <a:r>
              <a:rPr lang="en-US" altLang="zh-CN" dirty="0"/>
              <a:t>and</a:t>
            </a:r>
            <a:r>
              <a:rPr lang="zh-CN" altLang="en-US" b="1" i="1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shared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resources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protect you</a:t>
            </a:r>
            <a:r>
              <a:rPr lang="en-US" altLang="zh-CN" dirty="0">
                <a:solidFill>
                  <a:srgbClr val="FF0000"/>
                </a:solidFill>
              </a:rPr>
              <a:t>r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critical region with synchronization primitives</a:t>
            </a:r>
            <a:r>
              <a:rPr lang="en-US" dirty="0"/>
              <a:t> (e.g., locks, semaphore (next lecture),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CC3F0E-9362-6D47-9781-DB401EE9B6B9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CSCI 3150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150-revise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3150-revised" id="{72E33548-5CDA-544A-B5F4-E210C371BE6B}" vid="{AFAE12A1-A27E-B74F-B116-16CE6FFB8377}"/>
    </a:ext>
  </a:extLst>
</a:theme>
</file>

<file path=ppt/theme/theme2.xml><?xml version="1.0" encoding="utf-8"?>
<a:theme xmlns:a="http://schemas.openxmlformats.org/drawingml/2006/main" name="3150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3150" id="{A0668890-14E8-504C-BDE5-56F8D213D484}" vid="{C450123E-4AB0-874E-B7E9-094A18E341B6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3150-revised</Template>
  <TotalTime>54015</TotalTime>
  <Words>2350</Words>
  <Application>Microsoft Macintosh PowerPoint</Application>
  <PresentationFormat>On-screen Show (4:3)</PresentationFormat>
  <Paragraphs>400</Paragraphs>
  <Slides>30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44" baseType="lpstr">
      <vt:lpstr>굴림</vt:lpstr>
      <vt:lpstr>HY견고딕</vt:lpstr>
      <vt:lpstr>맑은 고딕</vt:lpstr>
      <vt:lpstr>맑은 고딕</vt:lpstr>
      <vt:lpstr>ZapfDingbats</vt:lpstr>
      <vt:lpstr>Arial</vt:lpstr>
      <vt:lpstr>Calibri</vt:lpstr>
      <vt:lpstr>Courier New</vt:lpstr>
      <vt:lpstr>Helvetica Neue</vt:lpstr>
      <vt:lpstr>Monotype Sorts</vt:lpstr>
      <vt:lpstr>Times New Roman</vt:lpstr>
      <vt:lpstr>Wingdings</vt:lpstr>
      <vt:lpstr>3150-revised</vt:lpstr>
      <vt:lpstr>3150</vt:lpstr>
      <vt:lpstr>CSCI3150 Introduction to Operating Systems</vt:lpstr>
      <vt:lpstr>Synchronization: why?</vt:lpstr>
      <vt:lpstr>A simple game</vt:lpstr>
      <vt:lpstr>A simple game (cont.)</vt:lpstr>
      <vt:lpstr>Data races</vt:lpstr>
      <vt:lpstr>Shared Resources</vt:lpstr>
      <vt:lpstr>When are resources shared?</vt:lpstr>
      <vt:lpstr>When are resources shared?</vt:lpstr>
      <vt:lpstr>A Classic Example</vt:lpstr>
      <vt:lpstr>Example Continued</vt:lpstr>
      <vt:lpstr>Interleaved Schedules</vt:lpstr>
      <vt:lpstr>How Interleaved Can It Get?</vt:lpstr>
      <vt:lpstr>Mutual Exclusion</vt:lpstr>
      <vt:lpstr>Critical Region Requirements (for thread and process)</vt:lpstr>
      <vt:lpstr>Critical Region Illustrated</vt:lpstr>
      <vt:lpstr>Mechanisms For Building Critical Regions</vt:lpstr>
      <vt:lpstr>Locks</vt:lpstr>
      <vt:lpstr>Using Locks</vt:lpstr>
      <vt:lpstr>Implementing Locks (1)</vt:lpstr>
      <vt:lpstr>Implementing Locks (2)</vt:lpstr>
      <vt:lpstr>Implementing Locks (3)</vt:lpstr>
      <vt:lpstr>Atomic Instructions: Test-And-Set</vt:lpstr>
      <vt:lpstr>Using Test-And-Set</vt:lpstr>
      <vt:lpstr>Problems with Spinlocks</vt:lpstr>
      <vt:lpstr>Disabling Interrupts</vt:lpstr>
      <vt:lpstr>On Disabling Interrupts</vt:lpstr>
      <vt:lpstr>Critical regions without hardware support?</vt:lpstr>
      <vt:lpstr>Mutex without hardware support: Peterson's Algorithm</vt:lpstr>
      <vt:lpstr>Summarize Where We Are</vt:lpstr>
      <vt:lpstr>Takeaway from this lecture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Operating Systems ECE344</dc:title>
  <dc:creator>apple</dc:creator>
  <cp:lastModifiedBy>Hong Xu</cp:lastModifiedBy>
  <cp:revision>368</cp:revision>
  <cp:lastPrinted>2013-02-04T18:07:59Z</cp:lastPrinted>
  <dcterms:created xsi:type="dcterms:W3CDTF">2013-02-04T16:31:56Z</dcterms:created>
  <dcterms:modified xsi:type="dcterms:W3CDTF">2026-01-21T06:02:56Z</dcterms:modified>
</cp:coreProperties>
</file>