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  <p:sldMasterId id="2147483681" r:id="rId2"/>
    <p:sldMasterId id="2147483685" r:id="rId3"/>
    <p:sldMasterId id="2147483688" r:id="rId4"/>
    <p:sldMasterId id="2147483692" r:id="rId5"/>
    <p:sldMasterId id="2147483694" r:id="rId6"/>
  </p:sldMasterIdLst>
  <p:notesMasterIdLst>
    <p:notesMasterId r:id="rId47"/>
  </p:notesMasterIdLst>
  <p:sldIdLst>
    <p:sldId id="2991" r:id="rId7"/>
    <p:sldId id="2967" r:id="rId8"/>
    <p:sldId id="2711" r:id="rId9"/>
    <p:sldId id="2841" r:id="rId10"/>
    <p:sldId id="2840" r:id="rId11"/>
    <p:sldId id="2961" r:id="rId12"/>
    <p:sldId id="2713" r:id="rId13"/>
    <p:sldId id="2715" r:id="rId14"/>
    <p:sldId id="2992" r:id="rId15"/>
    <p:sldId id="2716" r:id="rId16"/>
    <p:sldId id="2717" r:id="rId17"/>
    <p:sldId id="2718" r:id="rId18"/>
    <p:sldId id="2719" r:id="rId19"/>
    <p:sldId id="2842" r:id="rId20"/>
    <p:sldId id="2843" r:id="rId21"/>
    <p:sldId id="2962" r:id="rId22"/>
    <p:sldId id="2721" r:id="rId23"/>
    <p:sldId id="2957" r:id="rId24"/>
    <p:sldId id="2846" r:id="rId25"/>
    <p:sldId id="2963" r:id="rId26"/>
    <p:sldId id="2847" r:id="rId27"/>
    <p:sldId id="2958" r:id="rId28"/>
    <p:sldId id="2848" r:id="rId29"/>
    <p:sldId id="2849" r:id="rId30"/>
    <p:sldId id="2960" r:id="rId31"/>
    <p:sldId id="2723" r:id="rId32"/>
    <p:sldId id="2965" r:id="rId33"/>
    <p:sldId id="2850" r:id="rId34"/>
    <p:sldId id="2993" r:id="rId35"/>
    <p:sldId id="2994" r:id="rId36"/>
    <p:sldId id="2995" r:id="rId37"/>
    <p:sldId id="2851" r:id="rId38"/>
    <p:sldId id="2725" r:id="rId39"/>
    <p:sldId id="2852" r:id="rId40"/>
    <p:sldId id="2853" r:id="rId41"/>
    <p:sldId id="2996" r:id="rId42"/>
    <p:sldId id="2854" r:id="rId43"/>
    <p:sldId id="2959" r:id="rId44"/>
    <p:sldId id="2855" r:id="rId45"/>
    <p:sldId id="2968" r:id="rId4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64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06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commentAuthors" Target="commentAuthors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2026. 2. 4.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09E2F252-4379-B6AC-39DA-5DB70AF50D0C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84644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07030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503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9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4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8B212B1F-2B61-115F-8CBD-17A0662BCD65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441038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48795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548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565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260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4F5D7208-D985-81CE-505C-17BCB40CA8EA}"/>
              </a:ext>
            </a:extLst>
          </p:cNvPr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824457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096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44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53F4386B-D25E-B72A-C291-0C7426720B66}"/>
              </a:ext>
            </a:extLst>
          </p:cNvPr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CC240C25-807E-87F1-9506-539BBA5041F3}"/>
              </a:ext>
            </a:extLst>
          </p:cNvPr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7" r:id="rId2"/>
    <p:sldLayoutId id="2147483671" r:id="rId3"/>
    <p:sldLayoutId id="2147483673" r:id="rId4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5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E11A05E4-98BF-670D-F09E-0007BA611445}"/>
              </a:ext>
            </a:extLst>
          </p:cNvPr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73B120E0-2B63-BC45-530A-EC539A9E21D3}"/>
              </a:ext>
            </a:extLst>
          </p:cNvPr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9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19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79080D6B-51FF-A0DF-25E8-FF0EAF67824A}"/>
              </a:ext>
            </a:extLst>
          </p:cNvPr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6BFFBB33-933A-D4D7-367B-A5210D9F6580}"/>
              </a:ext>
            </a:extLst>
          </p:cNvPr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094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7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7: </a:t>
            </a:r>
            <a:r>
              <a:rPr kumimoji="0" lang="en-HK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Synch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ronization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3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Semaphores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7D74-C906-2A20-DDA1-64A81EE3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39FEC-92CD-6C9A-6397-63C762F9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provides</a:t>
            </a:r>
          </a:p>
          <a:p>
            <a:pPr lvl="1"/>
            <a:r>
              <a:rPr lang="en-US" altLang="zh-CN" dirty="0"/>
              <a:t>Mutex</a:t>
            </a:r>
          </a:p>
          <a:p>
            <a:pPr lvl="1"/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atomic</a:t>
            </a:r>
            <a:r>
              <a:rPr lang="zh-CN" altLang="en-US" dirty="0"/>
              <a:t> </a:t>
            </a:r>
            <a:r>
              <a:rPr lang="en-US" altLang="zh-CN" dirty="0"/>
              <a:t>counters</a:t>
            </a:r>
          </a:p>
          <a:p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operations: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P(semaphore),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Dutch</a:t>
            </a:r>
            <a:r>
              <a:rPr lang="zh-CN" altLang="en-US" dirty="0"/>
              <a:t> </a:t>
            </a:r>
            <a:r>
              <a:rPr lang="en-US" altLang="zh-CN" dirty="0"/>
              <a:t>word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</a:p>
          <a:p>
            <a:pPr lvl="1" latinLnBrk="0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V(semaphore),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signal(),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post()</a:t>
            </a:r>
            <a:r>
              <a:rPr lang="en-US" altLang="zh-CN" dirty="0"/>
              <a:t>: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Dutch</a:t>
            </a:r>
            <a:r>
              <a:rPr lang="zh-CN" altLang="en-US" dirty="0"/>
              <a:t> </a:t>
            </a:r>
            <a:r>
              <a:rPr lang="en-US" altLang="zh-CN" dirty="0"/>
              <a:t>word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increment</a:t>
            </a:r>
            <a:endParaRPr lang="en-HK" altLang="zh-CN" dirty="0"/>
          </a:p>
          <a:p>
            <a:r>
              <a:rPr lang="en-US" altLang="zh-CN" dirty="0"/>
              <a:t>Probably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unintuitive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encounter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endParaRPr lang="en-HK" altLang="zh-CN" dirty="0"/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i="1" dirty="0" err="1"/>
              <a:t>Edsger</a:t>
            </a:r>
            <a:r>
              <a:rPr lang="zh-CN" altLang="en-US" i="1" dirty="0"/>
              <a:t> </a:t>
            </a:r>
            <a:r>
              <a:rPr lang="en-US" altLang="zh-CN" i="1" dirty="0"/>
              <a:t>W.</a:t>
            </a:r>
            <a:r>
              <a:rPr lang="zh-CN" altLang="en-US" i="1" dirty="0"/>
              <a:t> </a:t>
            </a:r>
            <a:r>
              <a:rPr lang="en-US" altLang="zh-CN" i="1" dirty="0"/>
              <a:t>Dijkstra</a:t>
            </a:r>
            <a:r>
              <a:rPr lang="zh-CN" altLang="en-US" i="1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to…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8697-198D-D9EF-5493-3752357F06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D0219-33B4-4256-C0A7-C8716D21F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2" descr="Edsger W. Dijkstra - Wikipedia">
            <a:extLst>
              <a:ext uri="{FF2B5EF4-FFF2-40B4-BE49-F238E27FC236}">
                <a16:creationId xmlns:a16="http://schemas.microsoft.com/office/drawing/2014/main" id="{E636D9D4-2ABB-49DC-B6D0-EF6378F552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36"/>
          <a:stretch/>
        </p:blipFill>
        <p:spPr bwMode="auto">
          <a:xfrm>
            <a:off x="7259733" y="4725144"/>
            <a:ext cx="1410401" cy="153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731069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Semaphore: A Definition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 object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with an integer value and two routines</a:t>
            </a:r>
          </a:p>
          <a:p>
            <a:pPr lvl="1"/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sem_wait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sem_post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Initialization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Declare a semaphore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s </a:t>
            </a:r>
            <a:r>
              <a:rPr lang="en-US" altLang="ko-KR" dirty="0"/>
              <a:t>and initialize it to the value 1</a:t>
            </a:r>
          </a:p>
          <a:p>
            <a:pPr lvl="2"/>
            <a:r>
              <a:rPr lang="en-US" altLang="ko-KR" dirty="0"/>
              <a:t>The second argument, 0, indicates that the semaphore is </a:t>
            </a:r>
            <a:r>
              <a:rPr lang="en-US" altLang="ko-KR" u="sng" dirty="0"/>
              <a:t>shared</a:t>
            </a:r>
            <a:r>
              <a:rPr lang="en-US" altLang="ko-KR" dirty="0"/>
              <a:t> between </a:t>
            </a:r>
            <a:r>
              <a:rPr lang="en-US" altLang="ko-KR" i="1" dirty="0"/>
              <a:t>threads in the same process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600" y="2453987"/>
            <a:ext cx="72008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#include &lt;semaphore.h&gt;</a:t>
            </a:r>
          </a:p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sem_t s;</a:t>
            </a:r>
          </a:p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sem_init(&amp;s, </a:t>
            </a:r>
            <a:r>
              <a:rPr lang="pt-BR" altLang="ko-KR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ko-KR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pt-BR" altLang="ko-KR" sz="1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s to the value 1</a:t>
            </a:r>
            <a:endParaRPr lang="en-US" altLang="ko-KR" sz="16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5512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Interact with Semaphore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Simply </a:t>
            </a:r>
            <a:r>
              <a:rPr lang="en-US" altLang="ko-KR" b="1" dirty="0"/>
              <a:t>increments</a:t>
            </a:r>
            <a:r>
              <a:rPr lang="en-US" altLang="ko-KR" dirty="0"/>
              <a:t> the value of the semaphore.</a:t>
            </a:r>
          </a:p>
          <a:p>
            <a:pPr lvl="1"/>
            <a:r>
              <a:rPr lang="en-US" altLang="ko-KR" dirty="0"/>
              <a:t>If there is </a:t>
            </a:r>
            <a:r>
              <a:rPr lang="en-US" altLang="zh-CN" dirty="0">
                <a:solidFill>
                  <a:srgbClr val="FF0000"/>
                </a:solidFill>
              </a:rPr>
              <a:t>at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least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a thread waiting, </a:t>
            </a:r>
            <a:r>
              <a:rPr lang="en-US" altLang="ko-KR" b="1" dirty="0"/>
              <a:t>wakes </a:t>
            </a:r>
            <a:r>
              <a:rPr lang="en-US" altLang="ko-KR" dirty="0">
                <a:solidFill>
                  <a:srgbClr val="FF0000"/>
                </a:solidFill>
              </a:rPr>
              <a:t>one</a:t>
            </a:r>
            <a:r>
              <a:rPr lang="en-US" altLang="ko-KR" dirty="0"/>
              <a:t> of them up.</a:t>
            </a:r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happens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negative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zero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580" y="1538789"/>
            <a:ext cx="759684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	increment the value of semaphore s by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	if there are one or more threads waiting, wake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}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358373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Interact with Semaphore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If the value of the semaphore was </a:t>
            </a:r>
            <a:r>
              <a:rPr lang="en-US" altLang="ko-KR" i="1" dirty="0"/>
              <a:t>one</a:t>
            </a:r>
            <a:r>
              <a:rPr lang="en-US" altLang="ko-KR" dirty="0"/>
              <a:t> or </a:t>
            </a:r>
            <a:r>
              <a:rPr lang="en-US" altLang="ko-KR" i="1" dirty="0"/>
              <a:t>higher</a:t>
            </a:r>
            <a:r>
              <a:rPr lang="en-US" altLang="ko-KR" dirty="0"/>
              <a:t> when called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, </a:t>
            </a:r>
            <a:r>
              <a:rPr lang="en-US" altLang="ko-KR" b="1" dirty="0"/>
              <a:t>return right away</a:t>
            </a:r>
            <a:r>
              <a:rPr lang="en-US" altLang="ko-KR" dirty="0"/>
              <a:t>.</a:t>
            </a:r>
          </a:p>
          <a:p>
            <a:pPr lvl="1"/>
            <a:r>
              <a:rPr lang="en-US" altLang="zh-CN" dirty="0"/>
              <a:t>Otherwise</a:t>
            </a:r>
            <a:r>
              <a:rPr lang="zh-CN" altLang="en-US" dirty="0"/>
              <a:t> </a:t>
            </a:r>
            <a:r>
              <a:rPr lang="en-US" altLang="zh-CN"/>
              <a:t>i</a:t>
            </a:r>
            <a:r>
              <a:rPr lang="en-US" altLang="ko-KR"/>
              <a:t>t </a:t>
            </a:r>
            <a:r>
              <a:rPr lang="en-US" altLang="ko-KR" dirty="0"/>
              <a:t>will cause the caller to </a:t>
            </a:r>
            <a:r>
              <a:rPr lang="en-US" altLang="ko-KR" u="sng" dirty="0"/>
              <a:t>suspend execution</a:t>
            </a:r>
            <a:r>
              <a:rPr lang="en-US" altLang="ko-KR" dirty="0"/>
              <a:t> waiting for a subsequent post.</a:t>
            </a:r>
          </a:p>
          <a:p>
            <a:pPr lvl="1"/>
            <a:r>
              <a:rPr lang="en-US" altLang="ko-KR" dirty="0"/>
              <a:t>When negative, the value of the semaphore is equal to the number of waiting threads.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1580" y="1538789"/>
            <a:ext cx="759684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	decrement the value of semaphore s by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	wait if value of semaphore s is negative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} </a:t>
            </a:r>
          </a:p>
        </p:txBody>
      </p:sp>
    </p:spTree>
    <p:extLst>
      <p:ext uri="{BB962C8B-B14F-4D97-AF65-F5344CB8AC3E}">
        <p14:creationId xmlns:p14="http://schemas.microsoft.com/office/powerpoint/2010/main" val="3847876216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30C47-1035-964C-B285-4CEDD08F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0F60120-BBBF-8D48-9BE3-9C801A5D9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63" y="879475"/>
            <a:ext cx="7887312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78AF8-0188-D34A-9284-17FBBF4666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B2F4E-B16E-654C-B13E-71679B3B2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97533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Binary Semaphores (Locks)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should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ko-KR" dirty="0"/>
              <a:t> be?</a:t>
            </a:r>
          </a:p>
          <a:p>
            <a:pPr lvl="1"/>
            <a:r>
              <a:rPr lang="en-US" altLang="ko-KR" dirty="0"/>
              <a:t>The initial value should be </a:t>
            </a:r>
            <a:r>
              <a:rPr lang="en-US" altLang="ko-KR" b="1" dirty="0"/>
              <a:t>1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9572" y="1971997"/>
            <a:ext cx="788487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semaphore to X; what should X be?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//critical section here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(&amp;m);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aphicFrame>
        <p:nvGraphicFramePr>
          <p:cNvPr id="7" name="내용 개체 틀 11">
            <a:extLst>
              <a:ext uri="{FF2B5EF4-FFF2-40B4-BE49-F238E27FC236}">
                <a16:creationId xmlns:a16="http://schemas.microsoft.com/office/drawing/2014/main" id="{D36606B8-8423-654E-B155-124966F73F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5856326"/>
              </p:ext>
            </p:extLst>
          </p:nvPr>
        </p:nvGraphicFramePr>
        <p:xfrm>
          <a:off x="791799" y="3715591"/>
          <a:ext cx="7776864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of Semaphore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Thread 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Thread 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6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sect)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14894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Two Threads Using A Semaphore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626187"/>
              </p:ext>
            </p:extLst>
          </p:nvPr>
        </p:nvGraphicFramePr>
        <p:xfrm>
          <a:off x="755576" y="803488"/>
          <a:ext cx="7308813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Thread  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Thread  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set: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begin)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Switch → T1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&lt; 0)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 → T0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sect: end)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(T1)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Switch → T1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sect)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364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E93B-3D7B-3AD8-5C15-FE7DE040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Binary Semaphores (Locks)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3763F-9BB3-B36A-21E8-212085F1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happens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threads?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413329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Semaphores As 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What should </a:t>
            </a:r>
            <a:r>
              <a:rPr lang="en-US" altLang="ko-KR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ko-KR" dirty="0"/>
              <a:t> be?</a:t>
            </a:r>
          </a:p>
          <a:p>
            <a:pPr lvl="2"/>
            <a:r>
              <a:rPr lang="en-US" altLang="ko-KR" dirty="0"/>
              <a:t>The value of semaphore should be set to is </a:t>
            </a:r>
            <a:r>
              <a:rPr lang="en-US" altLang="ko-KR" b="1" dirty="0"/>
              <a:t>0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5904656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child(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("child\n");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signal here: child is done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what should X be?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("parent: begin\n");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wait here for child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("parent: end\n");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}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7704" y="5085184"/>
            <a:ext cx="2755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Parent Waiting For Its Child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224" y="4365104"/>
            <a:ext cx="237626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parent: begin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parent: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953" y="5085184"/>
            <a:ext cx="1929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execution result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2956475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Parent Waiting For Child (Case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parent calls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 before the child has called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7" name="내용 개체 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9842179"/>
              </p:ext>
            </p:extLst>
          </p:nvPr>
        </p:nvGraphicFramePr>
        <p:xfrm>
          <a:off x="323528" y="1715616"/>
          <a:ext cx="849694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2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Parent 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Child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Create(Child)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(Child exists; is runnable)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&lt; 0)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Switch→Child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child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5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wake(Parent)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Switch→Parent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326816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Parent Waiting For Child (Case 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child runs to completion before the parent call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7" name="내용 개체 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35003"/>
              </p:ext>
            </p:extLst>
          </p:nvPr>
        </p:nvGraphicFramePr>
        <p:xfrm>
          <a:off x="323528" y="1696184"/>
          <a:ext cx="849694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Parent 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Child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Create(Child)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(Child exists; is runnable)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</a:t>
                      </a:r>
                      <a:r>
                        <a:rPr lang="en-US" altLang="ko-KR" sz="1400" i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switch→Child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child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wake(nobody)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parent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Switch→Parent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5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&lt;0)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awake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88592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Producer</a:t>
            </a:r>
            <a:r>
              <a:rPr lang="en-US" altLang="ko-KR" dirty="0"/>
              <a:t>: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put() </a:t>
            </a:r>
            <a:r>
              <a:rPr lang="en-US" altLang="ko-KR" dirty="0"/>
              <a:t>interface</a:t>
            </a:r>
          </a:p>
          <a:p>
            <a:pPr lvl="1"/>
            <a:r>
              <a:rPr lang="en-US" altLang="ko-KR" dirty="0"/>
              <a:t>Wait for a buffer to become </a:t>
            </a:r>
            <a:r>
              <a:rPr lang="en-US" altLang="ko-KR" i="1" dirty="0"/>
              <a:t>empty</a:t>
            </a:r>
            <a:r>
              <a:rPr lang="en-US" altLang="ko-KR" dirty="0"/>
              <a:t> in order to put data into it.</a:t>
            </a:r>
          </a:p>
          <a:p>
            <a:r>
              <a:rPr lang="en-US" altLang="ko-KR" b="1" dirty="0"/>
              <a:t>Consumer</a:t>
            </a:r>
            <a:r>
              <a:rPr lang="en-US" altLang="ko-KR" dirty="0"/>
              <a:t>: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get() </a:t>
            </a:r>
            <a:r>
              <a:rPr lang="en-US" altLang="ko-KR" dirty="0"/>
              <a:t>interface</a:t>
            </a:r>
          </a:p>
          <a:p>
            <a:pPr lvl="1"/>
            <a:r>
              <a:rPr lang="en-US" altLang="ko-KR" dirty="0"/>
              <a:t>Wait for a buffer to become </a:t>
            </a:r>
            <a:r>
              <a:rPr lang="en-US" altLang="ko-KR" i="1" dirty="0"/>
              <a:t>filled</a:t>
            </a:r>
            <a:r>
              <a:rPr lang="en-US" altLang="ko-KR" dirty="0"/>
              <a:t> before using it.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3578" y="3128769"/>
            <a:ext cx="7596844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buffer[MAX];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fill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put(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buffer[fill] = value;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line f1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fill = (fill +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% MAX;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f2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buffer[use];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g1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	use = (use +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% MAX;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g2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}</a:t>
            </a:r>
          </a:p>
        </p:txBody>
      </p:sp>
    </p:spTree>
    <p:extLst>
      <p:ext uri="{BB962C8B-B14F-4D97-AF65-F5344CB8AC3E}">
        <p14:creationId xmlns:p14="http://schemas.microsoft.com/office/powerpoint/2010/main" val="1617900492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9572" y="980728"/>
            <a:ext cx="7704856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 	} 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7705" y="5833591"/>
            <a:ext cx="5328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First Attempt: Adding the Full and Empty Conditions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667099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Imagine that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altLang="ko-KR" dirty="0"/>
              <a:t> is greater than 1</a:t>
            </a:r>
          </a:p>
          <a:p>
            <a:pPr lvl="2"/>
            <a:r>
              <a:rPr lang="en-US" altLang="ko-KR" dirty="0"/>
              <a:t>If there are multiple producers,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race condition </a:t>
            </a:r>
            <a:r>
              <a:rPr lang="en-US" altLang="ko-KR"/>
              <a:t>can happen.</a:t>
            </a:r>
            <a:endParaRPr lang="en-US" altLang="ko-KR" dirty="0"/>
          </a:p>
          <a:p>
            <a:pPr lvl="2"/>
            <a:r>
              <a:rPr lang="en-US" altLang="ko-KR" dirty="0"/>
              <a:t>It means that the old data there is overwritten.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We’ve forgotten here is </a:t>
            </a:r>
            <a:r>
              <a:rPr lang="en-US" altLang="ko-KR" b="1" dirty="0"/>
              <a:t>mutual exclusion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filling of a buffer and incrementing of the index into the buffer is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critical section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9572" y="1172580"/>
            <a:ext cx="770485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altLang="ko-KR"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MAX); 	</a:t>
            </a:r>
            <a:r>
              <a:rPr lang="en-US" altLang="ko-KR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MAX buffers are empty to begin with…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… and 0 </a:t>
            </a:r>
            <a:r>
              <a:rPr lang="en-US" altLang="zh-CN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</a:t>
            </a:r>
            <a:r>
              <a:rPr lang="zh-CN" alt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altLang="ko-KR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3688" y="2401143"/>
            <a:ext cx="5904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First Attempt: Adding the Full and Empty Conditions (Cont.)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0242410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A16C5-3C8A-6746-B5D5-1DB28389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9C57B5A-10A7-9049-AF7F-9D6198FDD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369783"/>
            <a:ext cx="8786812" cy="452165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5E722-E10F-3D48-A1EE-01801372AE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543B7-155A-D04A-9963-16A7530D3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17458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1525309"/>
            <a:ext cx="7488832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p0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p4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1800" y="5733256"/>
            <a:ext cx="3425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(Incorrectly)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1618743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1526468"/>
            <a:ext cx="7488832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c0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 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int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c4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  }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1800" y="5733256"/>
            <a:ext cx="3425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(Incorrectly)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5590405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Imagine two thread: one producer and one consumer.</a:t>
            </a:r>
          </a:p>
          <a:p>
            <a:pPr lvl="2"/>
            <a:r>
              <a:rPr lang="en-US" altLang="ko-KR" dirty="0"/>
              <a:t>The consumer </a:t>
            </a:r>
            <a:r>
              <a:rPr lang="en-US" altLang="ko-KR" b="1" dirty="0"/>
              <a:t>acquire</a:t>
            </a:r>
            <a:r>
              <a:rPr lang="en-US" altLang="ko-KR" dirty="0"/>
              <a:t> the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dirty="0"/>
              <a:t> (line c0).</a:t>
            </a:r>
          </a:p>
          <a:p>
            <a:pPr lvl="2"/>
            <a:r>
              <a:rPr lang="en-US" altLang="ko-KR" dirty="0"/>
              <a:t>The consumer </a:t>
            </a:r>
            <a:r>
              <a:rPr lang="en-US" altLang="ko-KR" b="1" dirty="0"/>
              <a:t>calls</a:t>
            </a:r>
            <a:r>
              <a:rPr lang="en-US" altLang="ko-KR" dirty="0"/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on </a:t>
            </a:r>
            <a:r>
              <a:rPr lang="en-US" altLang="ko-KR"/>
              <a:t>the 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full</a:t>
            </a:r>
            <a:r>
              <a:rPr lang="en-US" altLang="ko-KR"/>
              <a:t> </a:t>
            </a:r>
            <a:r>
              <a:rPr lang="en-US" altLang="ko-KR" dirty="0"/>
              <a:t>semaphore (line c1).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The consumer is </a:t>
            </a:r>
            <a:r>
              <a:rPr lang="en-US" altLang="ko-KR" b="1" dirty="0">
                <a:sym typeface="Wingdings" panose="05000000000000000000" pitchFamily="2" charset="2"/>
              </a:rPr>
              <a:t>blocked</a:t>
            </a:r>
            <a:r>
              <a:rPr lang="en-US" altLang="ko-KR" dirty="0">
                <a:sym typeface="Wingdings" panose="05000000000000000000" pitchFamily="2" charset="2"/>
              </a:rPr>
              <a:t> and </a:t>
            </a:r>
            <a:r>
              <a:rPr lang="en-US" altLang="ko-KR" b="1" dirty="0">
                <a:sym typeface="Wingdings" panose="05000000000000000000" pitchFamily="2" charset="2"/>
              </a:rPr>
              <a:t>yield</a:t>
            </a:r>
            <a:r>
              <a:rPr lang="en-US" altLang="ko-KR" dirty="0">
                <a:sym typeface="Wingdings" panose="05000000000000000000" pitchFamily="2" charset="2"/>
              </a:rPr>
              <a:t> the CPU.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The consumer </a:t>
            </a:r>
            <a:r>
              <a:rPr lang="en-US" altLang="ko-KR" u="sng" dirty="0">
                <a:sym typeface="Wingdings" panose="05000000000000000000" pitchFamily="2" charset="2"/>
              </a:rPr>
              <a:t>still holds the </a:t>
            </a:r>
            <a:r>
              <a:rPr lang="en-US" altLang="ko-KR" u="sng" dirty="0" err="1">
                <a:sym typeface="Wingdings" panose="05000000000000000000" pitchFamily="2" charset="2"/>
              </a:rPr>
              <a:t>mutex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The producer </a:t>
            </a:r>
            <a:r>
              <a:rPr lang="en-US" altLang="ko-KR" b="1" dirty="0">
                <a:sym typeface="Wingdings" panose="05000000000000000000" pitchFamily="2" charset="2"/>
              </a:rPr>
              <a:t>calls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  <a:r>
              <a:rPr lang="en-US" altLang="ko-KR" dirty="0">
                <a:sym typeface="Wingdings" panose="05000000000000000000" pitchFamily="2" charset="2"/>
              </a:rPr>
              <a:t> on the binary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mutex</a:t>
            </a:r>
            <a:r>
              <a:rPr lang="en-US" altLang="ko-KR" dirty="0">
                <a:sym typeface="Wingdings" panose="05000000000000000000" pitchFamily="2" charset="2"/>
              </a:rPr>
              <a:t> semaphore (line p0).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The producer is now </a:t>
            </a:r>
            <a:r>
              <a:rPr lang="en-US" altLang="ko-KR" b="1" dirty="0">
                <a:sym typeface="Wingdings" panose="05000000000000000000" pitchFamily="2" charset="2"/>
              </a:rPr>
              <a:t>stuck</a:t>
            </a:r>
            <a:r>
              <a:rPr lang="en-US" altLang="ko-KR" dirty="0">
                <a:sym typeface="Wingdings" panose="05000000000000000000" pitchFamily="2" charset="2"/>
              </a:rPr>
              <a:t> waiting too.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 classic deadlock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540708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79D2D-E13D-B54A-96FE-E4F337F4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03A4DD17-CF9D-9B45-9B28-AACB399E4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209938"/>
            <a:ext cx="8786812" cy="484134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1F6696-F30F-5C42-8DF7-6FBDF1F24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62F0E9-2337-B043-8AD4-A2B56F87D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806533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Working Solution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8352928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p1.5 (MOVED MUTEX HERE…)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p2.5 (… AND HERE)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824" y="6001543"/>
            <a:ext cx="328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70A31-C170-D5CE-A213-AB8AB167BEEC}"/>
              </a:ext>
            </a:extLst>
          </p:cNvPr>
          <p:cNvSpPr txBox="1"/>
          <p:nvPr/>
        </p:nvSpPr>
        <p:spPr>
          <a:xfrm>
            <a:off x="916546" y="4653136"/>
            <a:ext cx="7272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Grab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shared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(only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absolutely</a:t>
            </a:r>
            <a:r>
              <a:rPr lang="zh-CN" alt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necessary)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59570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Working Solution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8352928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c1.5 (MOVED MUTEX HERE…)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(&amp;mutex);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c2.5 (… AND HERE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//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(&amp;empty,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MAX);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MAX buffers are empty to begin with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(&amp;full,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... and 0 are full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(&amp;mutex,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mutex=1 because it is a lock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//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824" y="6001543"/>
            <a:ext cx="328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433926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Imagine a number of concurrent list operations, including </a:t>
            </a:r>
            <a:r>
              <a:rPr lang="en-US" altLang="ko-KR" b="1" dirty="0"/>
              <a:t>inserts</a:t>
            </a:r>
            <a:r>
              <a:rPr lang="en-US" altLang="ko-KR" dirty="0"/>
              <a:t> and simple </a:t>
            </a:r>
            <a:r>
              <a:rPr lang="en-US" altLang="ko-KR" b="1" dirty="0"/>
              <a:t>lookups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insert:</a:t>
            </a:r>
          </a:p>
          <a:p>
            <a:pPr lvl="2"/>
            <a:r>
              <a:rPr lang="en-US" altLang="ko-KR" dirty="0"/>
              <a:t>Change the state of the list</a:t>
            </a:r>
          </a:p>
          <a:p>
            <a:pPr lvl="2"/>
            <a:r>
              <a:rPr lang="en-US" altLang="ko-KR" dirty="0"/>
              <a:t>A traditional </a:t>
            </a:r>
            <a:r>
              <a:rPr lang="en-US" altLang="ko-KR" u="sng" dirty="0"/>
              <a:t>critical section</a:t>
            </a:r>
            <a:r>
              <a:rPr lang="en-US" altLang="ko-KR" dirty="0"/>
              <a:t> makes sense.</a:t>
            </a:r>
          </a:p>
          <a:p>
            <a:pPr lvl="1"/>
            <a:r>
              <a:rPr lang="en-US" altLang="ko-KR" b="1" dirty="0"/>
              <a:t>lookup:</a:t>
            </a:r>
          </a:p>
          <a:p>
            <a:pPr lvl="2"/>
            <a:r>
              <a:rPr lang="en-US" altLang="ko-KR" dirty="0"/>
              <a:t>Simply </a:t>
            </a:r>
            <a:r>
              <a:rPr lang="en-US" altLang="ko-KR" i="1" dirty="0"/>
              <a:t>read</a:t>
            </a:r>
            <a:r>
              <a:rPr lang="en-US" altLang="ko-KR" dirty="0"/>
              <a:t> the data structure.</a:t>
            </a:r>
          </a:p>
          <a:p>
            <a:pPr lvl="2"/>
            <a:r>
              <a:rPr lang="en-US" altLang="ko-KR" dirty="0"/>
              <a:t>As long as we can guarantee that no insert is on-going, we can allow many lookups to proceed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concurrently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5229200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This special type of lock is known as a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reader-writer lock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122576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Only </a:t>
            </a:r>
            <a:r>
              <a:rPr lang="en-US" altLang="ko-KR" b="1" dirty="0"/>
              <a:t>a single writer </a:t>
            </a:r>
            <a:r>
              <a:rPr lang="en-US" altLang="ko-KR" dirty="0"/>
              <a:t>can acquire the lock.</a:t>
            </a:r>
          </a:p>
          <a:p>
            <a:r>
              <a:rPr lang="en-US" altLang="ko-KR" dirty="0"/>
              <a:t>Once a reader has acquired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read lock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b="1" dirty="0"/>
              <a:t>More readers </a:t>
            </a:r>
            <a:r>
              <a:rPr lang="en-US" altLang="ko-KR" dirty="0"/>
              <a:t>will be allowed to acquire the read lock too.</a:t>
            </a:r>
          </a:p>
          <a:p>
            <a:pPr lvl="1"/>
            <a:r>
              <a:rPr lang="en-US" altLang="ko-KR" dirty="0"/>
              <a:t>A writer will </a:t>
            </a:r>
            <a:r>
              <a:rPr lang="en-US" altLang="ko-KR" u="sng" dirty="0"/>
              <a:t>have to wait</a:t>
            </a:r>
            <a:r>
              <a:rPr lang="en-US" altLang="ko-KR" dirty="0"/>
              <a:t> until all readers are finished.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9532" y="3057341"/>
            <a:ext cx="842493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lock;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binary semaphore (basic lock)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used to allow ONE writer or MANY readers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readers;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count of readers reading in critical section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49D3A-D939-E64B-8D8D-A60258617BE9}"/>
              </a:ext>
            </a:extLst>
          </p:cNvPr>
          <p:cNvSpPr txBox="1"/>
          <p:nvPr/>
        </p:nvSpPr>
        <p:spPr>
          <a:xfrm>
            <a:off x="395251" y="4941168"/>
            <a:ext cx="8424936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4225788698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</a:t>
            </a:r>
            <a:r>
              <a:rPr lang="en-US" altLang="zh-CN" dirty="0"/>
              <a:t>s</a:t>
            </a:r>
            <a:r>
              <a:rPr lang="en-US" altLang="ko-KR" dirty="0"/>
              <a:t>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95B61-1BFC-6B44-9EB5-2F088A9FCC35}"/>
              </a:ext>
            </a:extLst>
          </p:cNvPr>
          <p:cNvSpPr txBox="1"/>
          <p:nvPr/>
        </p:nvSpPr>
        <p:spPr>
          <a:xfrm>
            <a:off x="340482" y="1512916"/>
            <a:ext cx="8424936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rwlock_acquire_readlock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-&gt;lock); </a:t>
            </a:r>
            <a:r>
              <a:rPr lang="en-US" altLang="zh-CN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//critical</a:t>
            </a:r>
            <a:r>
              <a:rPr lang="zh-CN" altLang="en-US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endParaRPr lang="en-US" altLang="ko-KR" sz="1400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-&gt;readers++;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first reader acquires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11237-6A6F-3548-A8F1-F9079521EC48}"/>
              </a:ext>
            </a:extLst>
          </p:cNvPr>
          <p:cNvSpPr txBox="1"/>
          <p:nvPr/>
        </p:nvSpPr>
        <p:spPr>
          <a:xfrm>
            <a:off x="340482" y="3647846"/>
            <a:ext cx="8424936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rwlock_release_readlock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-&gt;readers--;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-&gt;readers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// last reader releases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581414321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</a:t>
            </a:r>
            <a:r>
              <a:rPr lang="en-US" altLang="zh-CN" dirty="0"/>
              <a:t>s</a:t>
            </a:r>
            <a:r>
              <a:rPr lang="en-US" altLang="ko-KR" dirty="0"/>
              <a:t>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9FE47-C6BB-C246-98E9-11A3787A7037}"/>
              </a:ext>
            </a:extLst>
          </p:cNvPr>
          <p:cNvSpPr txBox="1"/>
          <p:nvPr/>
        </p:nvSpPr>
        <p:spPr>
          <a:xfrm>
            <a:off x="214313" y="1779294"/>
            <a:ext cx="842493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rwlock_acquire_writelock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916CA-68CD-5149-9D5F-CD38A8894EE5}"/>
              </a:ext>
            </a:extLst>
          </p:cNvPr>
          <p:cNvSpPr txBox="1"/>
          <p:nvPr/>
        </p:nvSpPr>
        <p:spPr>
          <a:xfrm>
            <a:off x="216219" y="3395121"/>
            <a:ext cx="842493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rwlock_release_writelock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083134844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D3214-8D15-564C-8AB0-252C648A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C4623-AEA3-B446-B1C9-E87077E007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4E0D8-DAC7-5B4D-81EB-0F4AA0D7B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E443FC-3A5B-9346-8489-86EBAF0760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44" y="776554"/>
            <a:ext cx="8245549" cy="566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33246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</a:t>
            </a:r>
            <a:r>
              <a:rPr lang="en-US" altLang="zh-CN" dirty="0"/>
              <a:t>s</a:t>
            </a:r>
            <a:r>
              <a:rPr lang="en-US" altLang="ko-KR" dirty="0"/>
              <a:t>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reader-writer locks have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fairness problem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would be relatively easy for reader to </a:t>
            </a:r>
            <a:r>
              <a:rPr lang="en-US" altLang="ko-KR" b="1" dirty="0"/>
              <a:t>starve writer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How to </a:t>
            </a:r>
            <a:r>
              <a:rPr lang="en-US" altLang="ko-KR" u="sng" dirty="0"/>
              <a:t>prevent</a:t>
            </a:r>
            <a:r>
              <a:rPr lang="en-US" altLang="ko-KR" dirty="0"/>
              <a:t> more readers from entering the lock once a writer is waiting?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013121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7891-EBF2-59C0-E90D-8ACA4DA8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7AA8A-E81F-D817-CE4D-FFA3199B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</a:t>
            </a:r>
            <a:r>
              <a:rPr lang="en-US" altLang="zh-CN" dirty="0"/>
              <a:t>s</a:t>
            </a:r>
            <a:r>
              <a:rPr lang="en-US" altLang="ko-KR" dirty="0"/>
              <a:t> (Cont.)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936353-091F-DE41-AC48-A66D9100A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semaphore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block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readers</a:t>
            </a:r>
            <a:r>
              <a:rPr lang="zh-CN" altLang="en-US" dirty="0"/>
              <a:t> </a:t>
            </a:r>
            <a:r>
              <a:rPr lang="en-US" altLang="zh-CN" dirty="0"/>
              <a:t>once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writer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waiting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203B0-D87F-6288-680B-AF3E2B7BD9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6C5197-07E2-AB42-6BD0-3B262D706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AFF200F-A524-DDBF-D4AD-73CE1D9AE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15" y="1410463"/>
            <a:ext cx="7772400" cy="497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95536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C35E-B7B0-D949-82EC-6EC50112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33EFFE9-F7A9-106A-85BF-BEC5EA840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083" y="879475"/>
            <a:ext cx="6553271" cy="5502275"/>
          </a:xfrm>
        </p:spPr>
      </p:pic>
    </p:spTree>
    <p:extLst>
      <p:ext uri="{BB962C8B-B14F-4D97-AF65-F5344CB8AC3E}">
        <p14:creationId xmlns:p14="http://schemas.microsoft.com/office/powerpoint/2010/main" val="3412566585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4ABB-CD7B-E2D8-0F56-BD027882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74174A5-D6A4-2265-6044-BD477851D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544" y="879475"/>
            <a:ext cx="6856350" cy="55022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5008AC-9E47-0E0F-D27A-08AE5D557349}"/>
              </a:ext>
            </a:extLst>
          </p:cNvPr>
          <p:cNvSpPr txBox="1"/>
          <p:nvPr/>
        </p:nvSpPr>
        <p:spPr>
          <a:xfrm>
            <a:off x="5868143" y="5301208"/>
            <a:ext cx="3132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But,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readers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blocked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queue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</a:t>
            </a:r>
            <a:r>
              <a:rPr lang="zh-CN" altLang="en-US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i="1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well!</a:t>
            </a:r>
            <a:endParaRPr lang="en-US" i="1" dirty="0">
              <a:highlight>
                <a:srgbClr val="FFFF00"/>
              </a:highligh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04304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Assume there are five “</a:t>
            </a:r>
            <a:r>
              <a:rPr lang="en-US" altLang="ko-KR" sz="1800" b="1" dirty="0"/>
              <a:t>philosophers</a:t>
            </a:r>
            <a:r>
              <a:rPr lang="en-US" altLang="ko-KR" sz="1800" dirty="0"/>
              <a:t>” sitting around a table.</a:t>
            </a:r>
          </a:p>
          <a:p>
            <a:pPr lvl="1"/>
            <a:r>
              <a:rPr lang="en-US" altLang="ko-KR" sz="1600" dirty="0"/>
              <a:t>Between each pair of philosophers is </a:t>
            </a:r>
            <a:r>
              <a:rPr lang="en-US" altLang="ko-KR" sz="1600" u="sng" dirty="0"/>
              <a:t>a single fork</a:t>
            </a:r>
            <a:r>
              <a:rPr lang="en-US" altLang="ko-KR" sz="1600" dirty="0"/>
              <a:t> (five total).</a:t>
            </a:r>
          </a:p>
          <a:p>
            <a:pPr lvl="1"/>
            <a:r>
              <a:rPr lang="en-US" altLang="ko-KR" sz="1600" dirty="0"/>
              <a:t>The philosophers each have times when they </a:t>
            </a:r>
            <a:r>
              <a:rPr lang="en-US" altLang="ko-KR" sz="1600" b="1" dirty="0"/>
              <a:t>think</a:t>
            </a:r>
            <a:r>
              <a:rPr lang="en-US" altLang="ko-KR" sz="1600" dirty="0"/>
              <a:t>, and don’t need any forks, and times whe</a:t>
            </a:r>
            <a:r>
              <a:rPr lang="en-US" altLang="zh-CN" sz="1600" dirty="0"/>
              <a:t>n</a:t>
            </a:r>
            <a:r>
              <a:rPr lang="en-US" altLang="ko-KR" sz="1600" dirty="0"/>
              <a:t> they </a:t>
            </a:r>
            <a:r>
              <a:rPr lang="en-US" altLang="ko-KR" sz="1600" b="1" dirty="0"/>
              <a:t>eat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In order to eat, a philosopher needs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two forks</a:t>
            </a:r>
            <a:r>
              <a:rPr lang="en-US" altLang="ko-KR" sz="1600" dirty="0"/>
              <a:t>, both the one on their </a:t>
            </a:r>
            <a:r>
              <a:rPr lang="en-US" altLang="ko-KR" sz="1600" i="1" dirty="0"/>
              <a:t>left</a:t>
            </a:r>
            <a:r>
              <a:rPr lang="en-US" altLang="ko-KR" sz="1600" dirty="0"/>
              <a:t> and the one on their </a:t>
            </a:r>
            <a:r>
              <a:rPr lang="en-US" altLang="ko-KR" sz="1600" i="1" dirty="0"/>
              <a:t>right</a:t>
            </a:r>
            <a:r>
              <a:rPr lang="zh-CN" altLang="en-US" sz="1600" i="1" dirty="0"/>
              <a:t> </a:t>
            </a:r>
            <a:r>
              <a:rPr lang="en-US" altLang="zh-CN" sz="1600" dirty="0"/>
              <a:t>(I</a:t>
            </a:r>
            <a:r>
              <a:rPr lang="zh-CN" altLang="en-US" sz="1600" dirty="0"/>
              <a:t> </a:t>
            </a:r>
            <a:r>
              <a:rPr lang="en-US" altLang="zh-CN" sz="1600" dirty="0"/>
              <a:t>know</a:t>
            </a:r>
            <a:r>
              <a:rPr lang="zh-CN" altLang="en-US" sz="1600" dirty="0"/>
              <a:t> </a:t>
            </a:r>
            <a:r>
              <a:rPr lang="en-US" altLang="zh-CN" sz="1600" dirty="0"/>
              <a:t>it’s</a:t>
            </a:r>
            <a:r>
              <a:rPr lang="zh-CN" altLang="en-US" sz="1600" dirty="0"/>
              <a:t> </a:t>
            </a:r>
            <a:r>
              <a:rPr lang="en-US" altLang="zh-CN" sz="1600" dirty="0"/>
              <a:t>weird…)</a:t>
            </a:r>
            <a:endParaRPr lang="en-US" altLang="ko-KR" sz="1600" dirty="0"/>
          </a:p>
          <a:p>
            <a:pPr lvl="1"/>
            <a:r>
              <a:rPr lang="en-US" altLang="zh-CN" sz="1600" b="1" dirty="0"/>
              <a:t>C</a:t>
            </a:r>
            <a:r>
              <a:rPr lang="en-US" altLang="ko-KR" sz="1600" b="1" dirty="0"/>
              <a:t>ontention for these forks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arises!</a:t>
            </a:r>
            <a:endParaRPr lang="en-US" altLang="ko-KR" sz="1600" b="1" dirty="0"/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6516216" y="3140968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96336" y="3501008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7812360" y="4077072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7452320" y="5585563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028384" y="5085184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32240" y="5877272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5652120" y="5589240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364088" y="5085184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5148064" y="4077072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96136" y="3501008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59543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 challenge</a:t>
            </a:r>
          </a:p>
          <a:p>
            <a:pPr lvl="1"/>
            <a:r>
              <a:rPr lang="en-US" altLang="ko-KR" dirty="0"/>
              <a:t>There is </a:t>
            </a:r>
            <a:r>
              <a:rPr lang="en-US" altLang="ko-KR" b="1" dirty="0"/>
              <a:t>no deadlock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No</a:t>
            </a:r>
            <a:r>
              <a:rPr lang="en-US" altLang="ko-KR" dirty="0"/>
              <a:t> philosopher </a:t>
            </a:r>
            <a:r>
              <a:rPr lang="en-US" altLang="ko-KR" b="1" dirty="0"/>
              <a:t>starves</a:t>
            </a:r>
            <a:r>
              <a:rPr lang="en-US" altLang="ko-KR" dirty="0"/>
              <a:t> and never gets to eat.</a:t>
            </a:r>
          </a:p>
          <a:p>
            <a:pPr lvl="1"/>
            <a:r>
              <a:rPr lang="en-US" altLang="ko-KR" b="1" dirty="0"/>
              <a:t>Concurrency</a:t>
            </a:r>
            <a:r>
              <a:rPr lang="en-US" altLang="ko-KR" dirty="0"/>
              <a:t> is high.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Philosopher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dirty="0"/>
              <a:t> wishes to refer to the for</a:t>
            </a:r>
            <a:r>
              <a:rPr lang="en-US" altLang="zh-CN" dirty="0"/>
              <a:t>k</a:t>
            </a:r>
            <a:r>
              <a:rPr lang="en-US" altLang="ko-KR" dirty="0"/>
              <a:t> on their left </a:t>
            </a:r>
            <a:r>
              <a:rPr lang="en-US" altLang="ko-KR" dirty="0">
                <a:sym typeface="Wingdings" panose="05000000000000000000" pitchFamily="2" charset="2"/>
              </a:rPr>
              <a:t> call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left(p)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Philosopher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dirty="0"/>
              <a:t> wishes to refer to the for</a:t>
            </a:r>
            <a:r>
              <a:rPr lang="en-US" altLang="zh-CN" dirty="0"/>
              <a:t>k</a:t>
            </a:r>
            <a:r>
              <a:rPr lang="en-US" altLang="ko-KR" dirty="0"/>
              <a:t> on their right </a:t>
            </a:r>
            <a:r>
              <a:rPr lang="en-US" altLang="ko-KR" dirty="0">
                <a:sym typeface="Wingdings" panose="05000000000000000000" pitchFamily="2" charset="2"/>
              </a:rPr>
              <a:t> call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right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6674" y="2960944"/>
            <a:ext cx="3168352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3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think();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getforks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eat();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putforks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9083" y="2957942"/>
            <a:ext cx="3384376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3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helper functions</a:t>
            </a:r>
          </a:p>
          <a:p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left(</a:t>
            </a:r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p) { </a:t>
            </a:r>
            <a:r>
              <a:rPr lang="en-US" altLang="ko-KR" sz="13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 }</a:t>
            </a:r>
          </a:p>
          <a:p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right(</a:t>
            </a:r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p) {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 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 +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2706" y="4253606"/>
            <a:ext cx="2836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Basic loop of each philosopher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39082" y="4273351"/>
            <a:ext cx="3449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Helper functions (Downey’s solutions)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07625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need some </a:t>
            </a:r>
            <a:r>
              <a:rPr lang="en-US" altLang="ko-KR" b="1" dirty="0"/>
              <a:t>semaphore</a:t>
            </a:r>
            <a:r>
              <a:rPr lang="en-US" altLang="zh-CN" b="1" dirty="0"/>
              <a:t>s</a:t>
            </a:r>
            <a:r>
              <a:rPr lang="en-US" altLang="ko-KR" dirty="0"/>
              <a:t>, one for each fork: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forks[5]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Deadlock</a:t>
            </a:r>
            <a:r>
              <a:rPr lang="en-US" altLang="ko-KR" dirty="0"/>
              <a:t> occur</a:t>
            </a:r>
            <a:r>
              <a:rPr lang="en-US" altLang="zh-CN" dirty="0"/>
              <a:t>s</a:t>
            </a:r>
            <a:r>
              <a:rPr lang="en-US" altLang="ko-KR" dirty="0"/>
              <a:t>!</a:t>
            </a:r>
          </a:p>
          <a:p>
            <a:pPr lvl="2"/>
            <a:r>
              <a:rPr lang="en-US" altLang="ko-KR" dirty="0"/>
              <a:t>If each philosopher happens to </a:t>
            </a:r>
            <a:r>
              <a:rPr lang="en-US" altLang="ko-KR" b="1" dirty="0"/>
              <a:t>grab the fork on their left</a:t>
            </a:r>
            <a:r>
              <a:rPr lang="en-US" altLang="ko-KR" dirty="0"/>
              <a:t> before any philosopher can grab the fork on their right.</a:t>
            </a:r>
          </a:p>
          <a:p>
            <a:pPr lvl="2"/>
            <a:r>
              <a:rPr lang="en-US" altLang="ko-KR" dirty="0"/>
              <a:t>Each will be stuck </a:t>
            </a:r>
            <a:r>
              <a:rPr lang="en-US" altLang="ko-KR" i="1" dirty="0"/>
              <a:t>holding one fork</a:t>
            </a:r>
            <a:r>
              <a:rPr lang="en-US" altLang="ko-KR" dirty="0"/>
              <a:t> and waiting for another, </a:t>
            </a:r>
            <a:r>
              <a:rPr lang="en-US" altLang="ko-KR" i="1" dirty="0"/>
              <a:t>forever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5736" y="1520788"/>
            <a:ext cx="4248472" cy="2052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9672" y="3573016"/>
            <a:ext cx="5875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getforks</a:t>
            </a:r>
            <a:r>
              <a:rPr lang="en-US" altLang="ko-KR" sz="1400" b="1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and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putforks</a:t>
            </a:r>
            <a:r>
              <a:rPr lang="en-US" altLang="ko-KR" sz="1400" b="1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()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Routines (Broken Solution)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1424552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Breaking The Dependency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Change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how forks are acquired</a:t>
            </a:r>
            <a:endParaRPr lang="en-US" altLang="ko-KR" dirty="0"/>
          </a:p>
          <a:p>
            <a:pPr lvl="1"/>
            <a:r>
              <a:rPr lang="en-US" altLang="ko-KR" dirty="0"/>
              <a:t>Let’s assume that philosopher 4 acquire the forks in a </a:t>
            </a:r>
            <a:r>
              <a:rPr lang="en-US" altLang="ko-KR" i="1" dirty="0"/>
              <a:t>different order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There is no situation where each philosopher grabs one fork and is stuck waiting for another. </a:t>
            </a:r>
            <a:r>
              <a:rPr lang="en-US" altLang="ko-KR" b="1" dirty="0"/>
              <a:t>The cycle of waiting is broken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35696" y="2060848"/>
            <a:ext cx="5472608" cy="20162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}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834246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46A24-7D18-1BF3-1C94-60EA0F2FC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Reference</a:t>
            </a:r>
            <a:r>
              <a:rPr lang="zh-CN" altLang="en-US" dirty="0"/>
              <a:t> </a:t>
            </a:r>
            <a:r>
              <a:rPr lang="en-US" altLang="zh-CN" dirty="0"/>
              <a:t>materials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439135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US" altLang="ko-KR" dirty="0"/>
              <a:t>Semaphore</a:t>
            </a:r>
            <a:r>
              <a:rPr lang="en-US" altLang="zh-CN" dirty="0"/>
              <a:t>s</a:t>
            </a:r>
            <a:r>
              <a:rPr lang="zh-CN" altLang="en-US" dirty="0"/>
              <a:t> </a:t>
            </a:r>
            <a:r>
              <a:rPr lang="en-US" altLang="ko-KR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CV</a:t>
            </a:r>
            <a:r>
              <a:rPr lang="en-US" altLang="ko-KR" dirty="0"/>
              <a:t>: </a:t>
            </a:r>
            <a:r>
              <a:rPr lang="en-US" altLang="ko-KR" dirty="0" err="1"/>
              <a:t>Zemaphores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9558" y="1090328"/>
            <a:ext cx="6276322" cy="5043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pthread_cond_t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pthread_mutex_t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lock;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only one thread can call this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Zem_init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*s, 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value) {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 = value;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Cond_init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Mutex_init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1165900338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</a:t>
            </a:r>
            <a:r>
              <a:rPr lang="ko-KR" altLang="en-US" dirty="0"/>
              <a:t> </a:t>
            </a:r>
            <a:r>
              <a:rPr lang="en-US" altLang="ko-KR" dirty="0"/>
              <a:t>using condition variable: </a:t>
            </a:r>
            <a:r>
              <a:rPr lang="en-US" altLang="ko-KR" dirty="0" err="1"/>
              <a:t>Zemaphores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4789" y="1916832"/>
            <a:ext cx="6276322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Zem_wait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while (s-&gt;value &lt;= 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Cond_wait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s-&gt;value--;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44863253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Implement Semaphores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Zemaphore</a:t>
            </a:r>
            <a:r>
              <a:rPr lang="en-US" altLang="zh-CN" dirty="0" err="1"/>
              <a:t>s</a:t>
            </a:r>
            <a:r>
              <a:rPr lang="en-US" altLang="ko-KR" dirty="0"/>
              <a:t> don’t maintain the invariant that </a:t>
            </a:r>
            <a:r>
              <a:rPr lang="en-US" altLang="ko-KR" i="1" dirty="0"/>
              <a:t>the value of </a:t>
            </a:r>
            <a:r>
              <a:rPr lang="en-US" altLang="ko-KR" dirty="0"/>
              <a:t>the semaphore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negative,</a:t>
            </a:r>
            <a:r>
              <a:rPr lang="zh-CN" altLang="en-US" dirty="0"/>
              <a:t> </a:t>
            </a:r>
            <a:r>
              <a:rPr lang="en-US" altLang="zh-CN" dirty="0"/>
              <a:t>reflects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waiting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value </a:t>
            </a:r>
            <a:r>
              <a:rPr lang="en-US" altLang="ko-KR" u="sng" dirty="0"/>
              <a:t>never be lower than zero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This behavior is </a:t>
            </a:r>
            <a:r>
              <a:rPr lang="en-US" altLang="ko-KR" b="1" dirty="0"/>
              <a:t>easier</a:t>
            </a:r>
            <a:r>
              <a:rPr lang="en-US" altLang="ko-KR" dirty="0"/>
              <a:t> to implement and </a:t>
            </a:r>
            <a:r>
              <a:rPr lang="en-US" altLang="ko-KR" b="1" dirty="0"/>
              <a:t>matches</a:t>
            </a:r>
            <a:r>
              <a:rPr lang="en-US" altLang="ko-KR" dirty="0"/>
              <a:t> the current Linux implementation.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4789" y="1340768"/>
            <a:ext cx="6276322" cy="2550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AutoNum type="arabicPlain" startAt="22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Zem_post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s-&gt;value++;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Cond_signal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056378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C3AE-EFCD-C7B7-AFC6-0E145E95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semaphores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US" altLang="zh-CN" dirty="0"/>
              <a:t>C.V.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1E370-B4EE-9D10-B31C-B4F416B5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difficult!</a:t>
            </a:r>
            <a:endParaRPr lang="en-HK" altLang="zh-CN" dirty="0"/>
          </a:p>
          <a:p>
            <a:pPr lvl="1"/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yourself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43D71-1A96-491E-E05A-205D24770A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39F0-24B0-E344-B2A5-6744D805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87634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1_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4.xml><?xml version="1.0" encoding="utf-8"?>
<a:theme xmlns:a="http://schemas.openxmlformats.org/drawingml/2006/main" name="1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5.xml><?xml version="1.0" encoding="utf-8"?>
<a:theme xmlns:a="http://schemas.openxmlformats.org/drawingml/2006/main" name="2_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6.xml><?xml version="1.0" encoding="utf-8"?>
<a:theme xmlns:a="http://schemas.openxmlformats.org/drawingml/2006/main" name="2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3150</Template>
  <TotalTime>113760</TotalTime>
  <Words>3680</Words>
  <Application>Microsoft Macintosh PowerPoint</Application>
  <PresentationFormat>On-screen Show (4:3)</PresentationFormat>
  <Paragraphs>691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40</vt:i4>
      </vt:variant>
    </vt:vector>
  </HeadingPairs>
  <TitlesOfParts>
    <vt:vector size="56" baseType="lpstr">
      <vt:lpstr>Adobe 고딕 Std B</vt:lpstr>
      <vt:lpstr>굴림</vt:lpstr>
      <vt:lpstr>HY견고딕</vt:lpstr>
      <vt:lpstr>맑은 고딕</vt:lpstr>
      <vt:lpstr>맑은 고딕</vt:lpstr>
      <vt:lpstr>Arial</vt:lpstr>
      <vt:lpstr>Courier New</vt:lpstr>
      <vt:lpstr>Helvetica Neue</vt:lpstr>
      <vt:lpstr>Vijaya</vt:lpstr>
      <vt:lpstr>Wingdings</vt:lpstr>
      <vt:lpstr>3150-revised</vt:lpstr>
      <vt:lpstr>3150</vt:lpstr>
      <vt:lpstr>1_3150-revised</vt:lpstr>
      <vt:lpstr>1_3150</vt:lpstr>
      <vt:lpstr>2_3150-revised</vt:lpstr>
      <vt:lpstr>2_3150</vt:lpstr>
      <vt:lpstr>CSCI3150 Introduction to Operating Systems</vt:lpstr>
      <vt:lpstr>Semaphore</vt:lpstr>
      <vt:lpstr>Semaphore: A Definition</vt:lpstr>
      <vt:lpstr>Interact with Semaphore</vt:lpstr>
      <vt:lpstr>Interact with Semaphore</vt:lpstr>
      <vt:lpstr>PowerPoint Presentation</vt:lpstr>
      <vt:lpstr>Binary Semaphores (Locks)</vt:lpstr>
      <vt:lpstr>Thread Trace: Two Threads Using A Semaphore</vt:lpstr>
      <vt:lpstr>Binary Semaphores (Locks)</vt:lpstr>
      <vt:lpstr>Semaphores As Condition Variables</vt:lpstr>
      <vt:lpstr>Thread Trace: Parent Waiting For Child (Case 1)</vt:lpstr>
      <vt:lpstr>Thread Trace: Parent Waiting For Child (Case 2)</vt:lpstr>
      <vt:lpstr>The Producer/Consumer (Bounded-Buffer) Problem</vt:lpstr>
      <vt:lpstr>The Producer/Consumer (Bounded-Buffer) Problem</vt:lpstr>
      <vt:lpstr>The Producer/Consumer (Bounded-Buffer) Problem</vt:lpstr>
      <vt:lpstr>PowerPoint Presentation</vt:lpstr>
      <vt:lpstr>A Solution: Adding Mutual Exclusion</vt:lpstr>
      <vt:lpstr>A Solution: Adding Mutual Exclusion</vt:lpstr>
      <vt:lpstr>A Solution: Adding Mutual Exclusion (Cont.)</vt:lpstr>
      <vt:lpstr>PowerPoint Presentation</vt:lpstr>
      <vt:lpstr>A Working Solution</vt:lpstr>
      <vt:lpstr>A Working Solution</vt:lpstr>
      <vt:lpstr>Reader-Writer Locks</vt:lpstr>
      <vt:lpstr>Reader-Writer Locks</vt:lpstr>
      <vt:lpstr>Reader-Writer Locks (Cont.)</vt:lpstr>
      <vt:lpstr>Reader-Writer Locks (Cont.)</vt:lpstr>
      <vt:lpstr>PowerPoint Presentation</vt:lpstr>
      <vt:lpstr>Reader-Writer Locks (Cont.)</vt:lpstr>
      <vt:lpstr>Reader-Writer Locks (Cont.)</vt:lpstr>
      <vt:lpstr>PowerPoint Presentation</vt:lpstr>
      <vt:lpstr>PowerPoint Presentation</vt:lpstr>
      <vt:lpstr>The Dining Philosophers</vt:lpstr>
      <vt:lpstr>The Dining Philosophers (Cont.)</vt:lpstr>
      <vt:lpstr>The Dining Philosophers (Cont.)</vt:lpstr>
      <vt:lpstr>A Solution: Breaking The Dependency</vt:lpstr>
      <vt:lpstr>PowerPoint Presentation</vt:lpstr>
      <vt:lpstr>How to Implement Semaphores using CV: Zemaphores</vt:lpstr>
      <vt:lpstr>Semaphore using condition variable: Zemaphores</vt:lpstr>
      <vt:lpstr>How To Implement Semaphores (Cont.)</vt:lpstr>
      <vt:lpstr>Using semaphores to implement C.V.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4243</cp:revision>
  <cp:lastPrinted>2019-09-09T02:10:38Z</cp:lastPrinted>
  <dcterms:created xsi:type="dcterms:W3CDTF">2011-05-01T06:09:10Z</dcterms:created>
  <dcterms:modified xsi:type="dcterms:W3CDTF">2026-02-04T05:17:20Z</dcterms:modified>
  <cp:category/>
</cp:coreProperties>
</file>