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55"/>
  </p:notesMasterIdLst>
  <p:sldIdLst>
    <p:sldId id="2991" r:id="rId2"/>
    <p:sldId id="2967" r:id="rId3"/>
    <p:sldId id="2970" r:id="rId4"/>
    <p:sldId id="2083" r:id="rId5"/>
    <p:sldId id="2084" r:id="rId6"/>
    <p:sldId id="2085" r:id="rId7"/>
    <p:sldId id="3398" r:id="rId8"/>
    <p:sldId id="3399" r:id="rId9"/>
    <p:sldId id="3400" r:id="rId10"/>
    <p:sldId id="3401" r:id="rId11"/>
    <p:sldId id="3402" r:id="rId12"/>
    <p:sldId id="3403" r:id="rId13"/>
    <p:sldId id="3404" r:id="rId14"/>
    <p:sldId id="3405" r:id="rId15"/>
    <p:sldId id="3406" r:id="rId16"/>
    <p:sldId id="3407" r:id="rId17"/>
    <p:sldId id="3408" r:id="rId18"/>
    <p:sldId id="2097" r:id="rId19"/>
    <p:sldId id="2969" r:id="rId20"/>
    <p:sldId id="2098" r:id="rId21"/>
    <p:sldId id="2099" r:id="rId22"/>
    <p:sldId id="3397" r:id="rId23"/>
    <p:sldId id="2100" r:id="rId24"/>
    <p:sldId id="2101" r:id="rId25"/>
    <p:sldId id="2102" r:id="rId26"/>
    <p:sldId id="2103" r:id="rId27"/>
    <p:sldId id="2104" r:id="rId28"/>
    <p:sldId id="2105" r:id="rId29"/>
    <p:sldId id="2106" r:id="rId30"/>
    <p:sldId id="2107" r:id="rId31"/>
    <p:sldId id="2108" r:id="rId32"/>
    <p:sldId id="2109" r:id="rId33"/>
    <p:sldId id="2110" r:id="rId34"/>
    <p:sldId id="2111" r:id="rId35"/>
    <p:sldId id="3396" r:id="rId36"/>
    <p:sldId id="2112" r:id="rId37"/>
    <p:sldId id="2113" r:id="rId38"/>
    <p:sldId id="2114" r:id="rId39"/>
    <p:sldId id="2115" r:id="rId40"/>
    <p:sldId id="2116" r:id="rId41"/>
    <p:sldId id="2117" r:id="rId42"/>
    <p:sldId id="2118" r:id="rId43"/>
    <p:sldId id="2119" r:id="rId44"/>
    <p:sldId id="2120" r:id="rId45"/>
    <p:sldId id="2121" r:id="rId46"/>
    <p:sldId id="3387" r:id="rId47"/>
    <p:sldId id="3388" r:id="rId48"/>
    <p:sldId id="3389" r:id="rId49"/>
    <p:sldId id="3390" r:id="rId50"/>
    <p:sldId id="3391" r:id="rId51"/>
    <p:sldId id="3392" r:id="rId52"/>
    <p:sldId id="3393" r:id="rId53"/>
    <p:sldId id="3409" r:id="rId5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3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03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2026. 2. 11.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The current Linux approach achieves similar goals in an alternate manner.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Fair-sharing scheduling, but spending little time making scheduling decision.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Scheduling uses about 5% of overall datacenter CPU time. (Study of Google datacenters, </a:t>
            </a:r>
            <a:r>
              <a:rPr lang="en-US" altLang="ko-KR" dirty="0" err="1"/>
              <a:t>Kanev</a:t>
            </a:r>
            <a:r>
              <a:rPr lang="en-US" altLang="ko-KR" dirty="0"/>
              <a:t> et al)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Recuing overhead is a key goal in modern scheduler architecture.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70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297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5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3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44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68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9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9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5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1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47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75" r:id="rId6"/>
    <p:sldLayoutId id="2147483677" r:id="rId7"/>
    <p:sldLayoutId id="2147483671" r:id="rId8"/>
    <p:sldLayoutId id="2147483673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eli/537/lectures/Solaris.pdf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tackoverflow.com/questions/2509679/how-to-generate-a-random-integer-number-from-within-a-range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9: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CPU Scheduling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58A5-7E54-E284-71BB-32A304C8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Roadmap:</a:t>
            </a:r>
            <a:r>
              <a:rPr lang="zh-CN" altLang="en-US" dirty="0"/>
              <a:t> </a:t>
            </a:r>
            <a:r>
              <a:rPr lang="en-US" altLang="zh-CN" dirty="0"/>
              <a:t>CPU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960D2-C962-58D5-EF73-4F8651456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</a:p>
          <a:p>
            <a:r>
              <a:rPr lang="en-US" altLang="zh-CN" dirty="0"/>
              <a:t>Multi-Level</a:t>
            </a:r>
            <a:r>
              <a:rPr lang="zh-CN" altLang="en-US" dirty="0"/>
              <a:t> </a:t>
            </a:r>
            <a:r>
              <a:rPr lang="en-US" altLang="zh-CN" dirty="0"/>
              <a:t>Feedback</a:t>
            </a:r>
            <a:r>
              <a:rPr lang="zh-CN" altLang="en-US" dirty="0"/>
              <a:t> </a:t>
            </a:r>
            <a:r>
              <a:rPr lang="en-US" altLang="zh-CN" dirty="0"/>
              <a:t>Queue</a:t>
            </a:r>
          </a:p>
          <a:p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DB5DD-FA0D-A2FA-FDA7-34B64BD6D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44744-65AC-0551-1EF1-1454792A7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93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B794FE-3572-95E6-DBC1-ADA2C439F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C8600-CA63-37B6-E3F4-A898BA9AA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99BEC-B256-C601-1CBE-8A01AD4DD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86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Scheduling: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Workload assumptions: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Each job runs for the </a:t>
            </a:r>
            <a:r>
              <a:rPr lang="en-US" altLang="ko-KR" b="1" dirty="0"/>
              <a:t>same amount of time.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All jobs </a:t>
            </a:r>
            <a:r>
              <a:rPr lang="en-US" altLang="ko-KR" b="1" dirty="0"/>
              <a:t>arrive </a:t>
            </a:r>
            <a:r>
              <a:rPr lang="en-US" altLang="ko-KR" dirty="0"/>
              <a:t>at the same time.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All jobs only use the </a:t>
            </a:r>
            <a:r>
              <a:rPr lang="en-US" altLang="ko-KR" b="1" dirty="0"/>
              <a:t>CPU </a:t>
            </a:r>
            <a:r>
              <a:rPr lang="en-US" altLang="ko-KR" dirty="0"/>
              <a:t>(i.e., they perform no I/O).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</a:t>
            </a:r>
            <a:r>
              <a:rPr lang="en-US" altLang="ko-KR" b="1" dirty="0"/>
              <a:t>run-time</a:t>
            </a:r>
            <a:r>
              <a:rPr lang="en-US" altLang="ko-KR" dirty="0"/>
              <a:t> of each job is known.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261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 Metrics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Performance metric: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Turnaround time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or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completion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time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altLang="ko-KR" dirty="0"/>
              <a:t>The time at which </a:t>
            </a:r>
            <a:r>
              <a:rPr lang="en-US" altLang="ko-KR" b="1" dirty="0"/>
              <a:t>the job completes </a:t>
            </a:r>
            <a:r>
              <a:rPr lang="en-US" altLang="ko-KR" dirty="0"/>
              <a:t>minus the time at which </a:t>
            </a:r>
            <a:r>
              <a:rPr lang="en-US" altLang="ko-KR" b="1" dirty="0"/>
              <a:t>the job arrived</a:t>
            </a:r>
            <a:r>
              <a:rPr lang="en-US" altLang="ko-KR" dirty="0"/>
              <a:t> in the system.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zh-CN" dirty="0"/>
              <a:t>Job</a:t>
            </a:r>
            <a:r>
              <a:rPr lang="zh-CN" altLang="en-US" dirty="0"/>
              <a:t> </a:t>
            </a:r>
            <a:r>
              <a:rPr lang="en-US" altLang="zh-CN" dirty="0"/>
              <a:t>completion</a:t>
            </a:r>
            <a:r>
              <a:rPr lang="zh-CN" altLang="en-US" dirty="0"/>
              <a:t> </a:t>
            </a:r>
            <a:r>
              <a:rPr lang="en-US" altLang="zh-CN" dirty="0"/>
              <a:t>time,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JCT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dirty="0"/>
              <a:t>Another metric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fairness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Performance and fairness are often at odds in scheduling.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32059" y="2609443"/>
                <a:ext cx="3600537" cy="427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  <m:t>𝒄𝒐𝒎𝒑𝒍𝒆𝒕𝒊𝒐𝒏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  <m:t>𝒅𝒐𝒏𝒆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𝒂𝒓𝒓𝒊𝒗𝒂𝒍</m:t>
                          </m:r>
                        </m:sub>
                      </m:sSub>
                    </m:oMath>
                  </m:oMathPara>
                </a14:m>
                <a:endParaRPr lang="ko-KR" altLang="en-US" sz="2000" b="1" dirty="0">
                  <a:solidFill>
                    <a:srgbClr val="1F497D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59" y="2609443"/>
                <a:ext cx="3600537" cy="427618"/>
              </a:xfrm>
              <a:prstGeom prst="rect">
                <a:avLst/>
              </a:prstGeom>
              <a:blipFill>
                <a:blip r:embed="rId2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모서리가 둥근 직사각형 6"/>
          <p:cNvSpPr/>
          <p:nvPr/>
        </p:nvSpPr>
        <p:spPr>
          <a:xfrm>
            <a:off x="2156065" y="2492896"/>
            <a:ext cx="4648183" cy="720080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94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First In, First Out (FIFO)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First Come, First Served (FCFS)</a:t>
            </a:r>
          </a:p>
          <a:p>
            <a:pPr lvl="1"/>
            <a:r>
              <a:rPr lang="en-US" altLang="ko-KR" dirty="0"/>
              <a:t>Very simple and easy to implement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Each job runs for 10 seconds.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2246980" y="3425190"/>
            <a:ext cx="4663184" cy="1804010"/>
            <a:chOff x="2246980" y="3409950"/>
            <a:chExt cx="4663184" cy="1804010"/>
          </a:xfrm>
        </p:grpSpPr>
        <p:grpSp>
          <p:nvGrpSpPr>
            <p:cNvPr id="29" name="그룹 28"/>
            <p:cNvGrpSpPr/>
            <p:nvPr/>
          </p:nvGrpSpPr>
          <p:grpSpPr>
            <a:xfrm>
              <a:off x="2246980" y="4481755"/>
              <a:ext cx="4663184" cy="732205"/>
              <a:chOff x="2246980" y="4797152"/>
              <a:chExt cx="4663184" cy="732205"/>
            </a:xfrm>
          </p:grpSpPr>
          <p:cxnSp>
            <p:nvCxnSpPr>
              <p:cNvPr id="7" name="직선 연결선 6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5" name="직선 연결선 14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2339278" y="3725897"/>
              <a:ext cx="360000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99792" y="3724350"/>
              <a:ext cx="360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059792" y="3725897"/>
              <a:ext cx="360000" cy="71845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39278" y="34099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99792" y="34099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059832" y="341649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898103" y="5552572"/>
                <a:ext cx="3879588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𝑱𝑪𝑻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𝟐𝟎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3879588" cy="554960"/>
              </a:xfrm>
              <a:prstGeom prst="rect">
                <a:avLst/>
              </a:prstGeom>
              <a:blipFill>
                <a:blip r:embed="rId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085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FIFO is not that great? – Head-of-line Blocking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1: Each job </a:t>
            </a:r>
            <a:r>
              <a:rPr lang="en-US" altLang="ko-KR" b="1" dirty="0"/>
              <a:t>no longer </a:t>
            </a:r>
            <a:r>
              <a:rPr lang="en-US" altLang="ko-KR" dirty="0"/>
              <a:t>runs for the same amount of time.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arrived just before B which arrived just before C.</a:t>
            </a:r>
          </a:p>
          <a:p>
            <a:pPr lvl="1"/>
            <a:r>
              <a:rPr lang="en-US" altLang="ko-KR" dirty="0"/>
              <a:t>A runs for 100 seconds, B and C run for 10 each.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2246980" y="3444240"/>
            <a:ext cx="4663184" cy="1784960"/>
            <a:chOff x="2246980" y="3140968"/>
            <a:chExt cx="4663184" cy="1784960"/>
          </a:xfrm>
        </p:grpSpPr>
        <p:grpSp>
          <p:nvGrpSpPr>
            <p:cNvPr id="8" name="그룹 7"/>
            <p:cNvGrpSpPr/>
            <p:nvPr/>
          </p:nvGrpSpPr>
          <p:grpSpPr>
            <a:xfrm>
              <a:off x="2246980" y="4193723"/>
              <a:ext cx="4663184" cy="732205"/>
              <a:chOff x="2246980" y="4797152"/>
              <a:chExt cx="4663184" cy="732205"/>
            </a:xfrm>
          </p:grpSpPr>
          <p:cxnSp>
            <p:nvCxnSpPr>
              <p:cNvPr id="15" name="직선 연결선 14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8" name="직선 연결선 17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2" name="직선 연결선 21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4" name="직선 연결선 23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339278" y="3440669"/>
              <a:ext cx="3606398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940192" y="3440119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00192" y="3440119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3968" y="314096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192" y="314096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0232" y="3147511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98103" y="5552572"/>
                <a:ext cx="4373313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𝑱𝑪𝑻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𝟏𝟏𝟎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4373313" cy="554960"/>
              </a:xfrm>
              <a:prstGeom prst="rect">
                <a:avLst/>
              </a:prstGeom>
              <a:blipFill>
                <a:blip r:embed="rId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8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Job First (SJF)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Run the shortest job first, then the next shortest, and so on</a:t>
            </a:r>
          </a:p>
          <a:p>
            <a:pPr lvl="1"/>
            <a:r>
              <a:rPr lang="en-US" altLang="ko-KR" dirty="0"/>
              <a:t>Non-preemptive scheduler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en-US" altLang="ko-KR" dirty="0"/>
              <a:t>xample: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547664" y="5445224"/>
            <a:ext cx="6192688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246980" y="4496995"/>
            <a:ext cx="4663184" cy="732205"/>
            <a:chOff x="2246980" y="4797152"/>
            <a:chExt cx="4663184" cy="73220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339752" y="4797152"/>
              <a:ext cx="432048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346898" y="4800733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246980" y="4857333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5983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80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7991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6388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449999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28396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522007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004048" y="485375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594015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693648" y="4853752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652612" y="4797152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406108" y="4853752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757052" y="5221580"/>
              <a:ext cx="1512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Time (Second)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3059832" y="3743941"/>
            <a:ext cx="3606398" cy="71845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39752" y="3743391"/>
            <a:ext cx="360000" cy="71900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99752" y="3743391"/>
            <a:ext cx="360000" cy="719003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4522" y="344424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9752" y="344424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99792" y="3450783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98103" y="5552572"/>
                <a:ext cx="4047903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𝑱𝑪𝑻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103" y="5552572"/>
                <a:ext cx="4047903" cy="554960"/>
              </a:xfrm>
              <a:prstGeom prst="rect">
                <a:avLst/>
              </a:prstGeom>
              <a:blipFill>
                <a:blip r:embed="rId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62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SJF with Late Arrivals from B and 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2: Jobs can arrive at any time.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arrives at t=0 and needs to run for 100 seconds.</a:t>
            </a:r>
          </a:p>
          <a:p>
            <a:pPr lvl="1"/>
            <a:r>
              <a:rPr lang="en-US" altLang="ko-KR" dirty="0"/>
              <a:t>B and C arrive at t=10 and each need</a:t>
            </a:r>
            <a:r>
              <a:rPr lang="en-US" altLang="zh-CN" dirty="0"/>
              <a:t>s</a:t>
            </a:r>
            <a:r>
              <a:rPr lang="en-US" altLang="ko-KR" dirty="0"/>
              <a:t> to run for 10 seconds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5445224"/>
            <a:ext cx="747871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37700" y="5552572"/>
                <a:ext cx="6020110" cy="570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𝑱𝑪𝑻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𝟏𝟏𝟎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𝟏𝟎𝟑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𝟑𝟑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" y="5552572"/>
                <a:ext cx="6020110" cy="570221"/>
              </a:xfrm>
              <a:prstGeom prst="rect">
                <a:avLst/>
              </a:prstGeom>
              <a:blipFill>
                <a:blip r:embed="rId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/>
          <p:cNvGrpSpPr/>
          <p:nvPr/>
        </p:nvGrpSpPr>
        <p:grpSpPr>
          <a:xfrm>
            <a:off x="1997015" y="3140968"/>
            <a:ext cx="4913149" cy="2092347"/>
            <a:chOff x="1997015" y="3136853"/>
            <a:chExt cx="4913149" cy="2092347"/>
          </a:xfrm>
        </p:grpSpPr>
        <p:grpSp>
          <p:nvGrpSpPr>
            <p:cNvPr id="8" name="그룹 7"/>
            <p:cNvGrpSpPr/>
            <p:nvPr/>
          </p:nvGrpSpPr>
          <p:grpSpPr>
            <a:xfrm>
              <a:off x="2246980" y="4496995"/>
              <a:ext cx="4663184" cy="732205"/>
              <a:chOff x="2246980" y="4797152"/>
              <a:chExt cx="4663184" cy="732205"/>
            </a:xfrm>
          </p:grpSpPr>
          <p:cxnSp>
            <p:nvCxnSpPr>
              <p:cNvPr id="15" name="직선 연결선 14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8" name="직선 연결선 17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2" name="직선 연결선 21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4" name="직선 연결선 23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6" name="직선 연결선 25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" name="직사각형 8"/>
            <p:cNvSpPr/>
            <p:nvPr/>
          </p:nvSpPr>
          <p:spPr>
            <a:xfrm>
              <a:off x="2339752" y="3743941"/>
              <a:ext cx="3606398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940152" y="3743391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300152" y="3743391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4442" y="344424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152" y="344424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0192" y="345078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2723237" y="3460655"/>
              <a:ext cx="0" cy="288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997015" y="3136853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[B,C arrive]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2575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R</a:t>
            </a:r>
            <a:r>
              <a:rPr lang="en-US" altLang="zh-CN" dirty="0"/>
              <a:t>emaining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en-US" altLang="ko-KR" dirty="0"/>
              <a:t> First (S</a:t>
            </a:r>
            <a:r>
              <a:rPr lang="en-US" altLang="zh-CN" dirty="0"/>
              <a:t>R</a:t>
            </a:r>
            <a:r>
              <a:rPr lang="en-US" altLang="ko-KR" dirty="0"/>
              <a:t>TF)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known</a:t>
            </a:r>
            <a:r>
              <a:rPr lang="zh-CN" altLang="en-US" dirty="0"/>
              <a:t> </a:t>
            </a:r>
            <a:r>
              <a:rPr lang="en-US" altLang="zh-CN" dirty="0"/>
              <a:t>as:</a:t>
            </a:r>
            <a:r>
              <a:rPr lang="zh-CN" altLang="en-US" dirty="0"/>
              <a:t> </a:t>
            </a:r>
            <a:r>
              <a:rPr lang="en-HK" dirty="0"/>
              <a:t>Shortest Time-to-Completion First </a:t>
            </a:r>
            <a:endParaRPr lang="en-US" altLang="ko-KR" dirty="0"/>
          </a:p>
          <a:p>
            <a:r>
              <a:rPr lang="en-US" altLang="ko-KR" dirty="0"/>
              <a:t>Add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preemption</a:t>
            </a:r>
            <a:r>
              <a:rPr lang="en-US" altLang="ko-KR" dirty="0"/>
              <a:t> to SJF</a:t>
            </a:r>
          </a:p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ko-KR" dirty="0"/>
              <a:t> new job enters the system:</a:t>
            </a:r>
          </a:p>
          <a:p>
            <a:pPr lvl="1"/>
            <a:r>
              <a:rPr lang="en-US" altLang="ko-KR" dirty="0"/>
              <a:t>Determine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remaining</a:t>
            </a:r>
            <a:r>
              <a:rPr lang="zh-CN" altLang="en-US" dirty="0"/>
              <a:t> </a:t>
            </a:r>
            <a:r>
              <a:rPr lang="en-US" altLang="zh-CN" dirty="0"/>
              <a:t>times</a:t>
            </a:r>
            <a:r>
              <a:rPr lang="zh-CN" altLang="en-US" dirty="0"/>
              <a:t> </a:t>
            </a:r>
            <a:r>
              <a:rPr lang="en-US" altLang="ko-KR" dirty="0"/>
              <a:t>of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ko-KR" dirty="0"/>
              <a:t>job</a:t>
            </a:r>
            <a:r>
              <a:rPr lang="en-US" altLang="zh-CN" dirty="0"/>
              <a:t>s</a:t>
            </a:r>
            <a:endParaRPr lang="en-US" altLang="ko-KR" dirty="0"/>
          </a:p>
          <a:p>
            <a:pPr lvl="1"/>
            <a:r>
              <a:rPr lang="en-US" altLang="ko-KR" dirty="0"/>
              <a:t>Schedule the job which has the le</a:t>
            </a:r>
            <a:r>
              <a:rPr lang="en-US" altLang="zh-CN" dirty="0"/>
              <a:t>a</a:t>
            </a:r>
            <a:r>
              <a:rPr lang="en-US" altLang="ko-KR" dirty="0"/>
              <a:t>st time left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1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R</a:t>
            </a:r>
            <a:r>
              <a:rPr lang="en-US" altLang="zh-CN" dirty="0"/>
              <a:t>emaining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en-US" altLang="ko-KR" dirty="0"/>
              <a:t> First (S</a:t>
            </a:r>
            <a:r>
              <a:rPr lang="en-US" altLang="zh-CN" dirty="0"/>
              <a:t>R</a:t>
            </a:r>
            <a:r>
              <a:rPr lang="en-US" altLang="ko-KR" dirty="0"/>
              <a:t>TF)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arrives at t=0 and needs to run for 100 seconds.</a:t>
            </a:r>
          </a:p>
          <a:p>
            <a:pPr lvl="1"/>
            <a:r>
              <a:rPr lang="en-US" altLang="ko-KR" dirty="0"/>
              <a:t>B and C arrive at t=10 and each need</a:t>
            </a:r>
            <a:r>
              <a:rPr lang="en-US" altLang="zh-CN" dirty="0"/>
              <a:t>s</a:t>
            </a:r>
            <a:r>
              <a:rPr lang="en-US" altLang="ko-KR" dirty="0"/>
              <a:t> to run for 10 seconds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5157192"/>
            <a:ext cx="747871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7700" y="5264540"/>
                <a:ext cx="5865516" cy="570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𝑨𝒗𝒆𝒓𝒂𝒈𝒆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𝑱𝑪𝑻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𝟏𝟐𝟎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)+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𝟐𝟎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+(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US" altLang="ko-KR" sz="16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𝒔𝒆𝒄</m:t>
                      </m:r>
                    </m:oMath>
                  </m:oMathPara>
                </a14:m>
                <a:endParaRPr lang="ko-KR" altLang="en-US" sz="16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" y="5264540"/>
                <a:ext cx="5865516" cy="570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그룹 35"/>
          <p:cNvGrpSpPr/>
          <p:nvPr/>
        </p:nvGrpSpPr>
        <p:grpSpPr>
          <a:xfrm>
            <a:off x="1997015" y="2708920"/>
            <a:ext cx="4913149" cy="2092347"/>
            <a:chOff x="1997015" y="2708920"/>
            <a:chExt cx="4913149" cy="2092347"/>
          </a:xfrm>
        </p:grpSpPr>
        <p:grpSp>
          <p:nvGrpSpPr>
            <p:cNvPr id="9" name="그룹 8"/>
            <p:cNvGrpSpPr/>
            <p:nvPr/>
          </p:nvGrpSpPr>
          <p:grpSpPr>
            <a:xfrm>
              <a:off x="2246980" y="4069062"/>
              <a:ext cx="4663184" cy="732205"/>
              <a:chOff x="2246980" y="4797152"/>
              <a:chExt cx="4663184" cy="732205"/>
            </a:xfrm>
          </p:grpSpPr>
          <p:cxnSp>
            <p:nvCxnSpPr>
              <p:cNvPr id="18" name="직선 연결선 17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40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60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80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757052" y="5221580"/>
                <a:ext cx="1512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2339752" y="3316008"/>
              <a:ext cx="360000" cy="71845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699792" y="3315458"/>
              <a:ext cx="360000" cy="71900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9792" y="3315458"/>
              <a:ext cx="360000" cy="71900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9752" y="301630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99792" y="301630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59832" y="3022850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2723237" y="3032722"/>
              <a:ext cx="0" cy="2880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997015" y="2708920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[B,C arrive]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419792" y="3315459"/>
              <a:ext cx="3232820" cy="7190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16056" y="302039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64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 scheduling metric: Response time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time from </a:t>
            </a:r>
            <a:r>
              <a:rPr lang="en-US" altLang="ko-KR" b="1" dirty="0"/>
              <a:t>when the job arrives </a:t>
            </a:r>
            <a:r>
              <a:rPr lang="en-US" altLang="ko-KR" dirty="0"/>
              <a:t>to the </a:t>
            </a:r>
            <a:r>
              <a:rPr lang="en-US" altLang="ko-KR" b="1" dirty="0"/>
              <a:t>first time it is scheduled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S</a:t>
            </a:r>
            <a:r>
              <a:rPr lang="en-US" altLang="zh-CN" dirty="0"/>
              <a:t>R</a:t>
            </a:r>
            <a:r>
              <a:rPr lang="en-US" altLang="ko-KR" dirty="0"/>
              <a:t>TF and related disciplines are not particularly good for response time.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88186" y="1673339"/>
                <a:ext cx="3739998" cy="429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𝒓𝒆𝒔𝒑𝒐𝒏𝒔𝒆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𝒇𝒊𝒓𝒔𝒕𝒓𝒖𝒏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1F497D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rgbClr val="1F497D"/>
                              </a:solidFill>
                              <a:latin typeface="Cambria Math"/>
                            </a:rPr>
                            <m:t>𝒂𝒓𝒓𝒊𝒗𝒂𝒍</m:t>
                          </m:r>
                        </m:sub>
                      </m:sSub>
                    </m:oMath>
                  </m:oMathPara>
                </a14:m>
                <a:endParaRPr lang="ko-KR" altLang="en-US" sz="2000" b="1" dirty="0">
                  <a:solidFill>
                    <a:srgbClr val="1F497D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86" y="1673339"/>
                <a:ext cx="3739998" cy="429220"/>
              </a:xfrm>
              <a:prstGeom prst="rect">
                <a:avLst/>
              </a:prstGeom>
              <a:blipFill rotWithShape="1">
                <a:blip r:embed="rId2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모서리가 둥근 직사각형 6"/>
          <p:cNvSpPr/>
          <p:nvPr/>
        </p:nvSpPr>
        <p:spPr>
          <a:xfrm>
            <a:off x="2156065" y="1556792"/>
            <a:ext cx="4648183" cy="720080"/>
          </a:xfrm>
          <a:prstGeom prst="round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187624" y="3501008"/>
            <a:ext cx="6624736" cy="792088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can we build a scheduler that is 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sensitive to response time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353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Round Robin (RR)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 </a:t>
            </a:r>
            <a:r>
              <a:rPr lang="en-US" altLang="zh-CN" dirty="0"/>
              <a:t>slice:</a:t>
            </a:r>
            <a:endParaRPr lang="en-US" altLang="ko-KR" dirty="0"/>
          </a:p>
          <a:p>
            <a:pPr lvl="1"/>
            <a:r>
              <a:rPr lang="en-US" altLang="ko-KR" dirty="0"/>
              <a:t>Run a job for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time slice </a:t>
            </a:r>
            <a:r>
              <a:rPr lang="en-US" altLang="ko-KR" dirty="0"/>
              <a:t>and then switch to the next job in the </a:t>
            </a:r>
            <a:r>
              <a:rPr lang="en-US" altLang="ko-KR" b="1" dirty="0"/>
              <a:t>run queue</a:t>
            </a:r>
            <a:r>
              <a:rPr lang="en-US" altLang="ko-KR" dirty="0"/>
              <a:t> until </a:t>
            </a:r>
            <a:r>
              <a:rPr lang="en-US" altLang="zh-CN" dirty="0"/>
              <a:t>all</a:t>
            </a:r>
            <a:r>
              <a:rPr lang="en-US" altLang="ko-KR" dirty="0"/>
              <a:t> jobs are finished.</a:t>
            </a:r>
          </a:p>
          <a:p>
            <a:pPr lvl="2"/>
            <a:r>
              <a:rPr lang="en-US" altLang="ko-KR" dirty="0"/>
              <a:t>Time slice is sometimes also called a </a:t>
            </a:r>
            <a:r>
              <a:rPr lang="en-US" altLang="ko-KR" u="sng" dirty="0"/>
              <a:t>scheduling quantum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 length of a time slice must be</a:t>
            </a:r>
            <a:r>
              <a:rPr lang="en-US" altLang="ko-KR" i="1" dirty="0"/>
              <a:t> a multiple of</a:t>
            </a:r>
            <a:r>
              <a:rPr lang="en-US" altLang="ko-KR" dirty="0"/>
              <a:t>  the timer-interrupt period.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4221088"/>
            <a:ext cx="7056784" cy="864096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RR is fair, but performs poorly on metrics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such as </a:t>
            </a:r>
            <a:r>
              <a:rPr lang="en-US" altLang="zh-CN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JCT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New Article on Geodesy and Quantum Mechanics |">
            <a:extLst>
              <a:ext uri="{FF2B5EF4-FFF2-40B4-BE49-F238E27FC236}">
                <a16:creationId xmlns:a16="http://schemas.microsoft.com/office/drawing/2014/main" id="{A1E81F36-18FE-CDFF-8B49-E5DDA52C3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844824"/>
            <a:ext cx="1368152" cy="141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17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RR Scheduling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A, B and C arrive at the same time.</a:t>
            </a:r>
          </a:p>
          <a:p>
            <a:r>
              <a:rPr lang="en-US" altLang="ko-KR" dirty="0"/>
              <a:t>They each wish</a:t>
            </a:r>
            <a:r>
              <a:rPr lang="en-US" altLang="zh-CN" dirty="0"/>
              <a:t>es</a:t>
            </a:r>
            <a:r>
              <a:rPr lang="en-US" altLang="ko-KR" dirty="0"/>
              <a:t> to run for 5 seconds.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888740" y="2060848"/>
            <a:ext cx="4663184" cy="1963961"/>
            <a:chOff x="2246980" y="2420888"/>
            <a:chExt cx="4663184" cy="1963961"/>
          </a:xfrm>
        </p:grpSpPr>
        <p:grpSp>
          <p:nvGrpSpPr>
            <p:cNvPr id="7" name="그룹 6"/>
            <p:cNvGrpSpPr/>
            <p:nvPr/>
          </p:nvGrpSpPr>
          <p:grpSpPr>
            <a:xfrm>
              <a:off x="2246980" y="3492693"/>
              <a:ext cx="4663184" cy="573346"/>
              <a:chOff x="2246980" y="4797152"/>
              <a:chExt cx="4663184" cy="573346"/>
            </a:xfrm>
          </p:grpSpPr>
          <p:cxnSp>
            <p:nvCxnSpPr>
              <p:cNvPr id="14" name="직선 연결선 13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30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757052" y="5093499"/>
                <a:ext cx="1512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2339278" y="2728665"/>
              <a:ext cx="720000" cy="72662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059872" y="2735288"/>
              <a:ext cx="720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779912" y="2728665"/>
              <a:ext cx="720000" cy="726623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55302" y="242088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7321" y="242088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52503" y="2427431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579772" y="4077072"/>
              <a:ext cx="379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SJF (Bad for Response Time)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745664" y="4379267"/>
            <a:ext cx="4906456" cy="1963961"/>
            <a:chOff x="2041808" y="4293096"/>
            <a:chExt cx="4906456" cy="1963961"/>
          </a:xfrm>
        </p:grpSpPr>
        <p:grpSp>
          <p:nvGrpSpPr>
            <p:cNvPr id="33" name="그룹 32"/>
            <p:cNvGrpSpPr/>
            <p:nvPr/>
          </p:nvGrpSpPr>
          <p:grpSpPr>
            <a:xfrm>
              <a:off x="2213072" y="5364901"/>
              <a:ext cx="4663184" cy="573346"/>
              <a:chOff x="2246980" y="4797152"/>
              <a:chExt cx="4663184" cy="573346"/>
            </a:xfrm>
          </p:grpSpPr>
          <p:cxnSp>
            <p:nvCxnSpPr>
              <p:cNvPr id="41" name="직선 연결선 40"/>
              <p:cNvCxnSpPr/>
              <p:nvPr/>
            </p:nvCxnSpPr>
            <p:spPr>
              <a:xfrm>
                <a:off x="2339752" y="4797152"/>
                <a:ext cx="4320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>
                <a:off x="2346898" y="4800733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246980" y="4857333"/>
                <a:ext cx="216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4" name="직선 연결선 43"/>
              <p:cNvCxnSpPr/>
              <p:nvPr/>
            </p:nvCxnSpPr>
            <p:spPr>
              <a:xfrm>
                <a:off x="305983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284380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6" name="직선 연결선 45"/>
              <p:cNvCxnSpPr/>
              <p:nvPr/>
            </p:nvCxnSpPr>
            <p:spPr>
              <a:xfrm>
                <a:off x="37799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56388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48" name="직선 연결선 47"/>
              <p:cNvCxnSpPr/>
              <p:nvPr/>
            </p:nvCxnSpPr>
            <p:spPr>
              <a:xfrm>
                <a:off x="449999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28396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15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0" name="직선 연결선 49"/>
              <p:cNvCxnSpPr/>
              <p:nvPr/>
            </p:nvCxnSpPr>
            <p:spPr>
              <a:xfrm>
                <a:off x="522007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5004048" y="4853752"/>
                <a:ext cx="4320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2" name="직선 연결선 51"/>
              <p:cNvCxnSpPr/>
              <p:nvPr/>
            </p:nvCxnSpPr>
            <p:spPr>
              <a:xfrm>
                <a:off x="594015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569364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25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6652612" y="4797152"/>
                <a:ext cx="0" cy="9892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6406108" y="4853752"/>
                <a:ext cx="504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30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757052" y="5093499"/>
                <a:ext cx="1512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Time (Second)</a:t>
                </a:r>
                <a:endPara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2195736" y="4293096"/>
              <a:ext cx="667082" cy="1034400"/>
              <a:chOff x="2195736" y="4293096"/>
              <a:chExt cx="667082" cy="1034400"/>
            </a:xfrm>
          </p:grpSpPr>
          <p:sp>
            <p:nvSpPr>
              <p:cNvPr id="34" name="직사각형 33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2041808" y="5949280"/>
              <a:ext cx="49064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RR with a time-slice of 1sec (Good for Response Time)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60" name="그룹 59"/>
            <p:cNvGrpSpPr/>
            <p:nvPr/>
          </p:nvGrpSpPr>
          <p:grpSpPr>
            <a:xfrm>
              <a:off x="2627784" y="4293096"/>
              <a:ext cx="667082" cy="1034400"/>
              <a:chOff x="2195736" y="4293096"/>
              <a:chExt cx="667082" cy="1034400"/>
            </a:xfrm>
          </p:grpSpPr>
          <p:sp>
            <p:nvSpPr>
              <p:cNvPr id="61" name="직사각형 60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3059832" y="4293096"/>
              <a:ext cx="667082" cy="1034400"/>
              <a:chOff x="2195736" y="4293096"/>
              <a:chExt cx="667082" cy="1034400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3491880" y="4293096"/>
              <a:ext cx="667082" cy="1034400"/>
              <a:chOff x="2195736" y="4293096"/>
              <a:chExt cx="667082" cy="1034400"/>
            </a:xfrm>
          </p:grpSpPr>
          <p:sp>
            <p:nvSpPr>
              <p:cNvPr id="75" name="직사각형 74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6" name="직사각형 75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3923928" y="4293096"/>
              <a:ext cx="667082" cy="1034400"/>
              <a:chOff x="2195736" y="4293096"/>
              <a:chExt cx="667082" cy="1034400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2305370" y="4609043"/>
                <a:ext cx="144000" cy="7184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2455193" y="4607496"/>
                <a:ext cx="144000" cy="720000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2599225" y="4609043"/>
                <a:ext cx="144000" cy="718453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252000" rtlCol="0" anchor="ctr"/>
              <a:lstStyle/>
              <a:p>
                <a:pPr algn="ctr"/>
                <a:endParaRPr lang="ko-KR" altLang="en-US" sz="1600" dirty="0">
                  <a:solidFill>
                    <a:srgbClr val="00B05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195736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A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349277" y="4293096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B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2502818" y="4299639"/>
                <a:ext cx="360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C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393318" y="2420888"/>
                <a:ext cx="3571170" cy="559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𝑎𝑣𝑒𝑟𝑎𝑔𝑒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ko-KR" sz="1600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0+5+10</m:t>
                          </m:r>
                        </m:num>
                        <m:den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=5</m:t>
                      </m:r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𝑠𝑒𝑐</m:t>
                      </m:r>
                    </m:oMath>
                  </m:oMathPara>
                </a14:m>
                <a:endParaRPr lang="ko-KR" alt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318" y="2420888"/>
                <a:ext cx="3571170" cy="55996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507131" y="4780156"/>
                <a:ext cx="3457357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𝑎𝑣𝑒𝑟𝑎𝑔𝑒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ko-KR" sz="1600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0+1+2</m:t>
                          </m:r>
                        </m:num>
                        <m:den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ko-KR" sz="1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𝑠𝑒𝑐</m:t>
                      </m:r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131" y="4780156"/>
                <a:ext cx="3457357" cy="5549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3394B24-1631-E467-8F5C-A1BAD09E2E05}"/>
              </a:ext>
            </a:extLst>
          </p:cNvPr>
          <p:cNvSpPr txBox="1"/>
          <p:nvPr/>
        </p:nvSpPr>
        <p:spPr>
          <a:xfrm>
            <a:off x="5940152" y="371703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What</a:t>
            </a:r>
            <a:r>
              <a:rPr lang="zh-CN" altLang="en-US" b="1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about</a:t>
            </a:r>
            <a:r>
              <a:rPr lang="zh-CN" altLang="en-US" b="1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JCT?</a:t>
            </a:r>
            <a:endParaRPr lang="en-US" b="1" dirty="0">
              <a:solidFill>
                <a:srgbClr val="00B0F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90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Length</a:t>
            </a:r>
            <a:r>
              <a:rPr lang="zh-CN" altLang="en-US" dirty="0"/>
              <a:t> </a:t>
            </a:r>
            <a:r>
              <a:rPr lang="en-US" altLang="ko-KR" dirty="0"/>
              <a:t>of the time slice is critical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shorter time slice</a:t>
            </a:r>
          </a:p>
          <a:p>
            <a:pPr lvl="1"/>
            <a:r>
              <a:rPr lang="en-US" altLang="ko-KR" dirty="0"/>
              <a:t>Better response time</a:t>
            </a:r>
          </a:p>
          <a:p>
            <a:pPr lvl="1"/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altLang="ko-KR" dirty="0"/>
              <a:t>he cost of context switching will dominate overall performance.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longer time slice</a:t>
            </a:r>
          </a:p>
          <a:p>
            <a:pPr lvl="1"/>
            <a:r>
              <a:rPr lang="en-US" altLang="ko-KR" dirty="0"/>
              <a:t>Amortize the cost of switching</a:t>
            </a:r>
          </a:p>
          <a:p>
            <a:pPr lvl="1"/>
            <a:r>
              <a:rPr lang="en-US" altLang="ko-KR" dirty="0"/>
              <a:t>Worse response time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65692" y="4797152"/>
            <a:ext cx="7478716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ength of the time slice presents</a:t>
            </a:r>
            <a:r>
              <a:rPr lang="zh-CN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HK" altLang="zh-CN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trade-off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 system design</a:t>
            </a:r>
          </a:p>
        </p:txBody>
      </p:sp>
      <p:pic>
        <p:nvPicPr>
          <p:cNvPr id="1026" name="Picture 2" descr="Making trade-offs in corporate portfolio decisions | McKinsey">
            <a:extLst>
              <a:ext uri="{FF2B5EF4-FFF2-40B4-BE49-F238E27FC236}">
                <a16:creationId xmlns:a16="http://schemas.microsoft.com/office/drawing/2014/main" id="{9193BEE5-D504-C5B9-89B2-C8E7DCE71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742952"/>
            <a:ext cx="1748160" cy="174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65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relax assumption 3: All programs perform I/O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and B need 50ms of CPU time each.</a:t>
            </a:r>
          </a:p>
          <a:p>
            <a:pPr lvl="1"/>
            <a:r>
              <a:rPr lang="en-US" altLang="ko-KR" dirty="0"/>
              <a:t>A runs for 10ms and then issues an I/O request</a:t>
            </a:r>
          </a:p>
          <a:p>
            <a:pPr lvl="2"/>
            <a:r>
              <a:rPr lang="en-US" altLang="ko-KR" dirty="0"/>
              <a:t>I/</a:t>
            </a:r>
            <a:r>
              <a:rPr lang="en-US" altLang="ko-KR" dirty="0" err="1"/>
              <a:t>Os</a:t>
            </a:r>
            <a:r>
              <a:rPr lang="en-US" altLang="ko-KR" dirty="0"/>
              <a:t> take</a:t>
            </a:r>
            <a:r>
              <a:rPr lang="en-US" altLang="zh-CN" dirty="0"/>
              <a:t>s</a:t>
            </a:r>
            <a:r>
              <a:rPr lang="en-US" altLang="ko-KR" dirty="0"/>
              <a:t> 10ms</a:t>
            </a:r>
            <a:r>
              <a:rPr lang="zh-CN" altLang="en-US" dirty="0"/>
              <a:t> </a:t>
            </a:r>
            <a:r>
              <a:rPr lang="en-US" altLang="ko-KR" dirty="0"/>
              <a:t>each</a:t>
            </a:r>
          </a:p>
          <a:p>
            <a:pPr lvl="1"/>
            <a:r>
              <a:rPr lang="en-US" altLang="ko-KR" dirty="0"/>
              <a:t>B simply uses the CPU for 50ms and performs no I/O</a:t>
            </a:r>
          </a:p>
          <a:p>
            <a:pPr lvl="1"/>
            <a:r>
              <a:rPr lang="en-US" altLang="ko-KR" dirty="0"/>
              <a:t>The scheduler runs A first, then B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2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1907704" y="908720"/>
            <a:ext cx="5383264" cy="2468017"/>
            <a:chOff x="2213072" y="1511323"/>
            <a:chExt cx="5383264" cy="2468017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305844" y="3071678"/>
              <a:ext cx="503286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312990" y="3075259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213072" y="3131859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2592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0990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4600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2998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446608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25006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518616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970140" y="3128278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590624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659740" y="3128278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618704" y="3071678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372200" y="3128278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39952" y="3383531"/>
              <a:ext cx="1512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Time (</a:t>
              </a:r>
              <a:r>
                <a:rPr lang="en-US" altLang="ko-KR" sz="1200" b="1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msec</a:t>
              </a:r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665924" y="2468513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513055" y="1879200"/>
              <a:ext cx="1800000" cy="54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11217" y="1513359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0814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39812" y="3671563"/>
              <a:ext cx="379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Poor Use of Resources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7338784" y="3068960"/>
              <a:ext cx="0" cy="9892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7092280" y="312556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305844" y="1871363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63144" y="246647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36630" y="1511323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31257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106084" y="2466477"/>
              <a:ext cx="35619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32327" y="152084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746004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820364" y="2473846"/>
              <a:ext cx="3658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67265" y="152821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4462274" y="1869327"/>
              <a:ext cx="360000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53055" y="1539778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186163" y="1880888"/>
              <a:ext cx="326891" cy="54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86818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2822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58822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48264" y="1537047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93" name="직선 연결선 92"/>
          <p:cNvCxnSpPr/>
          <p:nvPr/>
        </p:nvCxnSpPr>
        <p:spPr>
          <a:xfrm>
            <a:off x="2000476" y="5329650"/>
            <a:ext cx="5032860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2007622" y="5333231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907704" y="5389831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6" name="직선 연결선 95"/>
          <p:cNvCxnSpPr/>
          <p:nvPr/>
        </p:nvCxnSpPr>
        <p:spPr>
          <a:xfrm>
            <a:off x="272055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0453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344063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22461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416071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94469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488079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664772" y="5386250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560087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354372" y="538625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6" name="직선 연결선 105"/>
          <p:cNvCxnSpPr/>
          <p:nvPr/>
        </p:nvCxnSpPr>
        <p:spPr>
          <a:xfrm>
            <a:off x="6313336" y="5329650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066832" y="538625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834584" y="5641503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 (</a:t>
            </a:r>
            <a:r>
              <a:rPr lang="en-US" altLang="ko-KR" sz="12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2360556" y="4726485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371262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005849" y="3771331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368327" y="377596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34444" y="5929535"/>
            <a:ext cx="3792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Overlap Allows Better Use of Resources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4" name="직선 연결선 113"/>
          <p:cNvCxnSpPr/>
          <p:nvPr/>
        </p:nvCxnSpPr>
        <p:spPr>
          <a:xfrm>
            <a:off x="7033416" y="5326932"/>
            <a:ext cx="0" cy="989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786912" y="5383532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140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2000476" y="4127299"/>
            <a:ext cx="360000" cy="54203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3057776" y="472444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3126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2725889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800716" y="4724449"/>
            <a:ext cx="35619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426959" y="377882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440636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4514996" y="4731818"/>
            <a:ext cx="3658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161897" y="378618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56906" y="4127299"/>
            <a:ext cx="360000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847687" y="3759770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880795" y="4127300"/>
            <a:ext cx="326891" cy="54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069357" y="3775969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3779912" y="3785494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3085889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800636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514996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207687" y="4127299"/>
            <a:ext cx="360000" cy="5400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50003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220112" y="3769295"/>
            <a:ext cx="3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6084168" y="4293096"/>
            <a:ext cx="2880320" cy="759893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Maximize the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3355088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Incorporating I/O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 job initiates an I/O request</a:t>
            </a:r>
          </a:p>
          <a:p>
            <a:pPr lvl="1"/>
            <a:r>
              <a:rPr lang="en-US" altLang="ko-KR" dirty="0"/>
              <a:t>The job is blocked waiting for I/O completion.</a:t>
            </a:r>
          </a:p>
          <a:p>
            <a:pPr lvl="1"/>
            <a:r>
              <a:rPr lang="en-US" altLang="ko-KR" dirty="0"/>
              <a:t>The scheduler should schedule job</a:t>
            </a:r>
            <a:r>
              <a:rPr lang="en-US" altLang="zh-CN" dirty="0"/>
              <a:t>s</a:t>
            </a:r>
            <a:r>
              <a:rPr lang="en-US" altLang="ko-KR" dirty="0"/>
              <a:t> on the CPU.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When the I/O completes</a:t>
            </a:r>
          </a:p>
          <a:p>
            <a:pPr lvl="1"/>
            <a:r>
              <a:rPr lang="en-US" altLang="ko-KR" dirty="0"/>
              <a:t>An interrupt is raised.</a:t>
            </a:r>
          </a:p>
          <a:p>
            <a:pPr lvl="1"/>
            <a:r>
              <a:rPr lang="en-US" altLang="ko-KR" dirty="0"/>
              <a:t>The OS moves the process from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wait</a:t>
            </a:r>
            <a:r>
              <a:rPr lang="zh-CN" altLang="en-US" dirty="0"/>
              <a:t> </a:t>
            </a:r>
            <a:r>
              <a:rPr lang="en-US" altLang="ko-KR" dirty="0"/>
              <a:t>to the ready state.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11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B794FE-3572-95E6-DBC1-ADA2C439F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Multi-Level</a:t>
            </a:r>
            <a:r>
              <a:rPr lang="zh-CN" altLang="en-US" dirty="0"/>
              <a:t> </a:t>
            </a:r>
            <a:r>
              <a:rPr lang="en-US" altLang="zh-CN" dirty="0"/>
              <a:t>Feedback</a:t>
            </a:r>
            <a:r>
              <a:rPr lang="zh-CN" altLang="en-US" dirty="0"/>
              <a:t> </a:t>
            </a:r>
            <a:r>
              <a:rPr lang="en-US" altLang="zh-CN" dirty="0"/>
              <a:t>Queue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C8600-CA63-37B6-E3F4-A898BA9AA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99BEC-B256-C601-1CBE-8A01AD4DD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53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reality,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for!</a:t>
            </a:r>
          </a:p>
          <a:p>
            <a:pPr lvl="1"/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you’ll</a:t>
            </a:r>
            <a:r>
              <a:rPr lang="zh-CN" altLang="en-US" dirty="0"/>
              <a:t> </a:t>
            </a:r>
            <a:r>
              <a:rPr lang="en-US" altLang="zh-CN" dirty="0"/>
              <a:t>play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game…</a:t>
            </a:r>
            <a:endParaRPr lang="en-US" altLang="ko-KR" dirty="0"/>
          </a:p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schedule</a:t>
            </a:r>
            <a:r>
              <a:rPr lang="zh-CN" altLang="en-US" dirty="0"/>
              <a:t> </a:t>
            </a:r>
            <a:r>
              <a:rPr lang="en-US" altLang="zh-CN" dirty="0"/>
              <a:t>jobs</a:t>
            </a:r>
            <a:r>
              <a:rPr lang="zh-CN" altLang="en-US" dirty="0"/>
              <a:t> </a:t>
            </a:r>
            <a:r>
              <a:rPr lang="en-US" altLang="zh-CN" dirty="0"/>
              <a:t>well!</a:t>
            </a:r>
          </a:p>
          <a:p>
            <a:pPr latinLnBrk="0"/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possible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good</a:t>
            </a:r>
            <a:r>
              <a:rPr lang="zh-CN" altLang="en-US" dirty="0"/>
              <a:t> </a:t>
            </a:r>
            <a:r>
              <a:rPr lang="en-US" altLang="zh-CN" dirty="0"/>
              <a:t>scheduler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job’s</a:t>
            </a:r>
            <a:r>
              <a:rPr lang="zh-CN" altLang="en-US" dirty="0"/>
              <a:t> </a:t>
            </a:r>
            <a:r>
              <a:rPr lang="en-US" altLang="zh-CN" dirty="0"/>
              <a:t>running</a:t>
            </a:r>
            <a:r>
              <a:rPr lang="zh-CN" altLang="en-US" dirty="0"/>
              <a:t> </a:t>
            </a:r>
            <a:r>
              <a:rPr lang="en-US" altLang="zh-CN" dirty="0"/>
              <a:t>time?</a:t>
            </a:r>
            <a:endParaRPr lang="en-US" altLang="ko-KR" dirty="0"/>
          </a:p>
          <a:p>
            <a:pPr lvl="1"/>
            <a:r>
              <a:rPr lang="en-US" altLang="ko-KR" dirty="0"/>
              <a:t>Optimize </a:t>
            </a:r>
            <a:r>
              <a:rPr lang="en-US" altLang="zh-CN" b="1" dirty="0"/>
              <a:t>JCT</a:t>
            </a:r>
            <a:r>
              <a:rPr lang="en-US" altLang="ko-KR" b="1" dirty="0"/>
              <a:t> </a:t>
            </a:r>
            <a:r>
              <a:rPr lang="en-US" altLang="ko-KR" dirty="0">
                <a:sym typeface="Wingdings" pitchFamily="2" charset="2"/>
              </a:rPr>
              <a:t> Run shorter jobs first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Also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ko-KR" b="1" dirty="0">
                <a:sym typeface="Wingdings" pitchFamily="2" charset="2"/>
              </a:rPr>
              <a:t>response time</a:t>
            </a:r>
          </a:p>
          <a:p>
            <a:pPr lvl="1"/>
            <a:r>
              <a:rPr lang="en-US" altLang="zh-CN" b="1" dirty="0">
                <a:sym typeface="Wingdings" pitchFamily="2" charset="2"/>
              </a:rPr>
              <a:t>“huh?”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2050" name="Picture 2" descr="Mission: Impossible (1996) - IMDb">
            <a:extLst>
              <a:ext uri="{FF2B5EF4-FFF2-40B4-BE49-F238E27FC236}">
                <a16:creationId xmlns:a16="http://schemas.microsoft.com/office/drawing/2014/main" id="{AB4C7381-05BD-9495-9780-2C08B906D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586" y="3140968"/>
            <a:ext cx="2139371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17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idea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Upon</a:t>
            </a:r>
            <a:r>
              <a:rPr lang="zh-CN" altLang="en-US" dirty="0"/>
              <a:t> </a:t>
            </a:r>
            <a:r>
              <a:rPr lang="en-US" altLang="zh-CN" dirty="0"/>
              <a:t>arrival,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assumed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short,</a:t>
            </a:r>
            <a:r>
              <a:rPr lang="zh-CN" altLang="en-US" dirty="0"/>
              <a:t> </a:t>
            </a:r>
            <a:r>
              <a:rPr lang="en-US" altLang="zh-CN" dirty="0"/>
              <a:t>latency-sensitive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endParaRPr lang="en-US" altLang="ko-KR" dirty="0"/>
          </a:p>
          <a:p>
            <a:pPr lvl="1"/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scheduled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away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highest</a:t>
            </a:r>
            <a:r>
              <a:rPr lang="zh-CN" altLang="en-US" dirty="0"/>
              <a:t> </a:t>
            </a:r>
            <a:r>
              <a:rPr lang="en-US" altLang="ko-KR" dirty="0"/>
              <a:t>priority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response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r>
              <a:rPr lang="zh-CN" altLang="en-US" dirty="0"/>
              <a:t> </a:t>
            </a:r>
            <a:r>
              <a:rPr lang="en-US" altLang="zh-CN" dirty="0"/>
              <a:t>keeps</a:t>
            </a:r>
            <a:r>
              <a:rPr lang="zh-CN" altLang="en-US" dirty="0"/>
              <a:t> </a:t>
            </a:r>
            <a:r>
              <a:rPr lang="en-US" altLang="zh-CN" dirty="0"/>
              <a:t>running</a:t>
            </a:r>
            <a:endParaRPr lang="en-US" altLang="ko-KR" dirty="0"/>
          </a:p>
          <a:p>
            <a:pPr lvl="1"/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obvious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r>
              <a:rPr lang="zh-CN" altLang="en-US" dirty="0"/>
              <a:t> </a:t>
            </a:r>
            <a:r>
              <a:rPr lang="en-US" altLang="zh-CN" dirty="0"/>
              <a:t>anymore,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likely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 err="1"/>
              <a:t>loong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 err="1"/>
              <a:t>looong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endParaRPr lang="en-US" altLang="ko-KR" dirty="0"/>
          </a:p>
          <a:p>
            <a:pPr lvl="1" latinLnBrk="0"/>
            <a:r>
              <a:rPr lang="en-US" altLang="zh-CN" dirty="0"/>
              <a:t>Decrease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priority</a:t>
            </a:r>
            <a:r>
              <a:rPr lang="zh-CN" altLang="en-US" dirty="0"/>
              <a:t> </a:t>
            </a:r>
            <a:r>
              <a:rPr lang="en-US" altLang="zh-CN" dirty="0"/>
              <a:t>level,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(shorter)</a:t>
            </a:r>
            <a:r>
              <a:rPr lang="zh-CN" altLang="en-US" dirty="0"/>
              <a:t> </a:t>
            </a:r>
            <a:r>
              <a:rPr lang="en-US" altLang="zh-CN" dirty="0"/>
              <a:t>jobs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JCT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691680" y="5085184"/>
            <a:ext cx="6192688" cy="936104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7645" y="5230071"/>
            <a:ext cx="602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We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can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be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wrong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at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beginning,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but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that’s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HK" altLang="zh-CN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necessary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small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price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to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pay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for</a:t>
            </a:r>
            <a:r>
              <a:rPr lang="zh-CN" altLang="en-US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practicality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60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Basic Rules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has a number of </a:t>
            </a:r>
            <a:r>
              <a:rPr lang="en-US" altLang="ko-KR" b="1" dirty="0"/>
              <a:t>queues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Each queues is assigned a different priority level.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 job that is ready to run is on </a:t>
            </a:r>
            <a:r>
              <a:rPr lang="en-US" altLang="zh-CN" dirty="0"/>
              <a:t>exactly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ko-KR" dirty="0"/>
              <a:t>queue.</a:t>
            </a:r>
          </a:p>
          <a:p>
            <a:pPr lvl="1"/>
            <a:r>
              <a:rPr lang="en-US" altLang="ko-KR" dirty="0"/>
              <a:t>A job </a:t>
            </a:r>
            <a:r>
              <a:rPr lang="en-US" altLang="ko-KR" b="1" dirty="0"/>
              <a:t>on a higher queue </a:t>
            </a:r>
            <a:r>
              <a:rPr lang="en-US" altLang="ko-KR" dirty="0"/>
              <a:t>is chosen to run.</a:t>
            </a:r>
          </a:p>
          <a:p>
            <a:pPr lvl="1"/>
            <a:r>
              <a:rPr lang="en-US" altLang="ko-KR" dirty="0"/>
              <a:t>Use round-robin scheduling among jobs in the same queue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403648" y="4437112"/>
            <a:ext cx="6192688" cy="936104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1519" y="4582869"/>
            <a:ext cx="564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Rule 1: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Priority(A) &gt; Priority(B), A runs (B doesn’t).</a:t>
            </a:r>
          </a:p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Rule 2: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Priority(A) = Priority(B), A &amp; B run in RR.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691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Basic Rules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varies the priority of a job based 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its observed behavior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job repeatedly relinquishes the CPU while waiting IOs </a:t>
            </a:r>
            <a:r>
              <a:rPr lang="en-US" altLang="ko-KR" dirty="0">
                <a:sym typeface="Wingdings" pitchFamily="2" charset="2"/>
              </a:rPr>
              <a:t> Keep its priority high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A job uses the CPU intensively for long periods of time  Reduce its priority.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586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 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28678" y="1124744"/>
            <a:ext cx="504056" cy="443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Q8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Q7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Q6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Q5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Q4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Q3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Q2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4007" y="1096169"/>
            <a:ext cx="1692188" cy="558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[High Priority]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6490" y="4959066"/>
            <a:ext cx="169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[Low Priority]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332734" y="1513359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5052814" y="129247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5580112" y="1513829"/>
            <a:ext cx="504056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6156176" y="129294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332734" y="3712169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5052814" y="349128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332734" y="5368353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5052814" y="5147465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04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How to Change Priority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priority adjustment:</a:t>
            </a:r>
          </a:p>
          <a:p>
            <a:pPr lvl="1"/>
            <a:r>
              <a:rPr lang="en-US" altLang="ko-KR" b="1" dirty="0"/>
              <a:t>Rule 3</a:t>
            </a:r>
            <a:r>
              <a:rPr lang="en-US" altLang="ko-KR" dirty="0"/>
              <a:t>: When a job enters the system, it is placed at the highest priority</a:t>
            </a:r>
          </a:p>
          <a:p>
            <a:pPr lvl="1"/>
            <a:r>
              <a:rPr lang="en-US" altLang="ko-KR" b="1" dirty="0"/>
              <a:t>Rule 4a</a:t>
            </a:r>
            <a:r>
              <a:rPr lang="en-US" altLang="ko-KR" dirty="0"/>
              <a:t>: If a job uses up an entire time slice while running, its priority is reduced (i.e., it moves down on queue).</a:t>
            </a:r>
          </a:p>
          <a:p>
            <a:pPr lvl="1"/>
            <a:r>
              <a:rPr lang="en-US" altLang="ko-KR" b="1" dirty="0"/>
              <a:t>Rule 4b</a:t>
            </a:r>
            <a:r>
              <a:rPr lang="en-US" altLang="ko-KR" dirty="0"/>
              <a:t>: If a job gives up the CPU before the time slice is up, it stays at the same priority level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4365104"/>
            <a:ext cx="6480720" cy="936104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 this manner, MLFQ approximates SJF</a:t>
            </a:r>
          </a:p>
        </p:txBody>
      </p:sp>
    </p:spTree>
    <p:extLst>
      <p:ext uri="{BB962C8B-B14F-4D97-AF65-F5344CB8AC3E}">
        <p14:creationId xmlns:p14="http://schemas.microsoft.com/office/powerpoint/2010/main" val="3542594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1: A Single Long-Running Job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three-queue scheduler with 10ms time slice</a:t>
            </a:r>
            <a:r>
              <a:rPr lang="en-US" altLang="zh-CN" dirty="0"/>
              <a:t>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2264112" y="1907620"/>
            <a:ext cx="4448447" cy="2440609"/>
            <a:chOff x="1419697" y="1772896"/>
            <a:chExt cx="4448447" cy="2440609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2051720" y="249289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046100" y="1772896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057340" y="321297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2231760" y="2493745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051720" y="393228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411760" y="3213056"/>
              <a:ext cx="324558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36279" y="393305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16389" y="393305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2262" y="393305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09791" y="393650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12844" y="393650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19697" y="194540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19697" y="263691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19697" y="33569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516414" y="4427820"/>
            <a:ext cx="4215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Long-running Job Over Time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7912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2: Along Came a Short Job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Assumption:</a:t>
            </a:r>
          </a:p>
          <a:p>
            <a:pPr lvl="1"/>
            <a:r>
              <a:rPr lang="en-US" altLang="ko-KR" b="1" dirty="0"/>
              <a:t>Job A</a:t>
            </a:r>
            <a:r>
              <a:rPr lang="en-US" altLang="ko-KR" dirty="0"/>
              <a:t>: A long-running CPU-intensive job</a:t>
            </a:r>
          </a:p>
          <a:p>
            <a:pPr lvl="1"/>
            <a:r>
              <a:rPr lang="en-US" altLang="ko-KR" b="1" dirty="0"/>
              <a:t>Job B</a:t>
            </a:r>
            <a:r>
              <a:rPr lang="en-US" altLang="ko-KR" dirty="0"/>
              <a:t>: A short-running interactive job (20ms runtime)</a:t>
            </a:r>
          </a:p>
          <a:p>
            <a:pPr lvl="1"/>
            <a:r>
              <a:rPr lang="en-US" altLang="ko-KR" dirty="0"/>
              <a:t>A has been running for some time, and then B arrives at time T=100.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16414" y="6021288"/>
            <a:ext cx="4215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Along Came An Interactive Job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538" y="2962121"/>
            <a:ext cx="3586653" cy="30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5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3: What About I/O?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Assumption:</a:t>
            </a:r>
          </a:p>
          <a:p>
            <a:pPr lvl="1"/>
            <a:r>
              <a:rPr lang="en-US" altLang="ko-KR" b="1" dirty="0"/>
              <a:t>Job A</a:t>
            </a:r>
            <a:r>
              <a:rPr lang="en-US" altLang="ko-KR" dirty="0"/>
              <a:t>: A long-running CPU-intensive job</a:t>
            </a:r>
          </a:p>
          <a:p>
            <a:pPr lvl="1"/>
            <a:r>
              <a:rPr lang="en-US" altLang="ko-KR" b="1" dirty="0"/>
              <a:t>Job B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An interactive job </a:t>
            </a:r>
            <a:r>
              <a:rPr lang="en-US" altLang="ko-KR" dirty="0"/>
              <a:t>that need</a:t>
            </a:r>
            <a:r>
              <a:rPr lang="en-US" altLang="zh-CN" dirty="0"/>
              <a:t>s</a:t>
            </a:r>
            <a:r>
              <a:rPr lang="en-US" altLang="ko-KR" dirty="0"/>
              <a:t> CPU only for 1ms before performing an I/O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47664" y="5229200"/>
            <a:ext cx="655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Mixed I/O-intensive and CPU-intensive Workload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264112" y="2780928"/>
            <a:ext cx="5152184" cy="2443979"/>
            <a:chOff x="2264112" y="3497638"/>
            <a:chExt cx="5152184" cy="2443979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2896135" y="422100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896766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901755" y="494108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2896135" y="5660399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978299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80694" y="5661170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60804" y="5661169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46677" y="566116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4206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57259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64112" y="3673519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64112" y="436502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64112" y="508510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236296" y="4302308"/>
              <a:ext cx="180000" cy="432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236296" y="3654236"/>
              <a:ext cx="180000" cy="432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56" y="43166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04248" y="3663713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158339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239872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419872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01405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662395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743928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923928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05461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185501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67034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454483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536016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716016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797549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987114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68647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5246571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328104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508104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5589637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779202" y="349763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860735" y="493779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6038659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6120192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6254683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6372200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77" name="모서리가 둥근 직사각형 76"/>
          <p:cNvSpPr/>
          <p:nvPr/>
        </p:nvSpPr>
        <p:spPr>
          <a:xfrm>
            <a:off x="899592" y="5733256"/>
            <a:ext cx="7632848" cy="638780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MLFQ approach keeps an interactive job at the highest priority</a:t>
            </a:r>
          </a:p>
        </p:txBody>
      </p:sp>
    </p:spTree>
    <p:extLst>
      <p:ext uri="{BB962C8B-B14F-4D97-AF65-F5344CB8AC3E}">
        <p14:creationId xmlns:p14="http://schemas.microsoft.com/office/powerpoint/2010/main" val="247929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Problems with the Basic MLFQ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Starvation</a:t>
            </a:r>
          </a:p>
          <a:p>
            <a:pPr lvl="1"/>
            <a:r>
              <a:rPr lang="en-US" altLang="ko-KR" dirty="0"/>
              <a:t>If there are </a:t>
            </a:r>
            <a:r>
              <a:rPr lang="en-US" altLang="zh-CN" dirty="0"/>
              <a:t>“</a:t>
            </a:r>
            <a:r>
              <a:rPr lang="en-US" altLang="ko-KR" dirty="0"/>
              <a:t>too many” interactive jobs in the system.</a:t>
            </a:r>
          </a:p>
          <a:p>
            <a:pPr lvl="1"/>
            <a:r>
              <a:rPr lang="en-US" altLang="ko-KR" dirty="0"/>
              <a:t>Lon-running jobs will never receive any CPU time.</a:t>
            </a:r>
          </a:p>
          <a:p>
            <a:endParaRPr lang="en-US" altLang="ko-KR" dirty="0"/>
          </a:p>
          <a:p>
            <a:r>
              <a:rPr lang="en-US" altLang="ko-KR" dirty="0"/>
              <a:t>Game the scheduler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“cheat”</a:t>
            </a:r>
            <a:endParaRPr lang="en-US" altLang="ko-KR" dirty="0"/>
          </a:p>
          <a:p>
            <a:pPr lvl="1"/>
            <a:r>
              <a:rPr lang="en-US" altLang="ko-KR" dirty="0"/>
              <a:t>After running 99% of a time slice, issue an I/O operation.</a:t>
            </a:r>
          </a:p>
          <a:p>
            <a:pPr lvl="1"/>
            <a:r>
              <a:rPr lang="en-US" altLang="ko-KR" dirty="0"/>
              <a:t>The job gain a higher percentage of CPU time.</a:t>
            </a:r>
          </a:p>
          <a:p>
            <a:endParaRPr lang="en-US" altLang="ko-KR" dirty="0"/>
          </a:p>
          <a:p>
            <a:r>
              <a:rPr lang="en-US" altLang="ko-KR" dirty="0"/>
              <a:t>A program may change its behavior over time</a:t>
            </a:r>
          </a:p>
          <a:p>
            <a:pPr lvl="1"/>
            <a:r>
              <a:rPr lang="en-US" altLang="ko-KR" dirty="0"/>
              <a:t>CPU bound </a:t>
            </a:r>
            <a:r>
              <a:rPr lang="en-US" altLang="ko-KR" dirty="0">
                <a:sym typeface="Wingdings" pitchFamily="2" charset="2"/>
              </a:rPr>
              <a:t> I/O process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41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Priority Boost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Rule 5:</a:t>
            </a:r>
            <a:r>
              <a:rPr lang="en-US" altLang="ko-KR" dirty="0"/>
              <a:t> After some time period</a:t>
            </a:r>
            <a:r>
              <a:rPr lang="en-US" altLang="zh-CN" dirty="0"/>
              <a:t>s</a:t>
            </a:r>
            <a:r>
              <a:rPr lang="en-US" altLang="ko-KR" dirty="0"/>
              <a:t> S, move all jobs in the system to the top queue.</a:t>
            </a:r>
          </a:p>
          <a:p>
            <a:pPr lvl="1"/>
            <a:r>
              <a:rPr lang="en-US" altLang="ko-KR" dirty="0"/>
              <a:t>Example:</a:t>
            </a:r>
          </a:p>
          <a:p>
            <a:pPr lvl="2"/>
            <a:r>
              <a:rPr lang="en-US" altLang="ko-KR" dirty="0"/>
              <a:t>A long-running job</a:t>
            </a:r>
            <a:r>
              <a:rPr lang="zh-CN" altLang="en-US" dirty="0"/>
              <a:t> </a:t>
            </a:r>
            <a:r>
              <a:rPr lang="en-US" altLang="ko-KR" dirty="0"/>
              <a:t>(A) with two short-running interactive job</a:t>
            </a:r>
            <a:r>
              <a:rPr lang="en-US" altLang="zh-CN" dirty="0"/>
              <a:t>s</a:t>
            </a:r>
            <a:r>
              <a:rPr lang="zh-CN" altLang="en-US" dirty="0"/>
              <a:t> </a:t>
            </a:r>
            <a:r>
              <a:rPr lang="en-US" altLang="ko-KR" dirty="0"/>
              <a:t>(B, C)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-36712" y="3218600"/>
            <a:ext cx="4448447" cy="2456121"/>
            <a:chOff x="251520" y="2636912"/>
            <a:chExt cx="4448447" cy="2456121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889163" y="409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631624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83543" y="4811815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905971" y="315051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8102" y="4812586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48212" y="481258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4085" y="481258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41614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44667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1520" y="2824935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1520" y="351644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1520" y="423652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903624" y="337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/>
            <p:cNvSpPr/>
            <p:nvPr/>
          </p:nvSpPr>
          <p:spPr>
            <a:xfrm>
              <a:off x="1043608" y="387059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196008" y="4581152"/>
              <a:ext cx="1440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699792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762275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830443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888546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956714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019197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087365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150890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219058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281541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349709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407812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475980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538463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97106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54946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723114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785597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3853765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911868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980036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042519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110687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174212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42380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304863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373031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4572000" y="3267051"/>
            <a:ext cx="4448447" cy="2402046"/>
            <a:chOff x="4644008" y="2690987"/>
            <a:chExt cx="4448447" cy="2402046"/>
          </a:xfrm>
        </p:grpSpPr>
        <p:cxnSp>
          <p:nvCxnSpPr>
            <p:cNvPr id="61" name="직선 연결선 60"/>
            <p:cNvCxnSpPr/>
            <p:nvPr/>
          </p:nvCxnSpPr>
          <p:spPr>
            <a:xfrm>
              <a:off x="5281651" y="409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/>
            <p:cNvSpPr/>
            <p:nvPr/>
          </p:nvSpPr>
          <p:spPr>
            <a:xfrm>
              <a:off x="6948264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63" name="직선 연결선 62"/>
            <p:cNvCxnSpPr/>
            <p:nvPr/>
          </p:nvCxnSpPr>
          <p:spPr>
            <a:xfrm>
              <a:off x="5276031" y="4811815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직사각형 63"/>
            <p:cNvSpPr/>
            <p:nvPr/>
          </p:nvSpPr>
          <p:spPr>
            <a:xfrm>
              <a:off x="5298459" y="315051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160590" y="4812586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940700" y="481258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726573" y="481258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634102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537155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644008" y="2824935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44008" y="351644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44008" y="423652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73" name="직선 연결선 72"/>
            <p:cNvCxnSpPr/>
            <p:nvPr/>
          </p:nvCxnSpPr>
          <p:spPr>
            <a:xfrm>
              <a:off x="5296112" y="337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/>
            <p:cNvSpPr/>
            <p:nvPr/>
          </p:nvSpPr>
          <p:spPr>
            <a:xfrm>
              <a:off x="5436096" y="387059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5588496" y="4581152"/>
              <a:ext cx="1440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7016432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7078915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7147083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7205186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7273354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7335837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404005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598181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666349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724452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792620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855103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7913746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7971586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8039754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8228508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8296676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8359159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8427327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8490852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8559020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8621503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8689671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7470176" y="3140992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8093754" y="3123011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8743671" y="3110309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1769355" y="5898758"/>
            <a:ext cx="5610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Without(Left) and With(Right) Priority Boost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912280" y="5886749"/>
            <a:ext cx="1908192" cy="383496"/>
            <a:chOff x="4824048" y="1350245"/>
            <a:chExt cx="1908192" cy="383496"/>
          </a:xfrm>
        </p:grpSpPr>
        <p:sp>
          <p:nvSpPr>
            <p:cNvPr id="19" name="직사각형 18"/>
            <p:cNvSpPr/>
            <p:nvPr/>
          </p:nvSpPr>
          <p:spPr>
            <a:xfrm>
              <a:off x="5904168" y="1373741"/>
              <a:ext cx="18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56096" y="1373741"/>
              <a:ext cx="18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44128" y="135512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24048" y="1350245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552240" y="1373741"/>
              <a:ext cx="180000" cy="360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192200" y="135512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56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 Accounting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to prevent </a:t>
            </a:r>
            <a:r>
              <a:rPr lang="en-US" altLang="zh-CN" dirty="0"/>
              <a:t>jobs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ko-KR" dirty="0"/>
              <a:t>gaming our scheduler?</a:t>
            </a:r>
          </a:p>
          <a:p>
            <a:r>
              <a:rPr lang="en-US" altLang="ko-KR" dirty="0"/>
              <a:t>Solution:</a:t>
            </a:r>
          </a:p>
          <a:p>
            <a:pPr lvl="1"/>
            <a:r>
              <a:rPr lang="en-US" altLang="ko-KR" b="1" dirty="0"/>
              <a:t>Rule 4 </a:t>
            </a:r>
            <a:r>
              <a:rPr lang="en-US" altLang="ko-KR" dirty="0">
                <a:sym typeface="Wingdings" pitchFamily="2" charset="2"/>
              </a:rPr>
              <a:t>(Rewrite Rules 4a and 4b):</a:t>
            </a:r>
            <a:r>
              <a:rPr lang="en-US" altLang="ko-KR" dirty="0"/>
              <a:t> Once a job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uses up its time allotment </a:t>
            </a:r>
            <a:r>
              <a:rPr lang="en-US" altLang="ko-KR" dirty="0"/>
              <a:t>at a given level (regardless of how many times it has given up the CPU), </a:t>
            </a:r>
            <a:r>
              <a:rPr lang="en-US" altLang="ko-KR" b="1" dirty="0"/>
              <a:t>its priority is reduced</a:t>
            </a:r>
            <a:r>
              <a:rPr lang="zh-CN" altLang="en-US" b="1" dirty="0"/>
              <a:t> </a:t>
            </a:r>
            <a:r>
              <a:rPr lang="en-US" altLang="ko-KR" dirty="0"/>
              <a:t>(i.e., it moves down on queue).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-36512" y="3565167"/>
            <a:ext cx="4448447" cy="2456121"/>
            <a:chOff x="-36512" y="2204864"/>
            <a:chExt cx="4448447" cy="2456121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601131" y="366045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>
              <a:off x="595511" y="437976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/>
            <p:cNvSpPr/>
            <p:nvPr/>
          </p:nvSpPr>
          <p:spPr>
            <a:xfrm>
              <a:off x="588592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0070" y="438053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0180" y="438053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46053" y="438053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53582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56635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36512" y="239288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36512" y="30843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36512" y="380447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615592" y="294045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/>
            <p:cNvSpPr/>
            <p:nvPr/>
          </p:nvSpPr>
          <p:spPr>
            <a:xfrm>
              <a:off x="648485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92485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52378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79813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039706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183706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243599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387599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447492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591492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651385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778820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838713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982713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042606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179687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239580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2383580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2443473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0908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2630801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74801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834694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978694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038587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182587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242480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3369915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429808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573808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3633701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763863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823756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967756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027649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516041" y="3565167"/>
            <a:ext cx="4448447" cy="2456121"/>
            <a:chOff x="4516041" y="2204864"/>
            <a:chExt cx="4448447" cy="2456121"/>
          </a:xfrm>
        </p:grpSpPr>
        <p:cxnSp>
          <p:nvCxnSpPr>
            <p:cNvPr id="55" name="직선 연결선 54"/>
            <p:cNvCxnSpPr/>
            <p:nvPr/>
          </p:nvCxnSpPr>
          <p:spPr>
            <a:xfrm>
              <a:off x="5153684" y="364482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5148064" y="437976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/>
            <p:cNvSpPr/>
            <p:nvPr/>
          </p:nvSpPr>
          <p:spPr>
            <a:xfrm>
              <a:off x="5302273" y="4005104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032623" y="438053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2733" y="438053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598606" y="438053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506135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409188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516041" y="239288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516041" y="30843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16041" y="380447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66" name="직선 연결선 65"/>
            <p:cNvCxnSpPr/>
            <p:nvPr/>
          </p:nvCxnSpPr>
          <p:spPr>
            <a:xfrm>
              <a:off x="5168145" y="294045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66"/>
            <p:cNvSpPr/>
            <p:nvPr/>
          </p:nvSpPr>
          <p:spPr>
            <a:xfrm>
              <a:off x="5148064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355100" y="220486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412651" y="295624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5619687" y="295620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5556651" y="4005064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684615" y="400506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836502" y="364506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5893911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6045798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6094305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6246192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6300192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6452079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6516216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6668103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6732240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6884127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6948264" y="400506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100151" y="364506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157560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309447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357954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509841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7563841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7715728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7779865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7931752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7995889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8147776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8198167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8350054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8414191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8566078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8630215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1187624" y="6145559"/>
            <a:ext cx="6552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Without(Left) and With(Right) Gaming Tolerance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24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Tuning MLFQ and Other Issues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r>
              <a:rPr lang="en-US" altLang="zh-CN" dirty="0"/>
              <a:t>H</a:t>
            </a:r>
            <a:r>
              <a:rPr lang="en-US" altLang="ko-KR" dirty="0"/>
              <a:t>igh-priority queues </a:t>
            </a:r>
            <a:r>
              <a:rPr lang="en-US" altLang="ko-KR" dirty="0">
                <a:sym typeface="Wingdings" pitchFamily="2" charset="2"/>
              </a:rPr>
              <a:t> Short time slices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E.g., 10 or fewer milliseconds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L</a:t>
            </a:r>
            <a:r>
              <a:rPr lang="en-US" altLang="ko-KR" dirty="0">
                <a:sym typeface="Wingdings" pitchFamily="2" charset="2"/>
              </a:rPr>
              <a:t>ow-priority queue  Long time slices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E.g., 100 milliseconds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1995761" y="3429000"/>
            <a:ext cx="4664471" cy="2520240"/>
            <a:chOff x="2427809" y="3141008"/>
            <a:chExt cx="4664471" cy="2520240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3065452" y="4620005"/>
              <a:ext cx="402682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>
              <a:off x="3059832" y="5380030"/>
              <a:ext cx="403244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944391" y="5380801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79912" y="5380800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12748" y="538079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28868" y="538424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4972" y="538424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27809" y="3328991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27809" y="4020496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27809" y="4740576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79913" y="3876560"/>
              <a:ext cx="401236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/>
            <p:cNvSpPr/>
            <p:nvPr/>
          </p:nvSpPr>
          <p:spPr>
            <a:xfrm>
              <a:off x="3268041" y="3141008"/>
              <a:ext cx="18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075462" y="3502693"/>
              <a:ext cx="18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803357" y="3876678"/>
              <a:ext cx="36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43349" y="4246138"/>
              <a:ext cx="36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899187" y="4635941"/>
              <a:ext cx="72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163413" y="5005401"/>
              <a:ext cx="72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6372280" y="4635941"/>
              <a:ext cx="72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5628691" y="5005401"/>
              <a:ext cx="72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1115616" y="5949240"/>
            <a:ext cx="65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Lower</a:t>
            </a:r>
            <a:r>
              <a:rPr lang="zh-CN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priority,</a:t>
            </a:r>
            <a:r>
              <a:rPr lang="zh-CN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longer</a:t>
            </a:r>
            <a:r>
              <a:rPr lang="zh-CN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quanta: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10ms for the highest queue, 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20ms for the middle, 40ms for the lowest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2679808" y="908720"/>
            <a:ext cx="3836408" cy="504056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Lower Priority, Longer Quanta</a:t>
            </a:r>
          </a:p>
        </p:txBody>
      </p:sp>
    </p:spTree>
    <p:extLst>
      <p:ext uri="{BB962C8B-B14F-4D97-AF65-F5344CB8AC3E}">
        <p14:creationId xmlns:p14="http://schemas.microsoft.com/office/powerpoint/2010/main" val="329625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 implementation: on Solaris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 the Time-Sharing scheduling class (TS)</a:t>
            </a:r>
          </a:p>
          <a:p>
            <a:pPr lvl="1"/>
            <a:r>
              <a:rPr lang="en-US" altLang="ko-KR" dirty="0"/>
              <a:t>60 Queues</a:t>
            </a:r>
          </a:p>
          <a:p>
            <a:pPr lvl="1"/>
            <a:r>
              <a:rPr lang="en-US" altLang="ko-KR" dirty="0"/>
              <a:t>Slowly increasing time-slice length</a:t>
            </a:r>
          </a:p>
          <a:p>
            <a:pPr lvl="2"/>
            <a:r>
              <a:rPr lang="en-US" altLang="ko-KR" dirty="0"/>
              <a:t>The highest priority: 20ms</a:t>
            </a:r>
          </a:p>
          <a:p>
            <a:pPr lvl="2"/>
            <a:r>
              <a:rPr lang="en-US" altLang="ko-KR" dirty="0"/>
              <a:t>The lowest priority: A few hundred </a:t>
            </a:r>
            <a:r>
              <a:rPr lang="en-US" altLang="zh-CN" dirty="0" err="1"/>
              <a:t>ms</a:t>
            </a:r>
            <a:endParaRPr lang="en-US" altLang="ko-KR" dirty="0"/>
          </a:p>
          <a:p>
            <a:pPr lvl="1"/>
            <a:r>
              <a:rPr lang="en-US" altLang="ko-KR" dirty="0"/>
              <a:t>Priorities boosted around every 1 second or so.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026" name="Picture 2" descr="Solaris Operating System: 10 curious facts that you should know">
            <a:extLst>
              <a:ext uri="{FF2B5EF4-FFF2-40B4-BE49-F238E27FC236}">
                <a16:creationId xmlns:a16="http://schemas.microsoft.com/office/drawing/2014/main" id="{42574C5C-4629-012B-D5A4-BC6776CCC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751" y="3722629"/>
            <a:ext cx="4194497" cy="265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C03C02-150C-4145-4BEC-A97BEE653748}"/>
              </a:ext>
            </a:extLst>
          </p:cNvPr>
          <p:cNvSpPr txBox="1"/>
          <p:nvPr/>
        </p:nvSpPr>
        <p:spPr>
          <a:xfrm>
            <a:off x="4788024" y="764704"/>
            <a:ext cx="4612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  <a:hlinkClick r:id="rId3"/>
              </a:rPr>
              <a:t>https://pages.cs.wisc.edu/~eli/537/lectures/Solaris.pdf</a:t>
            </a:r>
            <a:endParaRPr lang="en-US" sz="1400" dirty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7348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Summary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refined set of MLFQ rules:</a:t>
            </a:r>
          </a:p>
          <a:p>
            <a:pPr lvl="1"/>
            <a:r>
              <a:rPr lang="en-US" altLang="ko-KR" b="1" dirty="0"/>
              <a:t>Rule 1:</a:t>
            </a:r>
            <a:r>
              <a:rPr lang="en-US" altLang="ko-KR" dirty="0"/>
              <a:t> If Priority(A) &gt; Priority(B), A runs (and B doesn’t).</a:t>
            </a:r>
          </a:p>
          <a:p>
            <a:pPr lvl="1"/>
            <a:r>
              <a:rPr lang="en-US" altLang="ko-KR" b="1" dirty="0"/>
              <a:t>Rule 2:</a:t>
            </a:r>
            <a:r>
              <a:rPr lang="en-US" altLang="ko-KR" dirty="0"/>
              <a:t> If Priority(A) = Priority(B), A and B run in RR.</a:t>
            </a:r>
          </a:p>
          <a:p>
            <a:pPr lvl="1"/>
            <a:r>
              <a:rPr lang="en-US" altLang="ko-KR" b="1" dirty="0"/>
              <a:t>Rule 3: </a:t>
            </a:r>
            <a:r>
              <a:rPr lang="en-US" altLang="ko-KR" dirty="0"/>
              <a:t>When a job enters the system, it is placed at the highest priority.</a:t>
            </a:r>
          </a:p>
          <a:p>
            <a:pPr lvl="1"/>
            <a:r>
              <a:rPr lang="en-US" altLang="ko-KR" b="1" dirty="0"/>
              <a:t>Rule 4:</a:t>
            </a:r>
            <a:r>
              <a:rPr lang="en-US" altLang="ko-KR" dirty="0"/>
              <a:t> Once a job uses up its time allotment at a given level (regardless of how many times it has given up the CPU), its priority is reduced (i.e., it moves down one queue).</a:t>
            </a:r>
          </a:p>
          <a:p>
            <a:pPr lvl="1"/>
            <a:r>
              <a:rPr lang="en-US" altLang="ko-KR" b="1" dirty="0"/>
              <a:t>Rule 5: </a:t>
            </a:r>
            <a:r>
              <a:rPr lang="en-US" altLang="ko-KR" dirty="0"/>
              <a:t>After some time S, move all the jobs to the topmost queue.</a:t>
            </a:r>
          </a:p>
          <a:p>
            <a:r>
              <a:rPr lang="en-US" altLang="ko-KR" dirty="0"/>
              <a:t>Beauty of MLFQ</a:t>
            </a:r>
          </a:p>
          <a:p>
            <a:pPr lvl="1"/>
            <a:r>
              <a:rPr lang="en-US" altLang="ko-KR" dirty="0"/>
              <a:t>It does not require prior knowledge on the CPU usage of a process.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109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3E941F-7972-5B1D-A973-3DC4E6D69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Scheduling,</a:t>
            </a:r>
            <a:r>
              <a:rPr lang="zh-CN" altLang="en-US" dirty="0"/>
              <a:t> </a:t>
            </a:r>
            <a:r>
              <a:rPr lang="en-US" altLang="zh-CN" dirty="0"/>
              <a:t>Fair-share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50A8B2-9FCA-59DD-87C9-721A0EFFF3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196C4-5F5A-37B4-3E96-B3B85B7D2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896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Proportional Share Scheduler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Fair-share</a:t>
            </a:r>
            <a:r>
              <a:rPr lang="en-US" altLang="ko-KR" dirty="0"/>
              <a:t> scheduler</a:t>
            </a:r>
          </a:p>
          <a:p>
            <a:pPr lvl="1"/>
            <a:r>
              <a:rPr lang="en-US" altLang="ko-KR" dirty="0"/>
              <a:t>Guarantee that each job obtain</a:t>
            </a:r>
            <a:r>
              <a:rPr lang="en-US" altLang="zh-CN" dirty="0"/>
              <a:t>s</a:t>
            </a:r>
            <a:r>
              <a:rPr lang="en-US" altLang="ko-KR" dirty="0"/>
              <a:t> </a:t>
            </a:r>
            <a:r>
              <a:rPr lang="en-US" altLang="ko-KR" i="1" dirty="0"/>
              <a:t>a certain percentage </a:t>
            </a:r>
            <a:r>
              <a:rPr lang="en-US" altLang="ko-KR" dirty="0"/>
              <a:t>of CPU time.</a:t>
            </a:r>
          </a:p>
          <a:p>
            <a:pPr lvl="1"/>
            <a:r>
              <a:rPr lang="en-US" altLang="ko-KR" dirty="0"/>
              <a:t>Not optimized for JCT or response time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281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Concept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Tickets</a:t>
            </a:r>
          </a:p>
          <a:p>
            <a:pPr lvl="1"/>
            <a:r>
              <a:rPr lang="en-US" altLang="ko-KR" dirty="0"/>
              <a:t>Represent</a:t>
            </a:r>
            <a:r>
              <a:rPr lang="en-US" altLang="zh-CN" dirty="0"/>
              <a:t>s</a:t>
            </a:r>
            <a:r>
              <a:rPr lang="en-US" altLang="ko-KR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r>
              <a:rPr lang="zh-CN" altLang="en-US" dirty="0"/>
              <a:t> </a:t>
            </a:r>
            <a:r>
              <a:rPr lang="en-US" altLang="zh-CN" dirty="0"/>
              <a:t>opportunity</a:t>
            </a:r>
            <a:endParaRPr lang="en-US" altLang="ko-KR" dirty="0"/>
          </a:p>
          <a:p>
            <a:pPr lvl="1"/>
            <a:r>
              <a:rPr lang="en-US" altLang="ko-KR" u="sng" dirty="0"/>
              <a:t>The percent</a:t>
            </a:r>
            <a:r>
              <a:rPr lang="en-US" altLang="zh-CN" u="sng" dirty="0"/>
              <a:t>age</a:t>
            </a:r>
            <a:r>
              <a:rPr lang="en-US" altLang="ko-KR" u="sng" dirty="0"/>
              <a:t> of tickets</a:t>
            </a:r>
            <a:r>
              <a:rPr lang="en-US" altLang="ko-KR" dirty="0"/>
              <a:t> represents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process’s</a:t>
            </a:r>
            <a:r>
              <a:rPr lang="en-US" altLang="ko-KR" dirty="0"/>
              <a:t> share of the system resource in question.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Example</a:t>
            </a:r>
          </a:p>
          <a:p>
            <a:pPr lvl="1"/>
            <a:r>
              <a:rPr lang="en-US" altLang="ko-KR" dirty="0"/>
              <a:t>There are two processes, A and B.</a:t>
            </a:r>
          </a:p>
          <a:p>
            <a:pPr lvl="2"/>
            <a:r>
              <a:rPr lang="en-US" altLang="ko-KR" dirty="0"/>
              <a:t>Process A has 75 tickets </a:t>
            </a:r>
            <a:r>
              <a:rPr lang="en-US" altLang="ko-KR" dirty="0">
                <a:sym typeface="Wingdings" pitchFamily="2" charset="2"/>
              </a:rPr>
              <a:t> receive 75% of the CPU</a:t>
            </a:r>
            <a:endParaRPr lang="en-US" altLang="ko-KR" dirty="0"/>
          </a:p>
          <a:p>
            <a:pPr lvl="2"/>
            <a:r>
              <a:rPr lang="en-US" altLang="ko-KR" dirty="0"/>
              <a:t>Process B has 25 tickets </a:t>
            </a:r>
            <a:r>
              <a:rPr lang="en-US" altLang="ko-KR" dirty="0">
                <a:sym typeface="Wingdings" pitchFamily="2" charset="2"/>
              </a:rPr>
              <a:t> receive 25% of the CPU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129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Lottery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scheduler picks </a:t>
            </a:r>
            <a:r>
              <a:rPr lang="en-US" altLang="ko-KR" u="sng" dirty="0"/>
              <a:t>a winning ticket</a:t>
            </a:r>
            <a:endParaRPr lang="en-US" altLang="ko-KR" dirty="0"/>
          </a:p>
          <a:p>
            <a:pPr lvl="1"/>
            <a:r>
              <a:rPr lang="en-US" altLang="ko-KR" dirty="0"/>
              <a:t>Load the state of that </a:t>
            </a:r>
            <a:r>
              <a:rPr lang="en-US" altLang="ko-KR" i="1" dirty="0"/>
              <a:t>winning process </a:t>
            </a:r>
            <a:r>
              <a:rPr lang="en-US" altLang="ko-KR" dirty="0"/>
              <a:t>and runs it.</a:t>
            </a:r>
          </a:p>
          <a:p>
            <a:r>
              <a:rPr lang="en-US" altLang="ko-KR" dirty="0"/>
              <a:t>Example</a:t>
            </a:r>
          </a:p>
          <a:p>
            <a:pPr lvl="1"/>
            <a:r>
              <a:rPr lang="en-US" altLang="ko-KR" dirty="0"/>
              <a:t>There are 100 tickets</a:t>
            </a:r>
          </a:p>
          <a:p>
            <a:pPr lvl="2"/>
            <a:r>
              <a:rPr lang="en-US" altLang="ko-KR" dirty="0"/>
              <a:t>Process A has 75 tickets: 0 ~ 74</a:t>
            </a:r>
          </a:p>
          <a:p>
            <a:pPr lvl="2"/>
            <a:r>
              <a:rPr lang="en-US" altLang="ko-KR" dirty="0"/>
              <a:t>Process B has 25 tickets: 75 ~ 99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971600" y="3933056"/>
            <a:ext cx="7416824" cy="679443"/>
            <a:chOff x="539552" y="4353478"/>
            <a:chExt cx="7416824" cy="679443"/>
          </a:xfrm>
        </p:grpSpPr>
        <p:sp>
          <p:nvSpPr>
            <p:cNvPr id="7" name="TextBox 6"/>
            <p:cNvSpPr txBox="1"/>
            <p:nvPr/>
          </p:nvSpPr>
          <p:spPr>
            <a:xfrm>
              <a:off x="539552" y="4353478"/>
              <a:ext cx="2376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Scheduler’s winning tickets:</a:t>
              </a:r>
              <a:endParaRPr lang="ko-KR" altLang="en-US" sz="1400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87824" y="4353478"/>
              <a:ext cx="4968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63  85  70  39  76  17  29  41  36  39  10  99  68  83  63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056" y="4725144"/>
              <a:ext cx="2376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Resulting scheduler:</a:t>
              </a:r>
              <a:endParaRPr lang="ko-KR" altLang="en-US" sz="1400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3958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6075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8192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0309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426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72450" y="472013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1479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543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6660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8777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0894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3011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5128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93620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35954" y="4725144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" name="모서리가 둥근 직사각형 25"/>
          <p:cNvSpPr/>
          <p:nvPr/>
        </p:nvSpPr>
        <p:spPr>
          <a:xfrm>
            <a:off x="971600" y="5085184"/>
            <a:ext cx="7224456" cy="792088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longer these two jobs compete,</a:t>
            </a:r>
          </a:p>
          <a:p>
            <a:pPr algn="ctr"/>
            <a:r>
              <a:rPr lang="en-US" altLang="zh-CN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 more likely they are to achieve the desired percentages.</a:t>
            </a:r>
          </a:p>
        </p:txBody>
      </p:sp>
    </p:spTree>
    <p:extLst>
      <p:ext uri="{BB962C8B-B14F-4D97-AF65-F5344CB8AC3E}">
        <p14:creationId xmlns:p14="http://schemas.microsoft.com/office/powerpoint/2010/main" val="176744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Mechanisms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Ticket currency</a:t>
            </a:r>
          </a:p>
          <a:p>
            <a:pPr lvl="1"/>
            <a:r>
              <a:rPr lang="en-US" altLang="ko-KR" dirty="0"/>
              <a:t>A user allocates tickets among their own jobs in whatever currency they would like.</a:t>
            </a:r>
          </a:p>
          <a:p>
            <a:pPr lvl="1"/>
            <a:r>
              <a:rPr lang="en-US" altLang="ko-KR" dirty="0"/>
              <a:t>The system converts the currency into the correct global value.</a:t>
            </a:r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altLang="ko-KR" dirty="0"/>
              <a:t>There are 200 tickets (Global currency)</a:t>
            </a:r>
          </a:p>
          <a:p>
            <a:pPr lvl="2"/>
            <a:r>
              <a:rPr lang="en-US" altLang="ko-KR" dirty="0"/>
              <a:t>Process A has 100 tickets</a:t>
            </a:r>
          </a:p>
          <a:p>
            <a:pPr lvl="2"/>
            <a:r>
              <a:rPr lang="en-US" altLang="ko-KR" dirty="0"/>
              <a:t>Process B has 100 tickets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68318" y="4653136"/>
            <a:ext cx="5876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User A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(A’s currency) to A1  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(global currency)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	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500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(A’s currency) to A2  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50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(global currency)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950" y="5435932"/>
            <a:ext cx="5868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User B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	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 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(B’s currency) to B1  </a:t>
            </a:r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100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(global currency)</a:t>
            </a:r>
          </a:p>
        </p:txBody>
      </p:sp>
    </p:spTree>
    <p:extLst>
      <p:ext uri="{BB962C8B-B14F-4D97-AF65-F5344CB8AC3E}">
        <p14:creationId xmlns:p14="http://schemas.microsoft.com/office/powerpoint/2010/main" val="3058755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Mechanisms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Ticket transfer</a:t>
            </a:r>
          </a:p>
          <a:p>
            <a:pPr lvl="1"/>
            <a:r>
              <a:rPr lang="en-US" altLang="ko-KR" dirty="0"/>
              <a:t>A process can temporarily </a:t>
            </a:r>
            <a:r>
              <a:rPr lang="en-US" altLang="ko-KR" u="sng" dirty="0"/>
              <a:t>hand off</a:t>
            </a:r>
            <a:r>
              <a:rPr lang="en-US" altLang="ko-KR" dirty="0"/>
              <a:t> </a:t>
            </a:r>
            <a:r>
              <a:rPr lang="en-US" altLang="ko-KR" i="1" dirty="0"/>
              <a:t>its tickets </a:t>
            </a:r>
            <a:r>
              <a:rPr lang="en-US" altLang="ko-KR" dirty="0"/>
              <a:t>to another process.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Ticket inflation</a:t>
            </a:r>
          </a:p>
          <a:p>
            <a:pPr lvl="1"/>
            <a:r>
              <a:rPr lang="en-US" altLang="ko-KR" dirty="0"/>
              <a:t>A process can </a:t>
            </a:r>
            <a:r>
              <a:rPr lang="en-US" altLang="ko-KR" u="sng" dirty="0"/>
              <a:t>temporarily raise or lower</a:t>
            </a:r>
            <a:r>
              <a:rPr lang="en-US" altLang="ko-KR" dirty="0"/>
              <a:t> the number of tickets it owns.</a:t>
            </a:r>
          </a:p>
          <a:p>
            <a:pPr lvl="1"/>
            <a:r>
              <a:rPr lang="en-US" altLang="ko-KR" dirty="0"/>
              <a:t>If any one process needs </a:t>
            </a:r>
            <a:r>
              <a:rPr lang="en-US" altLang="ko-KR" i="1" dirty="0"/>
              <a:t>more CPU time</a:t>
            </a:r>
            <a:r>
              <a:rPr lang="en-US" altLang="ko-KR" dirty="0"/>
              <a:t>, it can boost its tickets.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887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0276" y="730163"/>
            <a:ext cx="8786812" cy="5501258"/>
          </a:xfrm>
        </p:spPr>
        <p:txBody>
          <a:bodyPr/>
          <a:lstStyle/>
          <a:p>
            <a:r>
              <a:rPr lang="en-US" altLang="ko-KR" dirty="0"/>
              <a:t>Example: There are thr</a:t>
            </a:r>
            <a:r>
              <a:rPr lang="en-US" altLang="zh-CN" dirty="0"/>
              <a:t>e</a:t>
            </a:r>
            <a:r>
              <a:rPr lang="en-US" altLang="ko-KR" dirty="0"/>
              <a:t>e processes, A, B, and C.</a:t>
            </a:r>
          </a:p>
          <a:p>
            <a:pPr lvl="1"/>
            <a:r>
              <a:rPr lang="en-US" altLang="ko-KR" dirty="0"/>
              <a:t>Keep the processes in a list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1411880" y="1984290"/>
            <a:ext cx="6184456" cy="868646"/>
            <a:chOff x="1622889" y="1556792"/>
            <a:chExt cx="6184456" cy="868646"/>
          </a:xfrm>
        </p:grpSpPr>
        <p:sp>
          <p:nvSpPr>
            <p:cNvPr id="6" name="TextBox 5"/>
            <p:cNvSpPr txBox="1"/>
            <p:nvPr/>
          </p:nvSpPr>
          <p:spPr>
            <a:xfrm>
              <a:off x="1622889" y="1844824"/>
              <a:ext cx="6447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head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2267744" y="2029490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/>
            <p:cNvSpPr/>
            <p:nvPr/>
          </p:nvSpPr>
          <p:spPr>
            <a:xfrm>
              <a:off x="2843808" y="1561438"/>
              <a:ext cx="864000" cy="86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Job:A</a:t>
              </a:r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Tix:100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3719530" y="2024844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/>
            <p:cNvSpPr/>
            <p:nvPr/>
          </p:nvSpPr>
          <p:spPr>
            <a:xfrm>
              <a:off x="4295594" y="1556792"/>
              <a:ext cx="864000" cy="86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Job:B</a:t>
              </a:r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Tix:50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>
              <a:off x="5169689" y="2024844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/>
            <p:cNvSpPr/>
            <p:nvPr/>
          </p:nvSpPr>
          <p:spPr>
            <a:xfrm>
              <a:off x="5745753" y="1556792"/>
              <a:ext cx="864000" cy="86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Job:C</a:t>
              </a:r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Tix:250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25748" y="1844824"/>
              <a:ext cx="6815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NULL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>
              <a:off x="6618475" y="2029490"/>
              <a:ext cx="5760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611560" y="2965008"/>
            <a:ext cx="7992888" cy="3416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counter: used to track if we’ve found the winner yet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counter = 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winner: use some call to a random number generator to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get a value, between 0 and the total # of tickets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2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winner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getrandom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totaltickets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current: use this to walk through the list of jobs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node_t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*current = head;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loop until the sum of ticket values is &gt; the winner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(current)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counter = counter + current-&gt;tickets;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(counter &gt; winner)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		</a:t>
            </a:r>
            <a:r>
              <a:rPr lang="en-US" altLang="ko-KR" sz="12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break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found the winner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	current = current-&gt;next;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’current’ is the winner: schedule it...</a:t>
            </a:r>
          </a:p>
        </p:txBody>
      </p:sp>
    </p:spTree>
    <p:extLst>
      <p:ext uri="{BB962C8B-B14F-4D97-AF65-F5344CB8AC3E}">
        <p14:creationId xmlns:p14="http://schemas.microsoft.com/office/powerpoint/2010/main" val="3647156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(Cont.)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>
                    <a:solidFill>
                      <a:srgbClr val="D60093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Mangal" panose="02040503050203030202" pitchFamily="18" charset="0"/>
                  </a:rPr>
                  <a:t>Random</a:t>
                </a:r>
                <a:r>
                  <a:rPr lang="en-US" altLang="ko-KR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Mangal" panose="02040503050203030202" pitchFamily="18" charset="0"/>
                  </a:rPr>
                  <a:t> can be much more difficult than you thought!</a:t>
                </a:r>
              </a:p>
              <a:p>
                <a:pPr lvl="1"/>
                <a:r>
                  <a:rPr lang="en-US" altLang="ko-KR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Courier New" pitchFamily="49" charset="0"/>
                    <a:hlinkClick r:id="rId2"/>
                  </a:rPr>
                  <a:t>https://stackoverflow.com/questions/2509679/how-to-generate-a-random-integer-number-from-within-a-range</a:t>
                </a:r>
                <a:endParaRPr lang="en-US" altLang="ko-KR" dirty="0">
                  <a:latin typeface="Malgun Gothic" panose="020B0503020000020004" pitchFamily="34" charset="-127"/>
                  <a:ea typeface="Malgun Gothic" panose="020B0503020000020004" pitchFamily="34" charset="-127"/>
                  <a:cs typeface="Courier New" pitchFamily="49" charset="0"/>
                </a:endParaRPr>
              </a:p>
              <a:p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U</a:t>
                </a:r>
                <a:r>
                  <a:rPr lang="en-US" altLang="ko-KR" dirty="0"/>
                  <a:t>: unfairness metric</a:t>
                </a:r>
              </a:p>
              <a:p>
                <a:pPr lvl="1"/>
                <a:r>
                  <a:rPr lang="en-US" altLang="ko-KR" dirty="0"/>
                  <a:t>The time the first job completes divided by the time that the second job completes.</a:t>
                </a:r>
              </a:p>
              <a:p>
                <a:r>
                  <a:rPr lang="en-US" altLang="ko-KR" dirty="0"/>
                  <a:t>Example:</a:t>
                </a:r>
              </a:p>
              <a:p>
                <a:pPr lvl="1"/>
                <a:r>
                  <a:rPr lang="en-US" altLang="ko-KR" dirty="0"/>
                  <a:t>There are two jobs, each jobs has runtime 10</a:t>
                </a:r>
              </a:p>
              <a:p>
                <a:pPr lvl="2"/>
                <a:r>
                  <a:rPr lang="en-US" altLang="ko-KR" dirty="0"/>
                  <a:t>First job finishes at time 10; Second job finishes at time 20</a:t>
                </a:r>
              </a:p>
              <a:p>
                <a:pPr lvl="1"/>
                <a:r>
                  <a:rPr lang="en-US" altLang="ko-KR" b="0" dirty="0">
                    <a:latin typeface="Courier New" pitchFamily="49" charset="0"/>
                    <a:cs typeface="Courier New" pitchFamily="49" charset="0"/>
                  </a:rPr>
                  <a:t>U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/>
                          </a:rPr>
                          <m:t>10</m:t>
                        </m:r>
                      </m:num>
                      <m:den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den>
                    </m:f>
                    <m:r>
                      <a:rPr lang="en-US" altLang="ko-KR" b="0" i="1" smtClean="0">
                        <a:latin typeface="Cambria Math"/>
                      </a:rPr>
                      <m:t>=0.5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U</a:t>
                </a:r>
                <a:r>
                  <a:rPr lang="en-US" altLang="ko-KR" dirty="0"/>
                  <a:t> will be close to 1 when both jobs finish at nearly the same time.</a:t>
                </a:r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047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Lottery Fairness Study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two jobs.</a:t>
            </a:r>
          </a:p>
          <a:p>
            <a:pPr lvl="1"/>
            <a:r>
              <a:rPr lang="en-US" altLang="ko-KR" dirty="0"/>
              <a:t>Each jobs has the same number of tickets (100).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988840"/>
            <a:ext cx="3672408" cy="3322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모서리가 둥근 직사각형 6"/>
          <p:cNvSpPr/>
          <p:nvPr/>
        </p:nvSpPr>
        <p:spPr>
          <a:xfrm>
            <a:off x="1547664" y="5517232"/>
            <a:ext cx="6408712" cy="792088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When the job length is not very long,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average unfairness can be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quite severe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5324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Deterministic Approach: Stride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Stride</a:t>
            </a:r>
            <a:r>
              <a:rPr lang="en-US" altLang="ko-KR" dirty="0"/>
              <a:t> of each process</a:t>
            </a:r>
          </a:p>
          <a:p>
            <a:pPr lvl="1"/>
            <a:r>
              <a:rPr lang="en-US" altLang="ko-KR" dirty="0"/>
              <a:t>A large number / number of tickets of the process</a:t>
            </a:r>
          </a:p>
          <a:p>
            <a:pPr lvl="1"/>
            <a:r>
              <a:rPr lang="en-US" altLang="ko-KR" dirty="0"/>
              <a:t>Example: A large number = 10,000</a:t>
            </a:r>
          </a:p>
          <a:p>
            <a:pPr lvl="2"/>
            <a:r>
              <a:rPr lang="en-US" altLang="ko-KR" dirty="0"/>
              <a:t>Process A has 100 tickets </a:t>
            </a:r>
            <a:r>
              <a:rPr lang="en-US" altLang="ko-KR" dirty="0">
                <a:sym typeface="Wingdings" pitchFamily="2" charset="2"/>
              </a:rPr>
              <a:t> stride of A is 100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Process B has 50 tickets  stride of B is 200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 process runs, increment</a:t>
            </a:r>
            <a:r>
              <a:rPr lang="en-US" altLang="zh-CN" dirty="0"/>
              <a:t>s</a:t>
            </a:r>
            <a:r>
              <a:rPr lang="en-US" altLang="ko-KR" dirty="0"/>
              <a:t> a counter</a:t>
            </a:r>
            <a:r>
              <a:rPr lang="zh-CN" altLang="en-US" dirty="0"/>
              <a:t> </a:t>
            </a:r>
            <a:r>
              <a:rPr lang="en-US" altLang="ko-KR" dirty="0"/>
              <a:t>(pass value) for it by its stride</a:t>
            </a:r>
          </a:p>
          <a:p>
            <a:pPr lvl="1"/>
            <a:r>
              <a:rPr lang="en-US" altLang="ko-KR" dirty="0"/>
              <a:t>Pick the process that has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the lowest pass value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dirty="0"/>
              <a:t>to run 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560" y="5190291"/>
            <a:ext cx="7992888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current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remove_min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(queue);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pick client with minimum pass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schedule(current); 	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use resource for quantum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current-&gt;pass += current-&gt;stride;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compute next pass using stride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insert(queue, current);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put back into the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832" y="6021288"/>
            <a:ext cx="3096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pseudo code implementation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6" name="Picture 2" descr="What Is Stride? | Running Guide for Beginners | Fitpage">
            <a:extLst>
              <a:ext uri="{FF2B5EF4-FFF2-40B4-BE49-F238E27FC236}">
                <a16:creationId xmlns:a16="http://schemas.microsoft.com/office/drawing/2014/main" id="{36E12956-544A-6401-E429-021BBBD90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84785"/>
            <a:ext cx="2368686" cy="133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1100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Stride Scheduling 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259632" y="1628800"/>
            <a:ext cx="6408712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084168" y="910461"/>
            <a:ext cx="0" cy="345464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908720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Pass(</a:t>
            </a:r>
            <a:r>
              <a:rPr lang="en-US" altLang="ko-KR" b="1" dirty="0">
                <a:solidFill>
                  <a:srgbClr val="C0504D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(stride=100)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1800" y="910461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Pass(</a:t>
            </a:r>
            <a:r>
              <a:rPr lang="en-US" altLang="ko-KR" b="1" dirty="0">
                <a:solidFill>
                  <a:srgbClr val="9BBB59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(stride=200)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7984" y="908720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Pass(</a:t>
            </a:r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(stride=40)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6176" y="90872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Who Runs?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31640" y="1700808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5816" y="1700808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008" y="1707773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160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184" y="1700808"/>
            <a:ext cx="1152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504D"/>
                </a:solidFill>
                <a:latin typeface="맑은 고딕" pitchFamily="50" charset="-127"/>
                <a:ea typeface="맑은 고딕" pitchFamily="50" charset="-127"/>
              </a:rPr>
              <a:t>A</a:t>
            </a:r>
          </a:p>
          <a:p>
            <a:pPr algn="ctr"/>
            <a:r>
              <a:rPr lang="en-US" altLang="ko-KR" b="1" dirty="0">
                <a:solidFill>
                  <a:srgbClr val="9BBB59"/>
                </a:solidFill>
                <a:latin typeface="맑은 고딕" pitchFamily="50" charset="-127"/>
                <a:ea typeface="맑은 고딕" pitchFamily="50" charset="-127"/>
              </a:rPr>
              <a:t>B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C0504D"/>
                </a:solidFill>
                <a:latin typeface="맑은 고딕" pitchFamily="50" charset="-127"/>
                <a:ea typeface="맑은 고딕" pitchFamily="50" charset="-127"/>
              </a:rPr>
              <a:t>A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srgbClr val="4F81BD"/>
                </a:solidFill>
                <a:latin typeface="맑은 고딕" pitchFamily="50" charset="-127"/>
                <a:ea typeface="맑은 고딕" pitchFamily="50" charset="-127"/>
              </a:rPr>
              <a:t>C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511660" y="4741410"/>
            <a:ext cx="6264696" cy="1289180"/>
          </a:xfrm>
          <a:prstGeom prst="roundRect">
            <a:avLst>
              <a:gd name="adj" fmla="val 14582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Stride scheduling needs to maintain the per process pass value.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If new job enters with pass value 0 i</a:t>
            </a:r>
            <a:r>
              <a:rPr lang="en-US" altLang="ko-KR" sz="16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  <a:sym typeface="Wingdings" pitchFamily="2" charset="2"/>
              </a:rPr>
              <a:t>t will monopolize the CPU!</a:t>
            </a:r>
            <a:endParaRPr lang="en-US" sz="1600" dirty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endParaRPr>
          </a:p>
          <a:p>
            <a:endParaRPr lang="en-US" sz="1600" dirty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Advantage of lottery scheduling: no per-process state</a:t>
            </a:r>
          </a:p>
        </p:txBody>
      </p:sp>
    </p:spTree>
    <p:extLst>
      <p:ext uri="{BB962C8B-B14F-4D97-AF65-F5344CB8AC3E}">
        <p14:creationId xmlns:p14="http://schemas.microsoft.com/office/powerpoint/2010/main" val="211875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Linux Completely Fair Scheduling (CFS)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Completely Fair Scheduling (CFS)</a:t>
            </a:r>
          </a:p>
          <a:p>
            <a:pPr lvl="1"/>
            <a:r>
              <a:rPr lang="en-US" altLang="ko-KR" dirty="0"/>
              <a:t>The current CPU scheduler in Linux</a:t>
            </a:r>
          </a:p>
          <a:p>
            <a:pPr lvl="1"/>
            <a:r>
              <a:rPr lang="en-US" altLang="ko-KR" dirty="0"/>
              <a:t>Non-fixed </a:t>
            </a:r>
            <a:r>
              <a:rPr lang="en-US" altLang="ko-KR" dirty="0" err="1"/>
              <a:t>timeslice</a:t>
            </a:r>
            <a:endParaRPr lang="en-US" altLang="ko-KR" dirty="0"/>
          </a:p>
          <a:p>
            <a:pPr lvl="2"/>
            <a:r>
              <a:rPr lang="en-US" altLang="ko-KR" dirty="0"/>
              <a:t>CFS assigns process</a:t>
            </a:r>
            <a:r>
              <a:rPr lang="en-US" altLang="zh-CN" dirty="0"/>
              <a:t>’</a:t>
            </a:r>
            <a:r>
              <a:rPr lang="en-US" altLang="ko-KR" dirty="0"/>
              <a:t>s timeslice a proportion of the processor.</a:t>
            </a:r>
          </a:p>
          <a:p>
            <a:pPr lvl="1"/>
            <a:r>
              <a:rPr lang="en-US" altLang="ko-KR" dirty="0"/>
              <a:t>Priority </a:t>
            </a:r>
          </a:p>
          <a:p>
            <a:pPr lvl="2"/>
            <a:r>
              <a:rPr lang="en-US" altLang="ko-KR" dirty="0"/>
              <a:t>Enables control over priority by using nice value.</a:t>
            </a:r>
          </a:p>
          <a:p>
            <a:pPr lvl="1"/>
            <a:r>
              <a:rPr lang="en-US" altLang="ko-KR" dirty="0"/>
              <a:t>Efficient data structure</a:t>
            </a:r>
            <a:r>
              <a:rPr lang="en-US" altLang="zh-CN" dirty="0"/>
              <a:t>s</a:t>
            </a:r>
            <a:endParaRPr lang="en-US" altLang="ko-KR" dirty="0"/>
          </a:p>
          <a:p>
            <a:pPr lvl="2"/>
            <a:r>
              <a:rPr lang="en-US" altLang="ko-KR" dirty="0"/>
              <a:t>Use red-black tree for efficient search, insertion and deletion of a process. </a:t>
            </a:r>
          </a:p>
          <a:p>
            <a:pPr marL="914400" lvl="2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510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</a:t>
            </a:r>
            <a:r>
              <a:rPr lang="en-US" altLang="zh-CN" dirty="0"/>
              <a:t>s</a:t>
            </a:r>
            <a:r>
              <a:rPr lang="en-US" altLang="ko-KR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Virtual runtime (vruntime)</a:t>
            </a:r>
          </a:p>
          <a:p>
            <a:pPr lvl="1"/>
            <a:r>
              <a:rPr lang="en-US" altLang="ko-KR" dirty="0"/>
              <a:t>Denote how long the process has been executing.</a:t>
            </a:r>
          </a:p>
          <a:p>
            <a:pPr lvl="1"/>
            <a:r>
              <a:rPr lang="en-US" altLang="ko-KR" dirty="0"/>
              <a:t>Per-process variable</a:t>
            </a:r>
          </a:p>
          <a:p>
            <a:pPr lvl="1"/>
            <a:r>
              <a:rPr lang="en-US" altLang="ko-KR" dirty="0"/>
              <a:t>Increase in </a:t>
            </a:r>
            <a:r>
              <a:rPr lang="en-US" altLang="ko-KR" b="1" dirty="0"/>
              <a:t>proportion with physical (real) time </a:t>
            </a:r>
            <a:r>
              <a:rPr lang="en-US" altLang="ko-KR" dirty="0"/>
              <a:t>when it runs.</a:t>
            </a:r>
          </a:p>
          <a:p>
            <a:pPr lvl="1"/>
            <a:r>
              <a:rPr lang="en-US" altLang="ko-KR" dirty="0"/>
              <a:t>CFS will pick the process with the </a:t>
            </a:r>
            <a:r>
              <a:rPr lang="en-US" altLang="ko-KR" b="1" dirty="0"/>
              <a:t>lowest vruntime </a:t>
            </a:r>
            <a:r>
              <a:rPr lang="en-US" altLang="ko-KR" dirty="0"/>
              <a:t>to run next.</a:t>
            </a:r>
          </a:p>
          <a:p>
            <a:r>
              <a:rPr lang="en-US" altLang="ko-KR" dirty="0"/>
              <a:t>sched_latency </a:t>
            </a:r>
          </a:p>
          <a:p>
            <a:pPr lvl="1"/>
            <a:r>
              <a:rPr lang="en-US" altLang="ko-KR" dirty="0"/>
              <a:t>A typical value is 48 (milliseconds)</a:t>
            </a:r>
          </a:p>
          <a:p>
            <a:pPr lvl="1"/>
            <a:r>
              <a:rPr lang="en-US" altLang="ko-KR" dirty="0"/>
              <a:t>Process</a:t>
            </a:r>
            <a:r>
              <a:rPr lang="en-US" altLang="zh-CN" dirty="0"/>
              <a:t>’</a:t>
            </a:r>
            <a:r>
              <a:rPr lang="en-US" altLang="ko-KR" dirty="0"/>
              <a:t>s timeslice = sched_latency / (the number of process)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0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908720"/>
            <a:ext cx="8786812" cy="5501258"/>
          </a:xfrm>
        </p:spPr>
        <p:txBody>
          <a:bodyPr/>
          <a:lstStyle/>
          <a:p>
            <a:pPr lvl="1"/>
            <a:r>
              <a:rPr lang="en-US" altLang="ko-KR" sz="2000" dirty="0"/>
              <a:t>Simple Example</a:t>
            </a:r>
          </a:p>
          <a:p>
            <a:pPr lvl="2"/>
            <a:r>
              <a:rPr lang="en-US" altLang="ko-KR" sz="1800" dirty="0"/>
              <a:t>4 processes ( A,B,C,D ) and then 2 processes(C,D) complete.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 err="1"/>
              <a:t>min_granularity</a:t>
            </a:r>
            <a:endParaRPr lang="en-US" altLang="ko-KR" sz="2000" dirty="0"/>
          </a:p>
          <a:p>
            <a:pPr lvl="2"/>
            <a:r>
              <a:rPr lang="en-US" altLang="ko-KR" sz="1800" dirty="0"/>
              <a:t>The minimum </a:t>
            </a:r>
            <a:r>
              <a:rPr lang="en-US" altLang="ko-KR" sz="1800" dirty="0" err="1"/>
              <a:t>timeslice</a:t>
            </a:r>
            <a:r>
              <a:rPr lang="en-US" altLang="ko-KR" sz="1800" dirty="0"/>
              <a:t> (6ms)</a:t>
            </a:r>
          </a:p>
          <a:p>
            <a:pPr lvl="2"/>
            <a:r>
              <a:rPr lang="en-US" altLang="ko-KR" sz="1800" dirty="0"/>
              <a:t>Ensure that not too much time is spent in scheduling overhead, When there are too many processes running.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CB289A-D342-45FB-AFD7-222962DE5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69" y="1988840"/>
            <a:ext cx="6342165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197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Weight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sz="2000" dirty="0"/>
              <a:t>Nice value</a:t>
            </a:r>
          </a:p>
          <a:p>
            <a:pPr lvl="2"/>
            <a:r>
              <a:rPr lang="en-US" altLang="ko-KR" sz="1800" dirty="0"/>
              <a:t>CFS enables control over process priority</a:t>
            </a:r>
          </a:p>
          <a:p>
            <a:pPr lvl="2"/>
            <a:r>
              <a:rPr lang="en-US" altLang="ko-KR" sz="1800" dirty="0"/>
              <a:t>Nice parameter is an integer value and can be set from -20 to +19</a:t>
            </a:r>
          </a:p>
          <a:p>
            <a:pPr lvl="2"/>
            <a:r>
              <a:rPr lang="en-US" altLang="ko-KR" sz="1800" dirty="0"/>
              <a:t>The nice value is mapped to a weight (value is not important)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EF130F-FAEA-4D72-A2CC-46494F916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566" y="3439280"/>
            <a:ext cx="5550366" cy="170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093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Weighting (Niceness)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dirty="0"/>
                  <a:t>New timeslice formula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𝑠𝑙𝑖𝑐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𝑤𝑒𝑖𝑔h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𝑤𝑒𝑖𝑔h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𝑠𝑐h𝑒𝑑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𝑙𝑎𝑡𝑒𝑛𝑐𝑦</m:t>
                      </m:r>
                    </m:oMath>
                  </m:oMathPara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Simple Example</a:t>
                </a:r>
              </a:p>
              <a:p>
                <a:pPr lvl="2"/>
                <a:r>
                  <a:rPr lang="en-US" altLang="ko-KR" dirty="0"/>
                  <a:t>Assign Process A a nice value of -5 and process B a nice value of 0.</a:t>
                </a:r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6C7046E-9B3C-4FE1-BEB8-3E2D297790B9}"/>
              </a:ext>
            </a:extLst>
          </p:cNvPr>
          <p:cNvGraphicFramePr>
            <a:graphicFrameLocks noGrp="1"/>
          </p:cNvGraphicFramePr>
          <p:nvPr/>
        </p:nvGraphicFramePr>
        <p:xfrm>
          <a:off x="1763688" y="393305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366921191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9591691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6549677"/>
                    </a:ext>
                  </a:extLst>
                </a:gridCol>
                <a:gridCol w="2183904">
                  <a:extLst>
                    <a:ext uri="{9D8B030D-6E8A-4147-A177-3AD203B41FA5}">
                      <a16:colId xmlns:a16="http://schemas.microsoft.com/office/drawing/2014/main" val="2975600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Process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nice value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Time slice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55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3121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</a:t>
                      </a:r>
                      <a:r>
                        <a:rPr lang="en-US" altLang="ko-KR" sz="1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0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1024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</a:t>
                      </a:r>
                      <a:r>
                        <a:rPr lang="en-US" altLang="ko-KR" sz="1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37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452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vruntime</a:t>
            </a:r>
            <a:r>
              <a:rPr lang="en-US" altLang="ko-KR" dirty="0"/>
              <a:t> with Weight</a:t>
            </a:r>
            <a:r>
              <a:rPr lang="en-US" altLang="zh-CN" dirty="0"/>
              <a:t>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Weighting (Niceness)</a:t>
                </a:r>
              </a:p>
              <a:p>
                <a:pPr lvl="1"/>
                <a:r>
                  <a:rPr lang="en-US" altLang="ko-KR" dirty="0"/>
                  <a:t>vruntime formula</a:t>
                </a:r>
              </a:p>
              <a:p>
                <a:pPr lvl="2"/>
                <a:r>
                  <a:rPr lang="en-US" altLang="ko-KR" dirty="0"/>
                  <a:t>Calculate the actual run time</a:t>
                </a:r>
                <a:r>
                  <a:rPr lang="en-US" altLang="zh-CN" dirty="0"/>
                  <a:t>;</a:t>
                </a:r>
                <a:r>
                  <a:rPr lang="en-US" altLang="ko-KR" dirty="0"/>
                  <a:t> </a:t>
                </a:r>
                <a:r>
                  <a:rPr lang="en-US" altLang="zh-CN" dirty="0"/>
                  <a:t>s</a:t>
                </a:r>
                <a:r>
                  <a:rPr lang="en-US" altLang="ko-KR" dirty="0"/>
                  <a:t>cale it </a:t>
                </a:r>
                <a:r>
                  <a:rPr lang="en-US" altLang="ko-KR" dirty="0">
                    <a:solidFill>
                      <a:srgbClr val="D60093"/>
                    </a:solidFill>
                  </a:rPr>
                  <a:t>inversely</a:t>
                </a:r>
                <a:r>
                  <a:rPr lang="en-US" altLang="ko-KR" dirty="0"/>
                  <a:t> by the weight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𝑣𝑟𝑢𝑛𝑡𝑖𝑚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𝑣𝑟𝑢𝑛𝑡𝑖𝑚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𝑤𝑒𝑖𝑔h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𝑤𝑒𝑖𝑔h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𝑟𝑢𝑛𝑡𝑖𝑚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𝑤𝑒𝑖𝑔h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default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weight,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1024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Example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14CF2F9-311D-4901-906F-97B3BE2BC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04744"/>
              </p:ext>
            </p:extLst>
          </p:nvPr>
        </p:nvGraphicFramePr>
        <p:xfrm>
          <a:off x="1691680" y="443711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366921191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9591691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6549677"/>
                    </a:ext>
                  </a:extLst>
                </a:gridCol>
                <a:gridCol w="2183904">
                  <a:extLst>
                    <a:ext uri="{9D8B030D-6E8A-4147-A177-3AD203B41FA5}">
                      <a16:colId xmlns:a16="http://schemas.microsoft.com/office/drawing/2014/main" val="2975600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Process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nice value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bg1"/>
                          </a:solidFill>
                        </a:rPr>
                        <a:t>Accumulated value</a:t>
                      </a:r>
                      <a:endParaRPr lang="ko-KR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55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3121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</a:t>
                      </a:r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 runtime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0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1024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ko-K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 runtime</a:t>
                      </a:r>
                      <a:endParaRPr lang="ko-KR" alt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37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0423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Structure of the</a:t>
            </a:r>
            <a:r>
              <a:rPr lang="zh-CN" altLang="en-US" dirty="0"/>
              <a:t> </a:t>
            </a:r>
            <a:r>
              <a:rPr lang="en-US" altLang="zh-CN" dirty="0"/>
              <a:t>R</a:t>
            </a:r>
            <a:r>
              <a:rPr lang="en-US" altLang="ko-KR" dirty="0"/>
              <a:t>eady </a:t>
            </a:r>
            <a:r>
              <a:rPr lang="en-US" altLang="zh-CN" dirty="0"/>
              <a:t>Q</a:t>
            </a:r>
            <a:r>
              <a:rPr lang="en-US" altLang="ko-KR" dirty="0"/>
              <a:t>ueue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Red-Black Tree</a:t>
            </a:r>
          </a:p>
          <a:p>
            <a:pPr lvl="1"/>
            <a:r>
              <a:rPr lang="en-US" altLang="ko-KR" dirty="0"/>
              <a:t>Balanced binary tree (can address worst-case insertion)</a:t>
            </a:r>
          </a:p>
          <a:p>
            <a:pPr lvl="1"/>
            <a:r>
              <a:rPr lang="en-US" altLang="ko-KR" dirty="0"/>
              <a:t>Ordering of Red-Black Tree: O(log n)</a:t>
            </a:r>
          </a:p>
          <a:p>
            <a:pPr lvl="1"/>
            <a:r>
              <a:rPr lang="en-US" altLang="ko-KR" dirty="0"/>
              <a:t>Efficiently find the process with minimum virtual runtime</a:t>
            </a:r>
          </a:p>
          <a:p>
            <a:pPr lvl="1"/>
            <a:r>
              <a:rPr lang="en-US" altLang="ko-KR" dirty="0"/>
              <a:t>Only running (or runnable) processes are kept therein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08AC23-A748-46FA-B3E6-EC28FF2F75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6"/>
          <a:stretch/>
        </p:blipFill>
        <p:spPr>
          <a:xfrm>
            <a:off x="2254720" y="3647719"/>
            <a:ext cx="4634560" cy="230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34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8B37-D1AA-C13D-2DDD-E6FB298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Dealing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ko-KR" dirty="0"/>
              <a:t>IO and </a:t>
            </a:r>
            <a:r>
              <a:rPr lang="en-US" altLang="zh-CN" dirty="0"/>
              <a:t>S</a:t>
            </a:r>
            <a:r>
              <a:rPr lang="en-US" altLang="ko-KR" dirty="0"/>
              <a:t>leeping </a:t>
            </a:r>
            <a:r>
              <a:rPr lang="en-US" altLang="zh-CN" dirty="0"/>
              <a:t>P</a:t>
            </a:r>
            <a:r>
              <a:rPr lang="en-US" altLang="ko-KR" dirty="0"/>
              <a:t>rocess</a:t>
            </a:r>
            <a:r>
              <a:rPr lang="en-US" altLang="zh-CN" dirty="0"/>
              <a:t>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896D8-7DCB-F807-48B5-490DB9079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the situation where some process monopolizes CPU, if it has significantly small </a:t>
            </a:r>
            <a:r>
              <a:rPr lang="en-US" dirty="0" err="1"/>
              <a:t>vruntime</a:t>
            </a:r>
            <a:r>
              <a:rPr lang="en-US" dirty="0"/>
              <a:t> after sleeping</a:t>
            </a:r>
          </a:p>
          <a:p>
            <a:r>
              <a:rPr lang="en-US" dirty="0"/>
              <a:t>Set the </a:t>
            </a:r>
            <a:r>
              <a:rPr lang="en-US" dirty="0" err="1"/>
              <a:t>vruntime</a:t>
            </a:r>
            <a:r>
              <a:rPr lang="en-US" dirty="0"/>
              <a:t> of process to the minimum value found in tree when it wakes up.</a:t>
            </a:r>
          </a:p>
          <a:p>
            <a:r>
              <a:rPr lang="en-US" dirty="0"/>
              <a:t>Cost: Process that sleeps for short periods of time frequently do not ever get their fair share of the CPU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772B9-2359-6137-5E78-918A61AD5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76DE0-A10B-4881-6171-685F257CF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449591"/>
      </p:ext>
    </p:extLst>
  </p:cSld>
  <p:clrMapOvr>
    <a:masterClrMapping/>
  </p:clrMapOvr>
</p:sld>
</file>

<file path=ppt/theme/theme1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111150</TotalTime>
  <Words>3749</Words>
  <Application>Microsoft Macintosh PowerPoint</Application>
  <PresentationFormat>On-screen Show (4:3)</PresentationFormat>
  <Paragraphs>785</Paragraphs>
  <Slides>53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Adobe 고딕 Std B</vt:lpstr>
      <vt:lpstr>굴림</vt:lpstr>
      <vt:lpstr>HY견고딕</vt:lpstr>
      <vt:lpstr>맑은 고딕</vt:lpstr>
      <vt:lpstr>맑은 고딕</vt:lpstr>
      <vt:lpstr>Malgun Gothic Semilight</vt:lpstr>
      <vt:lpstr>Arial</vt:lpstr>
      <vt:lpstr>Cambria Math</vt:lpstr>
      <vt:lpstr>Courier New</vt:lpstr>
      <vt:lpstr>Helvetica</vt:lpstr>
      <vt:lpstr>Helvetica Neue</vt:lpstr>
      <vt:lpstr>Wingdings</vt:lpstr>
      <vt:lpstr>3150</vt:lpstr>
      <vt:lpstr>CSCI3150 Introduction to Operating Systems</vt:lpstr>
      <vt:lpstr>Roadmap: CPU Scheduling</vt:lpstr>
      <vt:lpstr>PowerPoint Presentation</vt:lpstr>
      <vt:lpstr>Scheduling: Introduction</vt:lpstr>
      <vt:lpstr>Scheduling Metrics</vt:lpstr>
      <vt:lpstr>First In, First Out (FIFO)</vt:lpstr>
      <vt:lpstr>Why FIFO is not that great? – Head-of-line Blocking</vt:lpstr>
      <vt:lpstr>Shortest Job First (SJF)</vt:lpstr>
      <vt:lpstr>SJF with Late Arrivals from B and C</vt:lpstr>
      <vt:lpstr>Shortest Remaining Time First (SRTF)</vt:lpstr>
      <vt:lpstr>Shortest Remaining Time First (SRTF)</vt:lpstr>
      <vt:lpstr>New scheduling metric: Response time</vt:lpstr>
      <vt:lpstr>Round Robin (RR) Scheduling</vt:lpstr>
      <vt:lpstr>RR Scheduling Example</vt:lpstr>
      <vt:lpstr>Length of the time slice is critical</vt:lpstr>
      <vt:lpstr>Incorporating I/O</vt:lpstr>
      <vt:lpstr>Incorporating I/O (Cont.)</vt:lpstr>
      <vt:lpstr>Incorporating I/O (Cont.)</vt:lpstr>
      <vt:lpstr>PowerPoint Presentation</vt:lpstr>
      <vt:lpstr>Motivation</vt:lpstr>
      <vt:lpstr>MLFQ: Key idea</vt:lpstr>
      <vt:lpstr>MLFQ: Basic Rules</vt:lpstr>
      <vt:lpstr>MLFQ: Basic Rules (Cont.)</vt:lpstr>
      <vt:lpstr>MLFQ Example</vt:lpstr>
      <vt:lpstr>MLFQ: How to Change Priority</vt:lpstr>
      <vt:lpstr>Example 1: A Single Long-Running Job</vt:lpstr>
      <vt:lpstr>Example 2: Along Came a Short Job</vt:lpstr>
      <vt:lpstr>Example 3: What About I/O?</vt:lpstr>
      <vt:lpstr>Problems with the Basic MLFQ</vt:lpstr>
      <vt:lpstr>The Priority Boost</vt:lpstr>
      <vt:lpstr>Better Accounting</vt:lpstr>
      <vt:lpstr>Tuning MLFQ and Other Issues</vt:lpstr>
      <vt:lpstr>MLFQ implementation: on Solaris</vt:lpstr>
      <vt:lpstr>MLFQ: Summary</vt:lpstr>
      <vt:lpstr>PowerPoint Presentation</vt:lpstr>
      <vt:lpstr>Proportional Share Scheduler</vt:lpstr>
      <vt:lpstr>Basic Concept</vt:lpstr>
      <vt:lpstr>Lottery scheduling</vt:lpstr>
      <vt:lpstr>Ticket Mechanisms</vt:lpstr>
      <vt:lpstr>Ticket Mechanisms (Cont.)</vt:lpstr>
      <vt:lpstr>Implementation</vt:lpstr>
      <vt:lpstr>Implementation (Cont.)</vt:lpstr>
      <vt:lpstr>Lottery Fairness Study</vt:lpstr>
      <vt:lpstr>Deterministic Approach: Stride Scheduling</vt:lpstr>
      <vt:lpstr>Stride Scheduling Example</vt:lpstr>
      <vt:lpstr>The Linux Completely Fair Scheduling (CFS)</vt:lpstr>
      <vt:lpstr>Basics </vt:lpstr>
      <vt:lpstr>Example </vt:lpstr>
      <vt:lpstr>Weight</vt:lpstr>
      <vt:lpstr>Weighting (Niceness)</vt:lpstr>
      <vt:lpstr>vruntime with Weighting</vt:lpstr>
      <vt:lpstr>Structure of the Ready Queue</vt:lpstr>
      <vt:lpstr>Dealing with IO and Sleeping Processes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4360</cp:revision>
  <cp:lastPrinted>2019-09-09T02:10:38Z</cp:lastPrinted>
  <dcterms:created xsi:type="dcterms:W3CDTF">2011-05-01T06:09:10Z</dcterms:created>
  <dcterms:modified xsi:type="dcterms:W3CDTF">2026-02-11T04:18:10Z</dcterms:modified>
  <cp:category/>
</cp:coreProperties>
</file>